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83" r:id="rId3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Today is about how AI can help us in our day-to-day work as service engineers: not as a replacement, but as an assistant across the whole incident → problem → change flow we already use in TopDesk. We start with a short introduction on ways of working with AI, then do the hands-on workshop, and close with a look ahead: what if Copilot could talk to TopDesk directly?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parts. Part 1 is a short introduction so we all use the same habits during the exercises. Part 2 is the hands-on part, with breaks between exercises. Part 3 looks ahead and is meant to start a conversation, also with the managers in the room: what would it mean if our AI assistant were connected to TopDesk?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1: ways of working with AI. The key message is on the slide: AI drafts, you verify, you decide, you own.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helpful mental model: AI is like a very fast, very well-read new colleague. It has read a lot, but it doesn't know our systems, and it doesn't know what you didn't tell it. It's great at reading and drafting. It's not accountable and it can be confidently wrong. You wouldn't blindly copy a new colleague's answer into a change request either.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roughly four ways to work with AI. Chat: you paste something in and copy the answer out. In the editor: Copilot sees the files you're working on. Agent mode or Copilot CLI: the AI can read files and run commands itself, and asks for approval. Connected via MCP: the AI can use tools such as GitHub or monitoring, or, in Part 3, possibly TopDesk. From left to right you get more context and more autonomy, so verifying what it does becomes more important. In the workshop you can use chat or the CLI with the sample files.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good prompt has five ingredients: role, context, task, constraints and output format. The example on the right is colour-coded and comes straight from Exercise 1. Notice the constraint 'only use the attached evidence' and the request for confidence: those two make a big difference in quality.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six habits are also in the prompt library you'll get after the workshop. The top row improves the quality of answers: ask for confidence, alternatives and evidence. The bottom row is about how you work: iterate, don't steer the AI towards your favourite theory, because it will happily agree with you, and keep the conversation blameless, which matters especially in Exercise 3 when we write the postmortem.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Whatever the AI produces, the cycle is the same: AI drafts, you verify, you decide, and you own the result. Our process doesn't change: you are still the assignee in TopDesk, a rollback is still your call during a high priority incident, and the RFC still goes to the CAB. Be extra careful with numbers, timestamps and anything that looks like a specific name or version: that's where AI most often makes things up.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quick but important slide. Only use approved tools; with a business licence, prompts aren't used to train models. Never paste secrets or customer personal data. Mask them, or leave them out: the AI almost never needs them to help you. Adjust this slide to match our actual AI policy.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pitfalls you'll very likely run into during the exercises. Keep an eye out for them; we'll discuss them in the debriefs. The most dangerous is the first one: the AI comes up with a very plausible root cause that isn't supported by the evidence.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process we already work with. The service desk registers an incident in TopDesk; we restore service, sometimes with a workaround; if a long-term solution is needed, a problem is registered; once we find the solution, we submit an RFC. AI can help in every phase, and that's exactly what the four exercises follow.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 the hands-on workshop. Fictional company ShopFast, a checkout outage right after a deploy. All data is synthetic.</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exercises that follow the process: incident triage, incident resolution, problem analysis, and the change request. Each builds on the previous one; if you fall behind, I have catch-up cards so you can continue. After each exercise, we compare results and, more importantly, discuss where AI helped and where it didn't.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few ground rules. Use AI as much as you can, but you own the answer. Keep notes on where AI helped and where it misled you: that's the most valuable output of today. Hand out the participant folders now.</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3. During the workshop you copied a lot between TopDesk, the evidence files and the AI. What if that weren't necessary? Important: this is a look ahead. TopDesk does not offer an MCP server, and nothing on the following slides has been built. The point is that we could build it ourselves.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back to the exercises. You opened the TopDesk incident, copied it into the AI, copied the answer back, retyped the problem record, and so on. We are the copy-paste layer between TopDesk and the AI. That costs time, the AI misses context, and data travels around in an uncontrolled way.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MCP, the Model Context Protocol, is an open standard to connect AI assistants to tools and data. Compare it to USB-C: one standard plug, many devices. An MCP server offers tools, for example 'get incident', with a description the AI can read. The AI decides when to call a tool, and in Copilot you see and approve each call. There are ready-made MCP servers for GitHub, Azure, Grafana and many more. Not for TopDesk, but TopDesk has a REST API, so we can build our own.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idea. Copilot talks MCP to a small server that we build and host ourselves. That server talks to the TOPdesk REST API. The interesting part is what we put in the middle: which tools we offer, that it acts with the engineer's own TopDesk rights, that it only reads by default and asks for confirmation before writing, that it masks personal data, and that everything is logged. TopDesk itself doesn't change.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example tools, mapped to our process. We'd start with read-only tools: low risk, and immediately useful. Write tools always ask for confirmation in Copilot before they run. Each tool is basically a name, a description, a few parameters and one call to the TopDesk API.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show it's not rocket science: this is roughly what a minimal TopDesk MCP server looks like, using the official Python SDK. Two tools: get an incident and add an action. The docstring is important: that's what the AI reads to decide which tool to use. This is illustrative only; a real version needs proper identity, error handling, data masking and logging. That's where the real effort is, not in the code itself.</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how today's exercises would change. Instead of copying the ticket, you ask Copilot to read it and look for similar incidents. Instead of retyping actions, you ask it to log them, and you approve. Registering the problem and linking it to the incident becomes one request. And the RFC could be created as a change in TopDesk directly. The process stays exactly the same; only the copy-paste disappears.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mock-up of what it could look like in the Copilot CLI. The engineer asks in plain language. Copilot reads the incident, checks for known errors, proposes the problem record, and asks for permission before it writes anything to TopDesk. The result: a correctly registered and linked problem, in seconds, with the engineer in control.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managers, the value is different: insight. Instead of building a report for each question, you could ask TopDesk questions in plain language. The first one is a good example from today's workshop: incidents solved with a workaround but without a problem registered. Those are the time bombs. One caveat: the answers are only as good as the data we register.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be balanced: the benefits are clear, but there are real considerations. Security and privacy first: TopDesk contains personal data, so masking and rights matter. Data quality: if our tickets are incomplete, the AI's answers will be too. And ownership: who builds and maintains this? Technically it's a small project; organisationally it needs clear agreements.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we want to explore this, a sensible path is to start small: a read-only pilot with one team. Low risk, quick to build, and it tells us whether it's actually useful. Then add write actions, always with confirmation. Only then scale up and combine with other MCP servers, such as monitoring or GitHub, so the AI can correlate a TopDesk incident with alerts and deploys, just like you did by hand today.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open the discussion. First the engineers: what would you hand off, and where are the boundaries? Then the managers: which questions would you ask, and what would you need before allowing AI to write to TopDesk? Capture the answers: they're useful input if we decide to start a pilot.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wrap up: AI drafts, you verify, you decide, you own. Thanks for joining. I'll share the prompt library afterwards.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question that always comes up: if the MCP server is reachable, isn't TopDesk exposed to AI? No. The AI can only call the tools we write: here six of them. Everything else in the TopDesk API, such as deleting incidents, person data, assets, approving changes or settings, simply doesn't exist for the AI. The MCP server is the gatekeeper: it filters data (for example only our operator group, without caller names or e-mail addresses), asks the engineer before every write, and logs everything. The TopDesk API credentials stay on the server, in a key vault; Copilot never sees them, and TopDesk can stay on the internal network. The MCP server itself is protected with our company single sign-on; the MCP standard uses OAuth 2.1 for that. And we don't pass the user's token straight through to TopDesk: the server makes its own, limited calls, ideally as the signed-in engineer so TopDesk's own permissions still apply.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394960"/>
            <a:ext cx="12191695" cy="73152"/>
          </a:xfrm>
          <a:prstGeom prst="rect">
            <a:avLst/>
          </a:prstGeom>
          <a:solidFill>
            <a:srgbClr val="008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1097280"/>
            <a:ext cx="10515600" cy="457200"/>
          </a:xfrm>
          <a:prstGeom prst="rect">
            <a:avLst/>
          </a:prstGeom>
          <a:noFill/>
        </p:spPr>
        <p:txBody>
          <a:bodyPr wrap="square" anchor="t" lIns="45720" rIns="45720" tIns="27432" bIns="27432">
            <a:spAutoFit/>
          </a:bodyPr>
          <a:lstStyle/>
          <a:p>
            <a:pPr algn="l">
              <a:spcAft>
                <a:spcPts val="600"/>
              </a:spcAft>
            </a:pPr>
            <a:r>
              <a:rPr sz="1600" b="1" i="0">
                <a:solidFill>
                  <a:srgbClr val="7FD1CF"/>
                </a:solidFill>
                <a:latin typeface="Segoe UI"/>
              </a:rPr>
              <a:t>AI WORKSHOP FOR SERVICE ENGINEERS</a:t>
            </a:r>
          </a:p>
        </p:txBody>
      </p:sp>
      <p:sp>
        <p:nvSpPr>
          <p:cNvPr id="5" name="TextBox 4"/>
          <p:cNvSpPr txBox="1"/>
          <p:nvPr/>
        </p:nvSpPr>
        <p:spPr>
          <a:xfrm>
            <a:off x="822960" y="1554480"/>
            <a:ext cx="10515600" cy="1828800"/>
          </a:xfrm>
          <a:prstGeom prst="rect">
            <a:avLst/>
          </a:prstGeom>
          <a:noFill/>
        </p:spPr>
        <p:txBody>
          <a:bodyPr wrap="square" anchor="t" lIns="45720" rIns="45720" tIns="27432" bIns="27432">
            <a:spAutoFit/>
          </a:bodyPr>
          <a:lstStyle/>
          <a:p>
            <a:pPr algn="l">
              <a:spcAft>
                <a:spcPts val="600"/>
              </a:spcAft>
            </a:pPr>
            <a:r>
              <a:rPr sz="4400" b="1" i="0">
                <a:solidFill>
                  <a:srgbClr val="FFFFFF"/>
                </a:solidFill>
                <a:latin typeface="Segoe UI"/>
              </a:rPr>
              <a:t>Working with AI in service management</a:t>
            </a:r>
          </a:p>
        </p:txBody>
      </p:sp>
      <p:sp>
        <p:nvSpPr>
          <p:cNvPr id="6" name="TextBox 5"/>
          <p:cNvSpPr txBox="1"/>
          <p:nvPr/>
        </p:nvSpPr>
        <p:spPr>
          <a:xfrm>
            <a:off x="822960" y="3611880"/>
            <a:ext cx="10515600" cy="1097280"/>
          </a:xfrm>
          <a:prstGeom prst="rect">
            <a:avLst/>
          </a:prstGeom>
          <a:noFill/>
        </p:spPr>
        <p:txBody>
          <a:bodyPr wrap="square" anchor="t" lIns="45720" rIns="45720" tIns="27432" bIns="27432">
            <a:spAutoFit/>
          </a:bodyPr>
          <a:lstStyle/>
          <a:p>
            <a:pPr algn="l">
              <a:spcAft>
                <a:spcPts val="600"/>
              </a:spcAft>
            </a:pPr>
            <a:r>
              <a:rPr sz="2000" b="0" i="0">
                <a:solidFill>
                  <a:srgbClr val="C8D0DC"/>
                </a:solidFill>
                <a:latin typeface="Segoe UI"/>
              </a:rPr>
              <a:t>Ways of working  ·  Incident → problem → change  ·  What if Copilot could talk to TopDesk?</a:t>
            </a:r>
          </a:p>
        </p:txBody>
      </p:sp>
      <p:sp>
        <p:nvSpPr>
          <p:cNvPr id="7" name="TextBox 6"/>
          <p:cNvSpPr txBox="1"/>
          <p:nvPr/>
        </p:nvSpPr>
        <p:spPr>
          <a:xfrm>
            <a:off x="822960" y="5669280"/>
            <a:ext cx="10515600" cy="457200"/>
          </a:xfrm>
          <a:prstGeom prst="rect">
            <a:avLst/>
          </a:prstGeom>
          <a:noFill/>
        </p:spPr>
        <p:txBody>
          <a:bodyPr wrap="square" anchor="t" lIns="45720" rIns="45720" tIns="27432" bIns="27432">
            <a:spAutoFit/>
          </a:bodyPr>
          <a:lstStyle/>
          <a:p>
            <a:pPr algn="l">
              <a:spcAft>
                <a:spcPts val="600"/>
              </a:spcAft>
            </a:pPr>
            <a:r>
              <a:rPr sz="1600" b="0" i="0">
                <a:solidFill>
                  <a:srgbClr val="C8D0DC"/>
                </a:solidFill>
                <a:latin typeface="Segoe UI"/>
              </a:rPr>
              <a:t>Hands-on with the ShopFast checkout outage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08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274320"/>
            <a:ext cx="10972800" cy="320040"/>
          </a:xfrm>
          <a:prstGeom prst="rect">
            <a:avLst/>
          </a:prstGeom>
          <a:noFill/>
        </p:spPr>
        <p:txBody>
          <a:bodyPr wrap="square" anchor="t" lIns="45720" rIns="45720" tIns="27432" bIns="27432">
            <a:spAutoFit/>
          </a:bodyPr>
          <a:lstStyle/>
          <a:p>
            <a:pPr algn="l">
              <a:spcAft>
                <a:spcPts val="600"/>
              </a:spcAft>
            </a:pPr>
            <a:r>
              <a:rPr sz="1200" b="1" i="0">
                <a:solidFill>
                  <a:srgbClr val="008C8A"/>
                </a:solidFill>
                <a:latin typeface="Segoe UI"/>
              </a:rPr>
              <a:t>AGENDA</a:t>
            </a:r>
          </a:p>
        </p:txBody>
      </p:sp>
      <p:sp>
        <p:nvSpPr>
          <p:cNvPr id="4" name="TextBox 3"/>
          <p:cNvSpPr txBox="1"/>
          <p:nvPr/>
        </p:nvSpPr>
        <p:spPr>
          <a:xfrm>
            <a:off x="457200" y="530352"/>
            <a:ext cx="11247120" cy="731520"/>
          </a:xfrm>
          <a:prstGeom prst="rect">
            <a:avLst/>
          </a:prstGeom>
          <a:noFill/>
        </p:spPr>
        <p:txBody>
          <a:bodyPr wrap="square" anchor="t" lIns="45720" rIns="45720" tIns="27432" bIns="27432">
            <a:spAutoFit/>
          </a:bodyPr>
          <a:lstStyle/>
          <a:p>
            <a:pPr algn="l">
              <a:spcAft>
                <a:spcPts val="600"/>
              </a:spcAft>
            </a:pPr>
            <a:r>
              <a:rPr sz="3000" b="1" i="0">
                <a:solidFill>
                  <a:srgbClr val="1F2A44"/>
                </a:solidFill>
                <a:latin typeface="Segoe UI"/>
              </a:rPr>
              <a:t>Today</a:t>
            </a:r>
          </a:p>
        </p:txBody>
      </p:sp>
      <p:sp>
        <p:nvSpPr>
          <p:cNvPr id="5" name="TextBox 4"/>
          <p:cNvSpPr txBox="1"/>
          <p:nvPr/>
        </p:nvSpPr>
        <p:spPr>
          <a:xfrm>
            <a:off x="457200" y="6446520"/>
            <a:ext cx="7315200" cy="274320"/>
          </a:xfrm>
          <a:prstGeom prst="rect">
            <a:avLst/>
          </a:prstGeom>
          <a:noFill/>
        </p:spPr>
        <p:txBody>
          <a:bodyPr wrap="square" anchor="t" lIns="45720" rIns="45720" tIns="27432" bIns="27432">
            <a:spAutoFit/>
          </a:bodyPr>
          <a:lstStyle/>
          <a:p>
            <a:pPr algn="l">
              <a:spcAft>
                <a:spcPts val="600"/>
              </a:spcAft>
            </a:pPr>
            <a:r>
              <a:rPr sz="1000" b="0" i="0">
                <a:solidFill>
                  <a:srgbClr val="5F6368"/>
                </a:solidFill>
                <a:latin typeface="Segoe UI"/>
              </a:rPr>
              <a:t>AI in service management  |  ShopFast workshop</a:t>
            </a:r>
          </a:p>
        </p:txBody>
      </p:sp>
      <p:sp>
        <p:nvSpPr>
          <p:cNvPr id="6" name="TextBox 5"/>
          <p:cNvSpPr txBox="1"/>
          <p:nvPr/>
        </p:nvSpPr>
        <p:spPr>
          <a:xfrm>
            <a:off x="10972800" y="6446520"/>
            <a:ext cx="777240" cy="274320"/>
          </a:xfrm>
          <a:prstGeom prst="rect">
            <a:avLst/>
          </a:prstGeom>
          <a:noFill/>
        </p:spPr>
        <p:txBody>
          <a:bodyPr wrap="square" anchor="t" lIns="45720" rIns="45720" tIns="27432" bIns="27432">
            <a:spAutoFit/>
          </a:bodyPr>
          <a:lstStyle/>
          <a:p>
            <a:pPr algn="r">
              <a:spcAft>
                <a:spcPts val="600"/>
              </a:spcAft>
            </a:pPr>
            <a:r>
              <a:rPr sz="1000" b="0" i="0">
                <a:solidFill>
                  <a:srgbClr val="5F6368"/>
                </a:solidFill>
                <a:latin typeface="Segoe UI"/>
              </a:rPr>
              <a:t>2</a:t>
            </a:r>
          </a:p>
        </p:txBody>
      </p:sp>
      <p:sp>
        <p:nvSpPr>
          <p:cNvPr id="7" name="Rounded Rectangle 6"/>
          <p:cNvSpPr/>
          <p:nvPr/>
        </p:nvSpPr>
        <p:spPr>
          <a:xfrm>
            <a:off x="731520" y="1554480"/>
            <a:ext cx="822960" cy="1188720"/>
          </a:xfrm>
          <a:prstGeom prst="roundRect">
            <a:avLst>
              <a:gd name="adj" fmla="val 8000"/>
            </a:avLst>
          </a:prstGeom>
          <a:solidFill>
            <a:srgbClr val="008C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600" b="1" i="0">
                <a:solidFill>
                  <a:srgbClr val="FFFFFF"/>
                </a:solidFill>
                <a:latin typeface="Segoe UI"/>
              </a:rPr>
              <a:t>1</a:t>
            </a:r>
          </a:p>
        </p:txBody>
      </p:sp>
      <p:sp>
        <p:nvSpPr>
          <p:cNvPr id="8" name="Rounded Rectangle 7"/>
          <p:cNvSpPr/>
          <p:nvPr/>
        </p:nvSpPr>
        <p:spPr>
          <a:xfrm>
            <a:off x="1645920" y="1554480"/>
            <a:ext cx="9784080" cy="118872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874519" y="1664207"/>
            <a:ext cx="7498079" cy="457200"/>
          </a:xfrm>
          <a:prstGeom prst="rect">
            <a:avLst/>
          </a:prstGeom>
          <a:noFill/>
        </p:spPr>
        <p:txBody>
          <a:bodyPr wrap="square" anchor="t" lIns="45720" rIns="45720" tIns="27432" bIns="27432">
            <a:spAutoFit/>
          </a:bodyPr>
          <a:lstStyle/>
          <a:p>
            <a:pPr algn="l">
              <a:spcAft>
                <a:spcPts val="600"/>
              </a:spcAft>
            </a:pPr>
            <a:r>
              <a:rPr sz="2200" b="1" i="0">
                <a:solidFill>
                  <a:srgbClr val="1F2A44"/>
                </a:solidFill>
                <a:latin typeface="Segoe UI"/>
              </a:rPr>
              <a:t>Ways of working with AI</a:t>
            </a:r>
          </a:p>
        </p:txBody>
      </p:sp>
      <p:sp>
        <p:nvSpPr>
          <p:cNvPr id="10" name="TextBox 9"/>
          <p:cNvSpPr txBox="1"/>
          <p:nvPr/>
        </p:nvSpPr>
        <p:spPr>
          <a:xfrm>
            <a:off x="1874519" y="2103120"/>
            <a:ext cx="7498079" cy="640080"/>
          </a:xfrm>
          <a:prstGeom prst="rect">
            <a:avLst/>
          </a:prstGeom>
          <a:noFill/>
        </p:spPr>
        <p:txBody>
          <a:bodyPr wrap="square" anchor="t" lIns="45720" rIns="45720" tIns="27432" bIns="27432">
            <a:spAutoFit/>
          </a:bodyPr>
          <a:lstStyle/>
          <a:p>
            <a:pPr algn="l">
              <a:spcAft>
                <a:spcPts val="600"/>
              </a:spcAft>
            </a:pPr>
            <a:r>
              <a:rPr sz="1400" b="0" i="0">
                <a:solidFill>
                  <a:srgbClr val="5F6368"/>
                </a:solidFill>
                <a:latin typeface="Segoe UI"/>
              </a:rPr>
              <a:t>How to use AI well: modes, prompting, verification, data and pitfalls</a:t>
            </a:r>
          </a:p>
        </p:txBody>
      </p:sp>
      <p:sp>
        <p:nvSpPr>
          <p:cNvPr id="11" name="TextBox 10"/>
          <p:cNvSpPr txBox="1"/>
          <p:nvPr/>
        </p:nvSpPr>
        <p:spPr>
          <a:xfrm>
            <a:off x="9692640" y="1920240"/>
            <a:ext cx="1554480" cy="457200"/>
          </a:xfrm>
          <a:prstGeom prst="rect">
            <a:avLst/>
          </a:prstGeom>
          <a:noFill/>
        </p:spPr>
        <p:txBody>
          <a:bodyPr wrap="square" anchor="t" lIns="45720" rIns="45720" tIns="27432" bIns="27432">
            <a:spAutoFit/>
          </a:bodyPr>
          <a:lstStyle/>
          <a:p>
            <a:pPr algn="r">
              <a:spcAft>
                <a:spcPts val="600"/>
              </a:spcAft>
            </a:pPr>
            <a:r>
              <a:rPr sz="2000" b="1" i="0">
                <a:solidFill>
                  <a:srgbClr val="008C8A"/>
                </a:solidFill>
                <a:latin typeface="Segoe UI"/>
              </a:rPr>
              <a:t>~20 min</a:t>
            </a:r>
          </a:p>
        </p:txBody>
      </p:sp>
      <p:sp>
        <p:nvSpPr>
          <p:cNvPr id="12" name="Rounded Rectangle 11"/>
          <p:cNvSpPr/>
          <p:nvPr/>
        </p:nvSpPr>
        <p:spPr>
          <a:xfrm>
            <a:off x="731520" y="3017520"/>
            <a:ext cx="822960" cy="1188720"/>
          </a:xfrm>
          <a:prstGeom prst="roundRect">
            <a:avLst>
              <a:gd name="adj" fmla="val 8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600" b="1" i="0">
                <a:solidFill>
                  <a:srgbClr val="FFFFFF"/>
                </a:solidFill>
                <a:latin typeface="Segoe UI"/>
              </a:rPr>
              <a:t>2</a:t>
            </a:r>
          </a:p>
        </p:txBody>
      </p:sp>
      <p:sp>
        <p:nvSpPr>
          <p:cNvPr id="13" name="Rounded Rectangle 12"/>
          <p:cNvSpPr/>
          <p:nvPr/>
        </p:nvSpPr>
        <p:spPr>
          <a:xfrm>
            <a:off x="1645920" y="3017520"/>
            <a:ext cx="9784080" cy="118872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874519" y="3127248"/>
            <a:ext cx="7498079" cy="457200"/>
          </a:xfrm>
          <a:prstGeom prst="rect">
            <a:avLst/>
          </a:prstGeom>
          <a:noFill/>
        </p:spPr>
        <p:txBody>
          <a:bodyPr wrap="square" anchor="t" lIns="45720" rIns="45720" tIns="27432" bIns="27432">
            <a:spAutoFit/>
          </a:bodyPr>
          <a:lstStyle/>
          <a:p>
            <a:pPr algn="l">
              <a:spcAft>
                <a:spcPts val="600"/>
              </a:spcAft>
            </a:pPr>
            <a:r>
              <a:rPr sz="2200" b="1" i="0">
                <a:solidFill>
                  <a:srgbClr val="1F2A44"/>
                </a:solidFill>
                <a:latin typeface="Segoe UI"/>
              </a:rPr>
              <a:t>Workshop: ShopFast checkout outage</a:t>
            </a:r>
          </a:p>
        </p:txBody>
      </p:sp>
      <p:sp>
        <p:nvSpPr>
          <p:cNvPr id="15" name="TextBox 14"/>
          <p:cNvSpPr txBox="1"/>
          <p:nvPr/>
        </p:nvSpPr>
        <p:spPr>
          <a:xfrm>
            <a:off x="1874519" y="3566160"/>
            <a:ext cx="7498079" cy="640080"/>
          </a:xfrm>
          <a:prstGeom prst="rect">
            <a:avLst/>
          </a:prstGeom>
          <a:noFill/>
        </p:spPr>
        <p:txBody>
          <a:bodyPr wrap="square" anchor="t" lIns="45720" rIns="45720" tIns="27432" bIns="27432">
            <a:spAutoFit/>
          </a:bodyPr>
          <a:lstStyle/>
          <a:p>
            <a:pPr algn="l">
              <a:spcAft>
                <a:spcPts val="600"/>
              </a:spcAft>
            </a:pPr>
            <a:r>
              <a:rPr sz="1400" b="0" i="0">
                <a:solidFill>
                  <a:srgbClr val="5F6368"/>
                </a:solidFill>
                <a:latin typeface="Segoe UI"/>
              </a:rPr>
              <a:t>Four hands-on exercises following our TopDesk process:
incident → problem → change</a:t>
            </a:r>
          </a:p>
        </p:txBody>
      </p:sp>
      <p:sp>
        <p:nvSpPr>
          <p:cNvPr id="16" name="TextBox 15"/>
          <p:cNvSpPr txBox="1"/>
          <p:nvPr/>
        </p:nvSpPr>
        <p:spPr>
          <a:xfrm>
            <a:off x="9692640" y="3383279"/>
            <a:ext cx="1554480" cy="457200"/>
          </a:xfrm>
          <a:prstGeom prst="rect">
            <a:avLst/>
          </a:prstGeom>
          <a:noFill/>
        </p:spPr>
        <p:txBody>
          <a:bodyPr wrap="square" anchor="t" lIns="45720" rIns="45720" tIns="27432" bIns="27432">
            <a:spAutoFit/>
          </a:bodyPr>
          <a:lstStyle/>
          <a:p>
            <a:pPr algn="r">
              <a:spcAft>
                <a:spcPts val="600"/>
              </a:spcAft>
            </a:pPr>
            <a:r>
              <a:rPr sz="2000" b="1" i="0">
                <a:solidFill>
                  <a:srgbClr val="1F2A44"/>
                </a:solidFill>
                <a:latin typeface="Segoe UI"/>
              </a:rPr>
              <a:t>~3¾ h</a:t>
            </a:r>
          </a:p>
        </p:txBody>
      </p:sp>
      <p:sp>
        <p:nvSpPr>
          <p:cNvPr id="17" name="Rounded Rectangle 16"/>
          <p:cNvSpPr/>
          <p:nvPr/>
        </p:nvSpPr>
        <p:spPr>
          <a:xfrm>
            <a:off x="731520" y="4480560"/>
            <a:ext cx="822960" cy="1188720"/>
          </a:xfrm>
          <a:prstGeom prst="roundRect">
            <a:avLst>
              <a:gd name="adj" fmla="val 8000"/>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600" b="1" i="0">
                <a:solidFill>
                  <a:srgbClr val="FFFFFF"/>
                </a:solidFill>
                <a:latin typeface="Segoe UI"/>
              </a:rPr>
              <a:t>3</a:t>
            </a:r>
          </a:p>
        </p:txBody>
      </p:sp>
      <p:sp>
        <p:nvSpPr>
          <p:cNvPr id="18" name="Rounded Rectangle 17"/>
          <p:cNvSpPr/>
          <p:nvPr/>
        </p:nvSpPr>
        <p:spPr>
          <a:xfrm>
            <a:off x="1645920" y="4480560"/>
            <a:ext cx="9784080" cy="118872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874519" y="4590288"/>
            <a:ext cx="7498079" cy="457200"/>
          </a:xfrm>
          <a:prstGeom prst="rect">
            <a:avLst/>
          </a:prstGeom>
          <a:noFill/>
        </p:spPr>
        <p:txBody>
          <a:bodyPr wrap="square" anchor="t" lIns="45720" rIns="45720" tIns="27432" bIns="27432">
            <a:spAutoFit/>
          </a:bodyPr>
          <a:lstStyle/>
          <a:p>
            <a:pPr algn="l">
              <a:spcAft>
                <a:spcPts val="600"/>
              </a:spcAft>
            </a:pPr>
            <a:r>
              <a:rPr sz="2200" b="1" i="0">
                <a:solidFill>
                  <a:srgbClr val="1F2A44"/>
                </a:solidFill>
                <a:latin typeface="Segoe UI"/>
              </a:rPr>
              <a:t>What if Copilot could talk to TopDesk?</a:t>
            </a:r>
          </a:p>
        </p:txBody>
      </p:sp>
      <p:sp>
        <p:nvSpPr>
          <p:cNvPr id="20" name="TextBox 19"/>
          <p:cNvSpPr txBox="1"/>
          <p:nvPr/>
        </p:nvSpPr>
        <p:spPr>
          <a:xfrm>
            <a:off x="1874519" y="5029200"/>
            <a:ext cx="7498079" cy="640080"/>
          </a:xfrm>
          <a:prstGeom prst="rect">
            <a:avLst/>
          </a:prstGeom>
          <a:noFill/>
        </p:spPr>
        <p:txBody>
          <a:bodyPr wrap="square" anchor="t" lIns="45720" rIns="45720" tIns="27432" bIns="27432">
            <a:spAutoFit/>
          </a:bodyPr>
          <a:lstStyle/>
          <a:p>
            <a:pPr algn="l">
              <a:spcAft>
                <a:spcPts val="600"/>
              </a:spcAft>
            </a:pPr>
            <a:r>
              <a:rPr sz="1400" b="0" i="0">
                <a:solidFill>
                  <a:srgbClr val="5F6368"/>
                </a:solidFill>
                <a:latin typeface="Segoe UI"/>
              </a:rPr>
              <a:t>Our own MCP server in front of TopDesk, plus a discussion with engineers and managers</a:t>
            </a:r>
          </a:p>
        </p:txBody>
      </p:sp>
      <p:sp>
        <p:nvSpPr>
          <p:cNvPr id="21" name="TextBox 20"/>
          <p:cNvSpPr txBox="1"/>
          <p:nvPr/>
        </p:nvSpPr>
        <p:spPr>
          <a:xfrm>
            <a:off x="9692640" y="4846320"/>
            <a:ext cx="1554480" cy="457200"/>
          </a:xfrm>
          <a:prstGeom prst="rect">
            <a:avLst/>
          </a:prstGeom>
          <a:noFill/>
        </p:spPr>
        <p:txBody>
          <a:bodyPr wrap="square" anchor="t" lIns="45720" rIns="45720" tIns="27432" bIns="27432">
            <a:spAutoFit/>
          </a:bodyPr>
          <a:lstStyle/>
          <a:p>
            <a:pPr algn="r">
              <a:spcAft>
                <a:spcPts val="600"/>
              </a:spcAft>
            </a:pPr>
            <a:r>
              <a:rPr sz="2000" b="1" i="0">
                <a:solidFill>
                  <a:srgbClr val="E07A1F"/>
                </a:solidFill>
                <a:latin typeface="Segoe UI"/>
              </a:rPr>
              <a:t>~20 min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731520" y="2011680"/>
            <a:ext cx="109728" cy="2377440"/>
          </a:xfrm>
          <a:prstGeom prst="rect">
            <a:avLst/>
          </a:prstGeom>
          <a:solidFill>
            <a:srgbClr val="008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97280" y="1920240"/>
            <a:ext cx="9144000" cy="548640"/>
          </a:xfrm>
          <a:prstGeom prst="rect">
            <a:avLst/>
          </a:prstGeom>
          <a:noFill/>
        </p:spPr>
        <p:txBody>
          <a:bodyPr wrap="square" anchor="t" lIns="45720" rIns="45720" tIns="27432" bIns="27432">
            <a:spAutoFit/>
          </a:bodyPr>
          <a:lstStyle/>
          <a:p>
            <a:pPr algn="l">
              <a:spcAft>
                <a:spcPts val="600"/>
              </a:spcAft>
            </a:pPr>
            <a:r>
              <a:rPr sz="1800" b="1" i="0">
                <a:solidFill>
                  <a:srgbClr val="7FD1CF"/>
                </a:solidFill>
                <a:latin typeface="Segoe UI"/>
              </a:rPr>
              <a:t>PART 1</a:t>
            </a:r>
          </a:p>
        </p:txBody>
      </p:sp>
      <p:sp>
        <p:nvSpPr>
          <p:cNvPr id="5" name="TextBox 4"/>
          <p:cNvSpPr txBox="1"/>
          <p:nvPr/>
        </p:nvSpPr>
        <p:spPr>
          <a:xfrm>
            <a:off x="1097280" y="2377440"/>
            <a:ext cx="10058400" cy="1097280"/>
          </a:xfrm>
          <a:prstGeom prst="rect">
            <a:avLst/>
          </a:prstGeom>
          <a:noFill/>
        </p:spPr>
        <p:txBody>
          <a:bodyPr wrap="square" anchor="t" lIns="45720" rIns="45720" tIns="27432" bIns="27432">
            <a:spAutoFit/>
          </a:bodyPr>
          <a:lstStyle/>
          <a:p>
            <a:pPr algn="l">
              <a:spcAft>
                <a:spcPts val="600"/>
              </a:spcAft>
            </a:pPr>
            <a:r>
              <a:rPr sz="4000" b="1" i="0">
                <a:solidFill>
                  <a:srgbClr val="FFFFFF"/>
                </a:solidFill>
                <a:latin typeface="Segoe UI"/>
              </a:rPr>
              <a:t>Ways of working with AI</a:t>
            </a:r>
          </a:p>
        </p:txBody>
      </p:sp>
      <p:sp>
        <p:nvSpPr>
          <p:cNvPr id="6" name="TextBox 5"/>
          <p:cNvSpPr txBox="1"/>
          <p:nvPr/>
        </p:nvSpPr>
        <p:spPr>
          <a:xfrm>
            <a:off x="1097280" y="3474720"/>
            <a:ext cx="10058400" cy="914400"/>
          </a:xfrm>
          <a:prstGeom prst="rect">
            <a:avLst/>
          </a:prstGeom>
          <a:noFill/>
        </p:spPr>
        <p:txBody>
          <a:bodyPr wrap="square" anchor="t" lIns="45720" rIns="45720" tIns="27432" bIns="27432">
            <a:spAutoFit/>
          </a:bodyPr>
          <a:lstStyle/>
          <a:p>
            <a:pPr algn="l">
              <a:spcAft>
                <a:spcPts val="600"/>
              </a:spcAft>
            </a:pPr>
            <a:r>
              <a:rPr sz="2000" b="0" i="0">
                <a:solidFill>
                  <a:srgbClr val="C8D0DC"/>
                </a:solidFill>
                <a:latin typeface="Segoe UI"/>
              </a:rPr>
              <a:t>AI drafts. You verify. You decide. You own.</a:t>
            </a:r>
          </a:p>
        </p:txBody>
      </p:sp>
      <p:sp>
        <p:nvSpPr>
          <p:cNvPr id="7" name="TextBox 6"/>
          <p:cNvSpPr txBox="1"/>
          <p:nvPr/>
        </p:nvSpPr>
        <p:spPr>
          <a:xfrm>
            <a:off x="457200" y="6446520"/>
            <a:ext cx="7315200" cy="274320"/>
          </a:xfrm>
          <a:prstGeom prst="rect">
            <a:avLst/>
          </a:prstGeom>
          <a:noFill/>
        </p:spPr>
        <p:txBody>
          <a:bodyPr wrap="square" anchor="t" lIns="45720" rIns="45720" tIns="27432" bIns="27432">
            <a:spAutoFit/>
          </a:bodyPr>
          <a:lstStyle/>
          <a:p>
            <a:pPr algn="l">
              <a:spcAft>
                <a:spcPts val="600"/>
              </a:spcAft>
            </a:pPr>
            <a:r>
              <a:rPr sz="1000" b="0" i="0">
                <a:solidFill>
                  <a:srgbClr val="B0B8C4"/>
                </a:solidFill>
                <a:latin typeface="Segoe UI"/>
              </a:rPr>
              <a:t>AI in service management  |  ShopFast workshop</a:t>
            </a:r>
          </a:p>
        </p:txBody>
      </p:sp>
      <p:sp>
        <p:nvSpPr>
          <p:cNvPr id="8" name="TextBox 7"/>
          <p:cNvSpPr txBox="1"/>
          <p:nvPr/>
        </p:nvSpPr>
        <p:spPr>
          <a:xfrm>
            <a:off x="10972800" y="6446520"/>
            <a:ext cx="777240" cy="274320"/>
          </a:xfrm>
          <a:prstGeom prst="rect">
            <a:avLst/>
          </a:prstGeom>
          <a:noFill/>
        </p:spPr>
        <p:txBody>
          <a:bodyPr wrap="square" anchor="t" lIns="45720" rIns="45720" tIns="27432" bIns="27432">
            <a:spAutoFit/>
          </a:bodyPr>
          <a:lstStyle/>
          <a:p>
            <a:pPr algn="r">
              <a:spcAft>
                <a:spcPts val="600"/>
              </a:spcAft>
            </a:pPr>
            <a:r>
              <a:rPr sz="1000" b="0" i="0">
                <a:solidFill>
                  <a:srgbClr val="B0B8C4"/>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08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274320"/>
            <a:ext cx="10972800" cy="320040"/>
          </a:xfrm>
          <a:prstGeom prst="rect">
            <a:avLst/>
          </a:prstGeom>
          <a:noFill/>
        </p:spPr>
        <p:txBody>
          <a:bodyPr wrap="square" anchor="t" lIns="45720" rIns="45720" tIns="27432" bIns="27432">
            <a:spAutoFit/>
          </a:bodyPr>
          <a:lstStyle/>
          <a:p>
            <a:pPr algn="l">
              <a:spcAft>
                <a:spcPts val="600"/>
              </a:spcAft>
            </a:pPr>
            <a:r>
              <a:rPr sz="1200" b="1" i="0">
                <a:solidFill>
                  <a:srgbClr val="008C8A"/>
                </a:solidFill>
                <a:latin typeface="Segoe UI"/>
              </a:rPr>
              <a:t>MINDSET</a:t>
            </a:r>
          </a:p>
        </p:txBody>
      </p:sp>
      <p:sp>
        <p:nvSpPr>
          <p:cNvPr id="4" name="TextBox 3"/>
          <p:cNvSpPr txBox="1"/>
          <p:nvPr/>
        </p:nvSpPr>
        <p:spPr>
          <a:xfrm>
            <a:off x="457200" y="530352"/>
            <a:ext cx="11247120" cy="731520"/>
          </a:xfrm>
          <a:prstGeom prst="rect">
            <a:avLst/>
          </a:prstGeom>
          <a:noFill/>
        </p:spPr>
        <p:txBody>
          <a:bodyPr wrap="square" anchor="t" lIns="45720" rIns="45720" tIns="27432" bIns="27432">
            <a:spAutoFit/>
          </a:bodyPr>
          <a:lstStyle/>
          <a:p>
            <a:pPr algn="l">
              <a:spcAft>
                <a:spcPts val="600"/>
              </a:spcAft>
            </a:pPr>
            <a:r>
              <a:rPr sz="3000" b="1" i="0">
                <a:solidFill>
                  <a:srgbClr val="1F2A44"/>
                </a:solidFill>
                <a:latin typeface="Segoe UI"/>
              </a:rPr>
              <a:t>Think of AI as a fast, well-read colleague, not an oracle</a:t>
            </a:r>
          </a:p>
        </p:txBody>
      </p:sp>
      <p:sp>
        <p:nvSpPr>
          <p:cNvPr id="5" name="TextBox 4"/>
          <p:cNvSpPr txBox="1"/>
          <p:nvPr/>
        </p:nvSpPr>
        <p:spPr>
          <a:xfrm>
            <a:off x="457200" y="6446520"/>
            <a:ext cx="7315200" cy="274320"/>
          </a:xfrm>
          <a:prstGeom prst="rect">
            <a:avLst/>
          </a:prstGeom>
          <a:noFill/>
        </p:spPr>
        <p:txBody>
          <a:bodyPr wrap="square" anchor="t" lIns="45720" rIns="45720" tIns="27432" bIns="27432">
            <a:spAutoFit/>
          </a:bodyPr>
          <a:lstStyle/>
          <a:p>
            <a:pPr algn="l">
              <a:spcAft>
                <a:spcPts val="600"/>
              </a:spcAft>
            </a:pPr>
            <a:r>
              <a:rPr sz="1000" b="0" i="0">
                <a:solidFill>
                  <a:srgbClr val="5F6368"/>
                </a:solidFill>
                <a:latin typeface="Segoe UI"/>
              </a:rPr>
              <a:t>AI in service management  |  ShopFast workshop</a:t>
            </a:r>
          </a:p>
        </p:txBody>
      </p:sp>
      <p:sp>
        <p:nvSpPr>
          <p:cNvPr id="6" name="TextBox 5"/>
          <p:cNvSpPr txBox="1"/>
          <p:nvPr/>
        </p:nvSpPr>
        <p:spPr>
          <a:xfrm>
            <a:off x="10972800" y="6446520"/>
            <a:ext cx="777240" cy="274320"/>
          </a:xfrm>
          <a:prstGeom prst="rect">
            <a:avLst/>
          </a:prstGeom>
          <a:noFill/>
        </p:spPr>
        <p:txBody>
          <a:bodyPr wrap="square" anchor="t" lIns="45720" rIns="45720" tIns="27432" bIns="27432">
            <a:spAutoFit/>
          </a:bodyPr>
          <a:lstStyle/>
          <a:p>
            <a:pPr algn="r">
              <a:spcAft>
                <a:spcPts val="600"/>
              </a:spcAft>
            </a:pPr>
            <a:r>
              <a:rPr sz="1000" b="0" i="0">
                <a:solidFill>
                  <a:srgbClr val="5F6368"/>
                </a:solidFill>
                <a:latin typeface="Segoe UI"/>
              </a:rPr>
              <a:t>4</a:t>
            </a:r>
          </a:p>
        </p:txBody>
      </p:sp>
      <p:sp>
        <p:nvSpPr>
          <p:cNvPr id="7" name="Rounded Rectangle 6"/>
          <p:cNvSpPr/>
          <p:nvPr/>
        </p:nvSpPr>
        <p:spPr>
          <a:xfrm>
            <a:off x="731520" y="1554480"/>
            <a:ext cx="5257800" cy="3657600"/>
          </a:xfrm>
          <a:prstGeom prst="roundRect">
            <a:avLst>
              <a:gd name="adj" fmla="val 8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731520" y="1554480"/>
            <a:ext cx="5257800" cy="502920"/>
          </a:xfrm>
          <a:prstGeom prst="roundRect">
            <a:avLst>
              <a:gd name="adj" fmla="val 15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i="0">
                <a:solidFill>
                  <a:srgbClr val="FFFFFF"/>
                </a:solidFill>
                <a:latin typeface="Segoe UI"/>
              </a:rPr>
              <a:t>What it is great at</a:t>
            </a:r>
          </a:p>
        </p:txBody>
      </p:sp>
      <p:sp>
        <p:nvSpPr>
          <p:cNvPr id="9" name="TextBox 8"/>
          <p:cNvSpPr txBox="1"/>
          <p:nvPr/>
        </p:nvSpPr>
        <p:spPr>
          <a:xfrm>
            <a:off x="868680" y="2167128"/>
            <a:ext cx="4983480" cy="2971800"/>
          </a:xfrm>
          <a:prstGeom prst="rect">
            <a:avLst/>
          </a:prstGeom>
          <a:noFill/>
        </p:spPr>
        <p:txBody>
          <a:bodyPr wrap="square" anchor="t" lIns="45720" rIns="45720" tIns="27432" bIns="27432">
            <a:spAutoFit/>
          </a:bodyPr>
          <a:lstStyle/>
          <a:p>
            <a:pPr algn="l">
              <a:spcAft>
                <a:spcPts val="600"/>
              </a:spcAft>
            </a:pPr>
            <a:r>
              <a:rPr sz="1600" b="0" i="0">
                <a:solidFill>
                  <a:srgbClr val="202124"/>
                </a:solidFill>
                <a:latin typeface="Segoe UI"/>
              </a:rPr>
              <a:t>• Reading a lot, fast: logs, metrics, diffs, configs</a:t>
            </a:r>
          </a:p>
          <a:p>
            <a:pPr algn="l">
              <a:spcAft>
                <a:spcPts val="600"/>
              </a:spcAft>
            </a:pPr>
            <a:r>
              <a:rPr sz="1600" b="0" i="0">
                <a:solidFill>
                  <a:srgbClr val="202124"/>
                </a:solidFill>
                <a:latin typeface="Segoe UI"/>
              </a:rPr>
              <a:t>• Spotting patterns and correlating timestamps</a:t>
            </a:r>
          </a:p>
          <a:p>
            <a:pPr algn="l">
              <a:spcAft>
                <a:spcPts val="600"/>
              </a:spcAft>
            </a:pPr>
            <a:r>
              <a:rPr sz="1600" b="0" i="0">
                <a:solidFill>
                  <a:srgbClr val="202124"/>
                </a:solidFill>
                <a:latin typeface="Segoe UI"/>
              </a:rPr>
              <a:t>• Suggesting hypotheses and alternatives</a:t>
            </a:r>
          </a:p>
          <a:p>
            <a:pPr algn="l">
              <a:spcAft>
                <a:spcPts val="600"/>
              </a:spcAft>
            </a:pPr>
            <a:r>
              <a:rPr sz="1600" b="0" i="0">
                <a:solidFill>
                  <a:srgbClr val="202124"/>
                </a:solidFill>
                <a:latin typeface="Segoe UI"/>
              </a:rPr>
              <a:t>• Drafting: TopDesk actions, Teams updates, RFCs, postmortems</a:t>
            </a:r>
          </a:p>
          <a:p>
            <a:pPr algn="l">
              <a:spcAft>
                <a:spcPts val="600"/>
              </a:spcAft>
            </a:pPr>
            <a:r>
              <a:rPr sz="1600" b="0" i="0">
                <a:solidFill>
                  <a:srgbClr val="202124"/>
                </a:solidFill>
                <a:latin typeface="Segoe UI"/>
              </a:rPr>
              <a:t>• Rewriting for a different audience (engineer, customer, manager)</a:t>
            </a:r>
          </a:p>
          <a:p>
            <a:pPr algn="l">
              <a:spcAft>
                <a:spcPts val="600"/>
              </a:spcAft>
            </a:pPr>
            <a:r>
              <a:rPr sz="1600" b="0" i="0">
                <a:solidFill>
                  <a:srgbClr val="202124"/>
                </a:solidFill>
                <a:latin typeface="Segoe UI"/>
              </a:rPr>
              <a:t>• Explaining unfamiliar code, queries or error messages</a:t>
            </a:r>
          </a:p>
        </p:txBody>
      </p:sp>
      <p:sp>
        <p:nvSpPr>
          <p:cNvPr id="10" name="Rounded Rectangle 9"/>
          <p:cNvSpPr/>
          <p:nvPr/>
        </p:nvSpPr>
        <p:spPr>
          <a:xfrm>
            <a:off x="6217920" y="1554480"/>
            <a:ext cx="5257800" cy="3657600"/>
          </a:xfrm>
          <a:prstGeom prst="roundRect">
            <a:avLst>
              <a:gd name="adj" fmla="val 8000"/>
            </a:avLst>
          </a:prstGeom>
          <a:solidFill>
            <a:srgbClr val="FB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6217920" y="1554480"/>
            <a:ext cx="5257800" cy="502920"/>
          </a:xfrm>
          <a:prstGeom prst="roundRect">
            <a:avLst>
              <a:gd name="adj" fmla="val 15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i="0">
                <a:solidFill>
                  <a:srgbClr val="FFFFFF"/>
                </a:solidFill>
                <a:latin typeface="Segoe UI"/>
              </a:rPr>
              <a:t>What it is not</a:t>
            </a:r>
          </a:p>
        </p:txBody>
      </p:sp>
      <p:sp>
        <p:nvSpPr>
          <p:cNvPr id="12" name="TextBox 11"/>
          <p:cNvSpPr txBox="1"/>
          <p:nvPr/>
        </p:nvSpPr>
        <p:spPr>
          <a:xfrm>
            <a:off x="6355080" y="2167128"/>
            <a:ext cx="4983480" cy="2971800"/>
          </a:xfrm>
          <a:prstGeom prst="rect">
            <a:avLst/>
          </a:prstGeom>
          <a:noFill/>
        </p:spPr>
        <p:txBody>
          <a:bodyPr wrap="square" anchor="t" lIns="45720" rIns="45720" tIns="27432" bIns="27432">
            <a:spAutoFit/>
          </a:bodyPr>
          <a:lstStyle/>
          <a:p>
            <a:pPr algn="l">
              <a:spcAft>
                <a:spcPts val="600"/>
              </a:spcAft>
            </a:pPr>
            <a:r>
              <a:rPr sz="1600" b="0" i="0">
                <a:solidFill>
                  <a:srgbClr val="202124"/>
                </a:solidFill>
                <a:latin typeface="Segoe UI"/>
              </a:rPr>
              <a:t>• Always right: it can sound confident and still be wrong</a:t>
            </a:r>
          </a:p>
          <a:p>
            <a:pPr algn="l">
              <a:spcAft>
                <a:spcPts val="600"/>
              </a:spcAft>
            </a:pPr>
            <a:r>
              <a:rPr sz="1600" b="0" i="0">
                <a:solidFill>
                  <a:srgbClr val="202124"/>
                </a:solidFill>
                <a:latin typeface="Segoe UI"/>
              </a:rPr>
              <a:t>• Aware of anything you didn't give it (context is everything)</a:t>
            </a:r>
          </a:p>
          <a:p>
            <a:pPr algn="l">
              <a:spcAft>
                <a:spcPts val="600"/>
              </a:spcAft>
            </a:pPr>
            <a:r>
              <a:rPr sz="1600" b="0" i="0">
                <a:solidFill>
                  <a:srgbClr val="202124"/>
                </a:solidFill>
                <a:latin typeface="Segoe UI"/>
              </a:rPr>
              <a:t>• Accountable: decisions and sign-off stay with you</a:t>
            </a:r>
          </a:p>
          <a:p>
            <a:pPr algn="l">
              <a:spcAft>
                <a:spcPts val="600"/>
              </a:spcAft>
            </a:pPr>
            <a:r>
              <a:rPr sz="1600" b="0" i="0">
                <a:solidFill>
                  <a:srgbClr val="202124"/>
                </a:solidFill>
                <a:latin typeface="Segoe UI"/>
              </a:rPr>
              <a:t>• Good at saying “I don't know” unless you ask for it</a:t>
            </a:r>
          </a:p>
          <a:p>
            <a:pPr algn="l">
              <a:spcAft>
                <a:spcPts val="600"/>
              </a:spcAft>
            </a:pPr>
            <a:r>
              <a:rPr sz="1600" b="0" i="0">
                <a:solidFill>
                  <a:srgbClr val="202124"/>
                </a:solidFill>
                <a:latin typeface="Segoe UI"/>
              </a:rPr>
              <a:t>• A replacement for knowing our systems and our process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08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274320"/>
            <a:ext cx="10972800" cy="320040"/>
          </a:xfrm>
          <a:prstGeom prst="rect">
            <a:avLst/>
          </a:prstGeom>
          <a:noFill/>
        </p:spPr>
        <p:txBody>
          <a:bodyPr wrap="square" anchor="t" lIns="45720" rIns="45720" tIns="27432" bIns="27432">
            <a:spAutoFit/>
          </a:bodyPr>
          <a:lstStyle/>
          <a:p>
            <a:pPr algn="l">
              <a:spcAft>
                <a:spcPts val="600"/>
              </a:spcAft>
            </a:pPr>
            <a:r>
              <a:rPr sz="1200" b="1" i="0">
                <a:solidFill>
                  <a:srgbClr val="008C8A"/>
                </a:solidFill>
                <a:latin typeface="Segoe UI"/>
              </a:rPr>
              <a:t>MODES</a:t>
            </a:r>
          </a:p>
        </p:txBody>
      </p:sp>
      <p:sp>
        <p:nvSpPr>
          <p:cNvPr id="4" name="TextBox 3"/>
          <p:cNvSpPr txBox="1"/>
          <p:nvPr/>
        </p:nvSpPr>
        <p:spPr>
          <a:xfrm>
            <a:off x="457200" y="530352"/>
            <a:ext cx="11247120" cy="731520"/>
          </a:xfrm>
          <a:prstGeom prst="rect">
            <a:avLst/>
          </a:prstGeom>
          <a:noFill/>
        </p:spPr>
        <p:txBody>
          <a:bodyPr wrap="square" anchor="t" lIns="45720" rIns="45720" tIns="27432" bIns="27432">
            <a:spAutoFit/>
          </a:bodyPr>
          <a:lstStyle/>
          <a:p>
            <a:pPr algn="l">
              <a:spcAft>
                <a:spcPts val="600"/>
              </a:spcAft>
            </a:pPr>
            <a:r>
              <a:rPr sz="3000" b="1" i="0">
                <a:solidFill>
                  <a:srgbClr val="1F2A44"/>
                </a:solidFill>
                <a:latin typeface="Segoe UI"/>
              </a:rPr>
              <a:t>Four ways to work with AI</a:t>
            </a:r>
          </a:p>
        </p:txBody>
      </p:sp>
      <p:sp>
        <p:nvSpPr>
          <p:cNvPr id="5" name="TextBox 4"/>
          <p:cNvSpPr txBox="1"/>
          <p:nvPr/>
        </p:nvSpPr>
        <p:spPr>
          <a:xfrm>
            <a:off x="457200" y="6446520"/>
            <a:ext cx="7315200" cy="274320"/>
          </a:xfrm>
          <a:prstGeom prst="rect">
            <a:avLst/>
          </a:prstGeom>
          <a:noFill/>
        </p:spPr>
        <p:txBody>
          <a:bodyPr wrap="square" anchor="t" lIns="45720" rIns="45720" tIns="27432" bIns="27432">
            <a:spAutoFit/>
          </a:bodyPr>
          <a:lstStyle/>
          <a:p>
            <a:pPr algn="l">
              <a:spcAft>
                <a:spcPts val="600"/>
              </a:spcAft>
            </a:pPr>
            <a:r>
              <a:rPr sz="1000" b="0" i="0">
                <a:solidFill>
                  <a:srgbClr val="5F6368"/>
                </a:solidFill>
                <a:latin typeface="Segoe UI"/>
              </a:rPr>
              <a:t>AI in service management  |  ShopFast workshop</a:t>
            </a:r>
          </a:p>
        </p:txBody>
      </p:sp>
      <p:sp>
        <p:nvSpPr>
          <p:cNvPr id="6" name="TextBox 5"/>
          <p:cNvSpPr txBox="1"/>
          <p:nvPr/>
        </p:nvSpPr>
        <p:spPr>
          <a:xfrm>
            <a:off x="10972800" y="6446520"/>
            <a:ext cx="777240" cy="274320"/>
          </a:xfrm>
          <a:prstGeom prst="rect">
            <a:avLst/>
          </a:prstGeom>
          <a:noFill/>
        </p:spPr>
        <p:txBody>
          <a:bodyPr wrap="square" anchor="t" lIns="45720" rIns="45720" tIns="27432" bIns="27432">
            <a:spAutoFit/>
          </a:bodyPr>
          <a:lstStyle/>
          <a:p>
            <a:pPr algn="r">
              <a:spcAft>
                <a:spcPts val="600"/>
              </a:spcAft>
            </a:pPr>
            <a:r>
              <a:rPr sz="1000" b="0" i="0">
                <a:solidFill>
                  <a:srgbClr val="5F6368"/>
                </a:solidFill>
                <a:latin typeface="Segoe UI"/>
              </a:rPr>
              <a:t>5</a:t>
            </a:r>
          </a:p>
        </p:txBody>
      </p:sp>
      <p:sp>
        <p:nvSpPr>
          <p:cNvPr id="7" name="Rounded Rectangle 6"/>
          <p:cNvSpPr/>
          <p:nvPr/>
        </p:nvSpPr>
        <p:spPr>
          <a:xfrm>
            <a:off x="731520" y="1645920"/>
            <a:ext cx="2606040" cy="356616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731520" y="1645920"/>
            <a:ext cx="2606040" cy="822960"/>
          </a:xfrm>
          <a:prstGeom prst="roundRect">
            <a:avLst>
              <a:gd name="adj" fmla="val 15000"/>
            </a:avLst>
          </a:prstGeom>
          <a:solidFill>
            <a:srgbClr val="008C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i="0">
                <a:solidFill>
                  <a:srgbClr val="FFFFFF"/>
                </a:solidFill>
                <a:latin typeface="Segoe UI"/>
              </a:rPr>
              <a:t>Chat</a:t>
            </a:r>
          </a:p>
          <a:p>
            <a:pPr algn="ctr"/>
            <a:r>
              <a:rPr sz="1300" b="0" i="0">
                <a:solidFill>
                  <a:srgbClr val="FFFFFF"/>
                </a:solidFill>
                <a:latin typeface="Segoe UI"/>
              </a:rPr>
              <a:t>Ask, explain, draft</a:t>
            </a:r>
          </a:p>
        </p:txBody>
      </p:sp>
      <p:sp>
        <p:nvSpPr>
          <p:cNvPr id="9" name="TextBox 8"/>
          <p:cNvSpPr txBox="1"/>
          <p:nvPr/>
        </p:nvSpPr>
        <p:spPr>
          <a:xfrm>
            <a:off x="868680" y="2651760"/>
            <a:ext cx="2331720" cy="1828800"/>
          </a:xfrm>
          <a:prstGeom prst="rect">
            <a:avLst/>
          </a:prstGeom>
          <a:noFill/>
        </p:spPr>
        <p:txBody>
          <a:bodyPr wrap="square" anchor="t" lIns="45720" rIns="45720" tIns="27432" bIns="27432">
            <a:spAutoFit/>
          </a:bodyPr>
          <a:lstStyle/>
          <a:p>
            <a:pPr algn="l">
              <a:spcAft>
                <a:spcPts val="600"/>
              </a:spcAft>
            </a:pPr>
            <a:r>
              <a:rPr sz="1600" b="0" i="0">
                <a:solidFill>
                  <a:srgbClr val="202124"/>
                </a:solidFill>
                <a:latin typeface="Segoe UI"/>
              </a:rPr>
              <a:t>“Explain this stack trace.”
“Rewrite this for the service desk.”</a:t>
            </a:r>
          </a:p>
        </p:txBody>
      </p:sp>
      <p:sp>
        <p:nvSpPr>
          <p:cNvPr id="10" name="TextBox 9"/>
          <p:cNvSpPr txBox="1"/>
          <p:nvPr/>
        </p:nvSpPr>
        <p:spPr>
          <a:xfrm>
            <a:off x="868680" y="4434840"/>
            <a:ext cx="2331720" cy="731520"/>
          </a:xfrm>
          <a:prstGeom prst="rect">
            <a:avLst/>
          </a:prstGeom>
          <a:noFill/>
        </p:spPr>
        <p:txBody>
          <a:bodyPr wrap="square" anchor="t" lIns="45720" rIns="45720" tIns="27432" bIns="27432">
            <a:spAutoFit/>
          </a:bodyPr>
          <a:lstStyle/>
          <a:p>
            <a:pPr algn="l">
              <a:spcAft>
                <a:spcPts val="600"/>
              </a:spcAft>
            </a:pPr>
            <a:r>
              <a:rPr sz="1300" b="1" i="0">
                <a:solidFill>
                  <a:srgbClr val="5F6368"/>
                </a:solidFill>
                <a:latin typeface="Segoe UI"/>
              </a:rPr>
              <a:t>You copy context in and the answer out</a:t>
            </a:r>
          </a:p>
        </p:txBody>
      </p:sp>
      <p:sp>
        <p:nvSpPr>
          <p:cNvPr id="11" name="Right Arrow 10"/>
          <p:cNvSpPr/>
          <p:nvPr/>
        </p:nvSpPr>
        <p:spPr>
          <a:xfrm>
            <a:off x="3364991" y="3291840"/>
            <a:ext cx="246888" cy="320040"/>
          </a:xfrm>
          <a:prstGeom prst="rightArrow">
            <a:avLst/>
          </a:prstGeom>
          <a:solidFill>
            <a:srgbClr val="5F63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11880" y="1645920"/>
            <a:ext cx="2606040" cy="356616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3611880" y="1645920"/>
            <a:ext cx="2606040" cy="822960"/>
          </a:xfrm>
          <a:prstGeom prst="roundRect">
            <a:avLst>
              <a:gd name="adj" fmla="val 15000"/>
            </a:avLst>
          </a:prstGeom>
          <a:solidFill>
            <a:srgbClr val="008C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i="0">
                <a:solidFill>
                  <a:srgbClr val="FFFFFF"/>
                </a:solidFill>
                <a:latin typeface="Segoe UI"/>
              </a:rPr>
              <a:t>In the editor</a:t>
            </a:r>
          </a:p>
          <a:p>
            <a:pPr algn="ctr"/>
            <a:r>
              <a:rPr sz="1300" b="0" i="0">
                <a:solidFill>
                  <a:srgbClr val="FFFFFF"/>
                </a:solidFill>
                <a:latin typeface="Segoe UI"/>
              </a:rPr>
              <a:t>Copilot in VS Code</a:t>
            </a:r>
          </a:p>
        </p:txBody>
      </p:sp>
      <p:sp>
        <p:nvSpPr>
          <p:cNvPr id="14" name="TextBox 13"/>
          <p:cNvSpPr txBox="1"/>
          <p:nvPr/>
        </p:nvSpPr>
        <p:spPr>
          <a:xfrm>
            <a:off x="3749040" y="2651760"/>
            <a:ext cx="2331720" cy="1828800"/>
          </a:xfrm>
          <a:prstGeom prst="rect">
            <a:avLst/>
          </a:prstGeom>
          <a:noFill/>
        </p:spPr>
        <p:txBody>
          <a:bodyPr wrap="square" anchor="t" lIns="45720" rIns="45720" tIns="27432" bIns="27432">
            <a:spAutoFit/>
          </a:bodyPr>
          <a:lstStyle/>
          <a:p>
            <a:pPr algn="l">
              <a:spcAft>
                <a:spcPts val="600"/>
              </a:spcAft>
            </a:pPr>
            <a:r>
              <a:rPr sz="1600" b="0" i="0">
                <a:solidFill>
                  <a:srgbClr val="202124"/>
                </a:solidFill>
                <a:latin typeface="Segoe UI"/>
              </a:rPr>
              <a:t>Completions, inline chat, explain or fix selected code or config</a:t>
            </a:r>
          </a:p>
        </p:txBody>
      </p:sp>
      <p:sp>
        <p:nvSpPr>
          <p:cNvPr id="15" name="TextBox 14"/>
          <p:cNvSpPr txBox="1"/>
          <p:nvPr/>
        </p:nvSpPr>
        <p:spPr>
          <a:xfrm>
            <a:off x="3749040" y="4434840"/>
            <a:ext cx="2331720" cy="731520"/>
          </a:xfrm>
          <a:prstGeom prst="rect">
            <a:avLst/>
          </a:prstGeom>
          <a:noFill/>
        </p:spPr>
        <p:txBody>
          <a:bodyPr wrap="square" anchor="t" lIns="45720" rIns="45720" tIns="27432" bIns="27432">
            <a:spAutoFit/>
          </a:bodyPr>
          <a:lstStyle/>
          <a:p>
            <a:pPr algn="l">
              <a:spcAft>
                <a:spcPts val="600"/>
              </a:spcAft>
            </a:pPr>
            <a:r>
              <a:rPr sz="1300" b="1" i="0">
                <a:solidFill>
                  <a:srgbClr val="5F6368"/>
                </a:solidFill>
                <a:latin typeface="Segoe UI"/>
              </a:rPr>
              <a:t>Context = the files you have open</a:t>
            </a:r>
          </a:p>
        </p:txBody>
      </p:sp>
      <p:sp>
        <p:nvSpPr>
          <p:cNvPr id="16" name="Right Arrow 15"/>
          <p:cNvSpPr/>
          <p:nvPr/>
        </p:nvSpPr>
        <p:spPr>
          <a:xfrm>
            <a:off x="6245352" y="3291840"/>
            <a:ext cx="246888" cy="320040"/>
          </a:xfrm>
          <a:prstGeom prst="rightArrow">
            <a:avLst/>
          </a:prstGeom>
          <a:solidFill>
            <a:srgbClr val="5F63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492240" y="1645920"/>
            <a:ext cx="2606040" cy="356616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6492240" y="1645920"/>
            <a:ext cx="2606040" cy="822960"/>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i="0">
                <a:solidFill>
                  <a:srgbClr val="FFFFFF"/>
                </a:solidFill>
                <a:latin typeface="Segoe UI"/>
              </a:rPr>
              <a:t>Agent</a:t>
            </a:r>
          </a:p>
          <a:p>
            <a:pPr algn="ctr"/>
            <a:r>
              <a:rPr sz="1300" b="0" i="0">
                <a:solidFill>
                  <a:srgbClr val="FFFFFF"/>
                </a:solidFill>
                <a:latin typeface="Segoe UI"/>
              </a:rPr>
              <a:t>Copilot agent mode / CLI</a:t>
            </a:r>
          </a:p>
        </p:txBody>
      </p:sp>
      <p:sp>
        <p:nvSpPr>
          <p:cNvPr id="19" name="TextBox 18"/>
          <p:cNvSpPr txBox="1"/>
          <p:nvPr/>
        </p:nvSpPr>
        <p:spPr>
          <a:xfrm>
            <a:off x="6629400" y="2651760"/>
            <a:ext cx="2331720" cy="1828800"/>
          </a:xfrm>
          <a:prstGeom prst="rect">
            <a:avLst/>
          </a:prstGeom>
          <a:noFill/>
        </p:spPr>
        <p:txBody>
          <a:bodyPr wrap="square" anchor="t" lIns="45720" rIns="45720" tIns="27432" bIns="27432">
            <a:spAutoFit/>
          </a:bodyPr>
          <a:lstStyle/>
          <a:p>
            <a:pPr algn="l">
              <a:spcAft>
                <a:spcPts val="600"/>
              </a:spcAft>
            </a:pPr>
            <a:r>
              <a:rPr sz="1600" b="0" i="0">
                <a:solidFill>
                  <a:srgbClr val="202124"/>
                </a:solidFill>
                <a:latin typeface="Segoe UI"/>
              </a:rPr>
              <a:t>Reads files, runs commands, edits, and proposes the next step</a:t>
            </a:r>
          </a:p>
        </p:txBody>
      </p:sp>
      <p:sp>
        <p:nvSpPr>
          <p:cNvPr id="20" name="TextBox 19"/>
          <p:cNvSpPr txBox="1"/>
          <p:nvPr/>
        </p:nvSpPr>
        <p:spPr>
          <a:xfrm>
            <a:off x="6629400" y="4434840"/>
            <a:ext cx="2331720" cy="731520"/>
          </a:xfrm>
          <a:prstGeom prst="rect">
            <a:avLst/>
          </a:prstGeom>
          <a:noFill/>
        </p:spPr>
        <p:txBody>
          <a:bodyPr wrap="square" anchor="t" lIns="45720" rIns="45720" tIns="27432" bIns="27432">
            <a:spAutoFit/>
          </a:bodyPr>
          <a:lstStyle/>
          <a:p>
            <a:pPr algn="l">
              <a:spcAft>
                <a:spcPts val="600"/>
              </a:spcAft>
            </a:pPr>
            <a:r>
              <a:rPr sz="1300" b="1" i="0">
                <a:solidFill>
                  <a:srgbClr val="5F6368"/>
                </a:solidFill>
                <a:latin typeface="Segoe UI"/>
              </a:rPr>
              <a:t>You approve each action</a:t>
            </a:r>
          </a:p>
        </p:txBody>
      </p:sp>
      <p:sp>
        <p:nvSpPr>
          <p:cNvPr id="21" name="Right Arrow 20"/>
          <p:cNvSpPr/>
          <p:nvPr/>
        </p:nvSpPr>
        <p:spPr>
          <a:xfrm>
            <a:off x="9125712" y="3291840"/>
            <a:ext cx="246888" cy="320040"/>
          </a:xfrm>
          <a:prstGeom prst="rightArrow">
            <a:avLst/>
          </a:prstGeom>
          <a:solidFill>
            <a:srgbClr val="5F63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372600" y="1645920"/>
            <a:ext cx="2606040" cy="356616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9372600" y="1645920"/>
            <a:ext cx="2606040" cy="822960"/>
          </a:xfrm>
          <a:prstGeom prst="roundRect">
            <a:avLst>
              <a:gd name="adj" fmla="val 15000"/>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i="0">
                <a:solidFill>
                  <a:srgbClr val="FFFFFF"/>
                </a:solidFill>
                <a:latin typeface="Segoe UI"/>
              </a:rPr>
              <a:t>Connected (MCP)</a:t>
            </a:r>
          </a:p>
          <a:p>
            <a:pPr algn="ctr"/>
            <a:r>
              <a:rPr sz="1300" b="0" i="0">
                <a:solidFill>
                  <a:srgbClr val="FFFFFF"/>
                </a:solidFill>
                <a:latin typeface="Segoe UI"/>
              </a:rPr>
              <a:t>AI + our tools</a:t>
            </a:r>
          </a:p>
        </p:txBody>
      </p:sp>
      <p:sp>
        <p:nvSpPr>
          <p:cNvPr id="24" name="TextBox 23"/>
          <p:cNvSpPr txBox="1"/>
          <p:nvPr/>
        </p:nvSpPr>
        <p:spPr>
          <a:xfrm>
            <a:off x="9509760" y="2651760"/>
            <a:ext cx="2331720" cy="1828800"/>
          </a:xfrm>
          <a:prstGeom prst="rect">
            <a:avLst/>
          </a:prstGeom>
          <a:noFill/>
        </p:spPr>
        <p:txBody>
          <a:bodyPr wrap="square" anchor="t" lIns="45720" rIns="45720" tIns="27432" bIns="27432">
            <a:spAutoFit/>
          </a:bodyPr>
          <a:lstStyle/>
          <a:p>
            <a:pPr algn="l">
              <a:spcAft>
                <a:spcPts val="600"/>
              </a:spcAft>
            </a:pPr>
            <a:r>
              <a:rPr sz="1600" b="0" i="0">
                <a:solidFill>
                  <a:srgbClr val="202124"/>
                </a:solidFill>
                <a:latin typeface="Segoe UI"/>
              </a:rPr>
              <a:t>Reads and updates systems such as GitHub, monitoring… or TopDesk</a:t>
            </a:r>
          </a:p>
        </p:txBody>
      </p:sp>
      <p:sp>
        <p:nvSpPr>
          <p:cNvPr id="25" name="TextBox 24"/>
          <p:cNvSpPr txBox="1"/>
          <p:nvPr/>
        </p:nvSpPr>
        <p:spPr>
          <a:xfrm>
            <a:off x="9509760" y="4434840"/>
            <a:ext cx="2331720" cy="731520"/>
          </a:xfrm>
          <a:prstGeom prst="rect">
            <a:avLst/>
          </a:prstGeom>
          <a:noFill/>
        </p:spPr>
        <p:txBody>
          <a:bodyPr wrap="square" anchor="t" lIns="45720" rIns="45720" tIns="27432" bIns="27432">
            <a:spAutoFit/>
          </a:bodyPr>
          <a:lstStyle/>
          <a:p>
            <a:pPr algn="l">
              <a:spcAft>
                <a:spcPts val="600"/>
              </a:spcAft>
            </a:pPr>
            <a:r>
              <a:rPr sz="1300" b="1" i="0">
                <a:solidFill>
                  <a:srgbClr val="5F6368"/>
                </a:solidFill>
                <a:latin typeface="Segoe UI"/>
              </a:rPr>
              <a:t>Part 3 of today</a:t>
            </a:r>
          </a:p>
        </p:txBody>
      </p:sp>
      <p:sp>
        <p:nvSpPr>
          <p:cNvPr id="26" name="TextBox 25"/>
          <p:cNvSpPr txBox="1"/>
          <p:nvPr/>
        </p:nvSpPr>
        <p:spPr>
          <a:xfrm>
            <a:off x="731520" y="5486400"/>
            <a:ext cx="10789920" cy="365760"/>
          </a:xfrm>
          <a:prstGeom prst="rect">
            <a:avLst/>
          </a:prstGeom>
          <a:noFill/>
        </p:spPr>
        <p:txBody>
          <a:bodyPr wrap="square" anchor="t" lIns="45720" rIns="45720" tIns="27432" bIns="27432">
            <a:spAutoFit/>
          </a:bodyPr>
          <a:lstStyle/>
          <a:p>
            <a:pPr algn="l">
              <a:spcAft>
                <a:spcPts val="600"/>
              </a:spcAft>
            </a:pPr>
            <a:r>
              <a:rPr sz="1600" b="0" i="0">
                <a:solidFill>
                  <a:srgbClr val="5F6368"/>
                </a:solidFill>
                <a:latin typeface="Segoe UI"/>
              </a:rPr>
              <a:t>More context and more autonomy from left to right, so verification matters more too.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08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274320"/>
            <a:ext cx="10972800" cy="320040"/>
          </a:xfrm>
          <a:prstGeom prst="rect">
            <a:avLst/>
          </a:prstGeom>
          <a:noFill/>
        </p:spPr>
        <p:txBody>
          <a:bodyPr wrap="square" anchor="t" lIns="45720" rIns="45720" tIns="27432" bIns="27432">
            <a:spAutoFit/>
          </a:bodyPr>
          <a:lstStyle/>
          <a:p>
            <a:pPr algn="l">
              <a:spcAft>
                <a:spcPts val="600"/>
              </a:spcAft>
            </a:pPr>
            <a:r>
              <a:rPr sz="1200" b="1" i="0">
                <a:solidFill>
                  <a:srgbClr val="008C8A"/>
                </a:solidFill>
                <a:latin typeface="Segoe UI"/>
              </a:rPr>
              <a:t>PROMPTING</a:t>
            </a:r>
          </a:p>
        </p:txBody>
      </p:sp>
      <p:sp>
        <p:nvSpPr>
          <p:cNvPr id="4" name="TextBox 3"/>
          <p:cNvSpPr txBox="1"/>
          <p:nvPr/>
        </p:nvSpPr>
        <p:spPr>
          <a:xfrm>
            <a:off x="457200" y="530352"/>
            <a:ext cx="11247120" cy="731520"/>
          </a:xfrm>
          <a:prstGeom prst="rect">
            <a:avLst/>
          </a:prstGeom>
          <a:noFill/>
        </p:spPr>
        <p:txBody>
          <a:bodyPr wrap="square" anchor="t" lIns="45720" rIns="45720" tIns="27432" bIns="27432">
            <a:spAutoFit/>
          </a:bodyPr>
          <a:lstStyle/>
          <a:p>
            <a:pPr algn="l">
              <a:spcAft>
                <a:spcPts val="600"/>
              </a:spcAft>
            </a:pPr>
            <a:r>
              <a:rPr sz="3000" b="1" i="0">
                <a:solidFill>
                  <a:srgbClr val="1F2A44"/>
                </a:solidFill>
                <a:latin typeface="Segoe UI"/>
              </a:rPr>
              <a:t>Anatomy of a good prompt</a:t>
            </a:r>
          </a:p>
        </p:txBody>
      </p:sp>
      <p:sp>
        <p:nvSpPr>
          <p:cNvPr id="5" name="TextBox 4"/>
          <p:cNvSpPr txBox="1"/>
          <p:nvPr/>
        </p:nvSpPr>
        <p:spPr>
          <a:xfrm>
            <a:off x="457200" y="6446520"/>
            <a:ext cx="7315200" cy="274320"/>
          </a:xfrm>
          <a:prstGeom prst="rect">
            <a:avLst/>
          </a:prstGeom>
          <a:noFill/>
        </p:spPr>
        <p:txBody>
          <a:bodyPr wrap="square" anchor="t" lIns="45720" rIns="45720" tIns="27432" bIns="27432">
            <a:spAutoFit/>
          </a:bodyPr>
          <a:lstStyle/>
          <a:p>
            <a:pPr algn="l">
              <a:spcAft>
                <a:spcPts val="600"/>
              </a:spcAft>
            </a:pPr>
            <a:r>
              <a:rPr sz="1000" b="0" i="0">
                <a:solidFill>
                  <a:srgbClr val="5F6368"/>
                </a:solidFill>
                <a:latin typeface="Segoe UI"/>
              </a:rPr>
              <a:t>AI in service management  |  ShopFast workshop</a:t>
            </a:r>
          </a:p>
        </p:txBody>
      </p:sp>
      <p:sp>
        <p:nvSpPr>
          <p:cNvPr id="6" name="TextBox 5"/>
          <p:cNvSpPr txBox="1"/>
          <p:nvPr/>
        </p:nvSpPr>
        <p:spPr>
          <a:xfrm>
            <a:off x="10972800" y="6446520"/>
            <a:ext cx="777240" cy="274320"/>
          </a:xfrm>
          <a:prstGeom prst="rect">
            <a:avLst/>
          </a:prstGeom>
          <a:noFill/>
        </p:spPr>
        <p:txBody>
          <a:bodyPr wrap="square" anchor="t" lIns="45720" rIns="45720" tIns="27432" bIns="27432">
            <a:spAutoFit/>
          </a:bodyPr>
          <a:lstStyle/>
          <a:p>
            <a:pPr algn="r">
              <a:spcAft>
                <a:spcPts val="600"/>
              </a:spcAft>
            </a:pPr>
            <a:r>
              <a:rPr sz="1000" b="0" i="0">
                <a:solidFill>
                  <a:srgbClr val="5F6368"/>
                </a:solidFill>
                <a:latin typeface="Segoe UI"/>
              </a:rPr>
              <a:t>6</a:t>
            </a:r>
          </a:p>
        </p:txBody>
      </p:sp>
      <p:sp>
        <p:nvSpPr>
          <p:cNvPr id="7" name="Rounded Rectangle 6"/>
          <p:cNvSpPr/>
          <p:nvPr/>
        </p:nvSpPr>
        <p:spPr>
          <a:xfrm>
            <a:off x="731520" y="1554480"/>
            <a:ext cx="1737360" cy="713232"/>
          </a:xfrm>
          <a:prstGeom prst="roundRect">
            <a:avLst>
              <a:gd name="adj" fmla="val 8000"/>
            </a:avLst>
          </a:prstGeom>
          <a:solidFill>
            <a:srgbClr val="008C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FFFFFF"/>
                </a:solidFill>
                <a:latin typeface="Segoe UI"/>
              </a:rPr>
              <a:t>Role</a:t>
            </a:r>
          </a:p>
        </p:txBody>
      </p:sp>
      <p:sp>
        <p:nvSpPr>
          <p:cNvPr id="8" name="TextBox 7"/>
          <p:cNvSpPr txBox="1"/>
          <p:nvPr/>
        </p:nvSpPr>
        <p:spPr>
          <a:xfrm>
            <a:off x="2606040" y="1709928"/>
            <a:ext cx="2651760" cy="548640"/>
          </a:xfrm>
          <a:prstGeom prst="rect">
            <a:avLst/>
          </a:prstGeom>
          <a:noFill/>
        </p:spPr>
        <p:txBody>
          <a:bodyPr wrap="square" anchor="t" lIns="45720" rIns="45720" tIns="27432" bIns="27432">
            <a:spAutoFit/>
          </a:bodyPr>
          <a:lstStyle/>
          <a:p>
            <a:pPr algn="l">
              <a:spcAft>
                <a:spcPts val="600"/>
              </a:spcAft>
            </a:pPr>
            <a:r>
              <a:rPr sz="1500" b="0" i="0">
                <a:solidFill>
                  <a:srgbClr val="202124"/>
                </a:solidFill>
                <a:latin typeface="Segoe UI"/>
              </a:rPr>
              <a:t>Who should the AI be?</a:t>
            </a:r>
          </a:p>
        </p:txBody>
      </p:sp>
      <p:sp>
        <p:nvSpPr>
          <p:cNvPr id="9" name="Rounded Rectangle 8"/>
          <p:cNvSpPr/>
          <p:nvPr/>
        </p:nvSpPr>
        <p:spPr>
          <a:xfrm>
            <a:off x="731520" y="2423160"/>
            <a:ext cx="1737360" cy="713232"/>
          </a:xfrm>
          <a:prstGeom prst="roundRect">
            <a:avLst>
              <a:gd name="adj" fmla="val 8000"/>
            </a:avLst>
          </a:prstGeom>
          <a:solidFill>
            <a:srgbClr val="008C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FFFFFF"/>
                </a:solidFill>
                <a:latin typeface="Segoe UI"/>
              </a:rPr>
              <a:t>Context</a:t>
            </a:r>
          </a:p>
        </p:txBody>
      </p:sp>
      <p:sp>
        <p:nvSpPr>
          <p:cNvPr id="10" name="TextBox 9"/>
          <p:cNvSpPr txBox="1"/>
          <p:nvPr/>
        </p:nvSpPr>
        <p:spPr>
          <a:xfrm>
            <a:off x="2606040" y="2578608"/>
            <a:ext cx="2651760" cy="548640"/>
          </a:xfrm>
          <a:prstGeom prst="rect">
            <a:avLst/>
          </a:prstGeom>
          <a:noFill/>
        </p:spPr>
        <p:txBody>
          <a:bodyPr wrap="square" anchor="t" lIns="45720" rIns="45720" tIns="27432" bIns="27432">
            <a:spAutoFit/>
          </a:bodyPr>
          <a:lstStyle/>
          <a:p>
            <a:pPr algn="l">
              <a:spcAft>
                <a:spcPts val="600"/>
              </a:spcAft>
            </a:pPr>
            <a:r>
              <a:rPr sz="1500" b="0" i="0">
                <a:solidFill>
                  <a:srgbClr val="202124"/>
                </a:solidFill>
                <a:latin typeface="Segoe UI"/>
              </a:rPr>
              <a:t>What's going on, plus the evidence</a:t>
            </a:r>
          </a:p>
        </p:txBody>
      </p:sp>
      <p:sp>
        <p:nvSpPr>
          <p:cNvPr id="11" name="Rounded Rectangle 10"/>
          <p:cNvSpPr/>
          <p:nvPr/>
        </p:nvSpPr>
        <p:spPr>
          <a:xfrm>
            <a:off x="731520" y="3291839"/>
            <a:ext cx="1737360" cy="713232"/>
          </a:xfrm>
          <a:prstGeom prst="roundRect">
            <a:avLst>
              <a:gd name="adj" fmla="val 8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FFFFFF"/>
                </a:solidFill>
                <a:latin typeface="Segoe UI"/>
              </a:rPr>
              <a:t>Task</a:t>
            </a:r>
          </a:p>
        </p:txBody>
      </p:sp>
      <p:sp>
        <p:nvSpPr>
          <p:cNvPr id="12" name="TextBox 11"/>
          <p:cNvSpPr txBox="1"/>
          <p:nvPr/>
        </p:nvSpPr>
        <p:spPr>
          <a:xfrm>
            <a:off x="2606040" y="3447287"/>
            <a:ext cx="2651760" cy="548640"/>
          </a:xfrm>
          <a:prstGeom prst="rect">
            <a:avLst/>
          </a:prstGeom>
          <a:noFill/>
        </p:spPr>
        <p:txBody>
          <a:bodyPr wrap="square" anchor="t" lIns="45720" rIns="45720" tIns="27432" bIns="27432">
            <a:spAutoFit/>
          </a:bodyPr>
          <a:lstStyle/>
          <a:p>
            <a:pPr algn="l">
              <a:spcAft>
                <a:spcPts val="600"/>
              </a:spcAft>
            </a:pPr>
            <a:r>
              <a:rPr sz="1500" b="0" i="0">
                <a:solidFill>
                  <a:srgbClr val="202124"/>
                </a:solidFill>
                <a:latin typeface="Segoe UI"/>
              </a:rPr>
              <a:t>What exactly do you want?</a:t>
            </a:r>
          </a:p>
        </p:txBody>
      </p:sp>
      <p:sp>
        <p:nvSpPr>
          <p:cNvPr id="13" name="Rounded Rectangle 12"/>
          <p:cNvSpPr/>
          <p:nvPr/>
        </p:nvSpPr>
        <p:spPr>
          <a:xfrm>
            <a:off x="731520" y="4160520"/>
            <a:ext cx="1737360" cy="713232"/>
          </a:xfrm>
          <a:prstGeom prst="roundRect">
            <a:avLst>
              <a:gd name="adj" fmla="val 8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FFFFFF"/>
                </a:solidFill>
                <a:latin typeface="Segoe UI"/>
              </a:rPr>
              <a:t>Constraints</a:t>
            </a:r>
          </a:p>
        </p:txBody>
      </p:sp>
      <p:sp>
        <p:nvSpPr>
          <p:cNvPr id="14" name="TextBox 13"/>
          <p:cNvSpPr txBox="1"/>
          <p:nvPr/>
        </p:nvSpPr>
        <p:spPr>
          <a:xfrm>
            <a:off x="2606040" y="4315968"/>
            <a:ext cx="2651760" cy="548640"/>
          </a:xfrm>
          <a:prstGeom prst="rect">
            <a:avLst/>
          </a:prstGeom>
          <a:noFill/>
        </p:spPr>
        <p:txBody>
          <a:bodyPr wrap="square" anchor="t" lIns="45720" rIns="45720" tIns="27432" bIns="27432">
            <a:spAutoFit/>
          </a:bodyPr>
          <a:lstStyle/>
          <a:p>
            <a:pPr algn="l">
              <a:spcAft>
                <a:spcPts val="600"/>
              </a:spcAft>
            </a:pPr>
            <a:r>
              <a:rPr sz="1500" b="0" i="0">
                <a:solidFill>
                  <a:srgbClr val="202124"/>
                </a:solidFill>
                <a:latin typeface="Segoe UI"/>
              </a:rPr>
              <a:t>Scope, audience, what not to do</a:t>
            </a:r>
          </a:p>
        </p:txBody>
      </p:sp>
      <p:sp>
        <p:nvSpPr>
          <p:cNvPr id="15" name="Rounded Rectangle 14"/>
          <p:cNvSpPr/>
          <p:nvPr/>
        </p:nvSpPr>
        <p:spPr>
          <a:xfrm>
            <a:off x="731520" y="5029200"/>
            <a:ext cx="1737360" cy="713232"/>
          </a:xfrm>
          <a:prstGeom prst="roundRect">
            <a:avLst>
              <a:gd name="adj" fmla="val 8000"/>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FFFFFF"/>
                </a:solidFill>
                <a:latin typeface="Segoe UI"/>
              </a:rPr>
              <a:t>Output</a:t>
            </a:r>
          </a:p>
        </p:txBody>
      </p:sp>
      <p:sp>
        <p:nvSpPr>
          <p:cNvPr id="16" name="TextBox 15"/>
          <p:cNvSpPr txBox="1"/>
          <p:nvPr/>
        </p:nvSpPr>
        <p:spPr>
          <a:xfrm>
            <a:off x="2606040" y="5184648"/>
            <a:ext cx="2651760" cy="548640"/>
          </a:xfrm>
          <a:prstGeom prst="rect">
            <a:avLst/>
          </a:prstGeom>
          <a:noFill/>
        </p:spPr>
        <p:txBody>
          <a:bodyPr wrap="square" anchor="t" lIns="45720" rIns="45720" tIns="27432" bIns="27432">
            <a:spAutoFit/>
          </a:bodyPr>
          <a:lstStyle/>
          <a:p>
            <a:pPr algn="l">
              <a:spcAft>
                <a:spcPts val="600"/>
              </a:spcAft>
            </a:pPr>
            <a:r>
              <a:rPr sz="1500" b="0" i="0">
                <a:solidFill>
                  <a:srgbClr val="202124"/>
                </a:solidFill>
                <a:latin typeface="Segoe UI"/>
              </a:rPr>
              <a:t>Format, length, structure</a:t>
            </a:r>
          </a:p>
        </p:txBody>
      </p:sp>
      <p:sp>
        <p:nvSpPr>
          <p:cNvPr id="17" name="Rounded Rectangle 16"/>
          <p:cNvSpPr/>
          <p:nvPr/>
        </p:nvSpPr>
        <p:spPr>
          <a:xfrm>
            <a:off x="5577840" y="1554480"/>
            <a:ext cx="5897880" cy="4206240"/>
          </a:xfrm>
          <a:prstGeom prst="roundRect">
            <a:avLst>
              <a:gd name="adj" fmla="val 8000"/>
            </a:avLst>
          </a:prstGeom>
          <a:solidFill>
            <a:srgbClr val="F1F3F4"/>
          </a:solidFill>
          <a:ln w="15875">
            <a:solidFill>
              <a:srgbClr val="D0D4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806440" y="1691640"/>
            <a:ext cx="5486400" cy="4023360"/>
          </a:xfrm>
          <a:prstGeom prst="rect">
            <a:avLst/>
          </a:prstGeom>
          <a:noFill/>
        </p:spPr>
        <p:txBody>
          <a:bodyPr wrap="square" anchor="t" lIns="45720" rIns="45720" tIns="27432" bIns="27432">
            <a:spAutoFit/>
          </a:bodyPr>
          <a:lstStyle/>
          <a:p>
            <a:pPr algn="l">
              <a:spcAft>
                <a:spcPts val="1000"/>
              </a:spcAft>
            </a:pPr>
            <a:r>
              <a:rPr sz="1500" b="1" i="0">
                <a:solidFill>
                  <a:srgbClr val="008C8A"/>
                </a:solidFill>
                <a:latin typeface="Segoe UI"/>
              </a:rPr>
              <a:t>You are an experienced SRE. </a:t>
            </a:r>
          </a:p>
          <a:p>
            <a:pPr algn="l">
              <a:spcAft>
                <a:spcPts val="1000"/>
              </a:spcAft>
            </a:pPr>
            <a:r>
              <a:rPr sz="1500" b="0" i="0">
                <a:solidFill>
                  <a:srgbClr val="202124"/>
                </a:solidFill>
                <a:latin typeface="Segoe UI"/>
              </a:rPr>
              <a:t>TopDesk incident I 2607 041: checkout errors since ~10:00 UTC. Attached are the alerts, the checkout-service log and the deploy history. </a:t>
            </a:r>
          </a:p>
          <a:p>
            <a:pPr algn="l">
              <a:spcAft>
                <a:spcPts val="1000"/>
              </a:spcAft>
            </a:pPr>
            <a:r>
              <a:rPr sz="1500" b="1" i="0">
                <a:solidFill>
                  <a:srgbClr val="1F2A44"/>
                </a:solidFill>
                <a:latin typeface="Segoe UI"/>
              </a:rPr>
              <a:t>Build a timeline and tell me which change most likely triggered this. </a:t>
            </a:r>
          </a:p>
          <a:p>
            <a:pPr algn="l">
              <a:spcAft>
                <a:spcPts val="1000"/>
              </a:spcAft>
            </a:pPr>
            <a:r>
              <a:rPr sz="1500" b="0" i="0">
                <a:solidFill>
                  <a:srgbClr val="1F2A44"/>
                </a:solidFill>
                <a:latin typeface="Segoe UI"/>
              </a:rPr>
              <a:t>Only use the attached evidence. Say how confident you are and what would prove you wrong. </a:t>
            </a:r>
          </a:p>
          <a:p>
            <a:pPr algn="l">
              <a:spcAft>
                <a:spcPts val="1000"/>
              </a:spcAft>
            </a:pPr>
            <a:r>
              <a:rPr sz="1500" b="1" i="0">
                <a:solidFill>
                  <a:srgbClr val="E07A1F"/>
                </a:solidFill>
                <a:latin typeface="Segoe UI"/>
              </a:rPr>
              <a:t>Answer as a table (time | event | source), followed by max. 5 bullets.</a:t>
            </a:r>
          </a:p>
        </p:txBody>
      </p:sp>
      <p:sp>
        <p:nvSpPr>
          <p:cNvPr id="19" name="TextBox 18"/>
          <p:cNvSpPr txBox="1"/>
          <p:nvPr/>
        </p:nvSpPr>
        <p:spPr>
          <a:xfrm>
            <a:off x="731520" y="5943600"/>
            <a:ext cx="10789920" cy="365760"/>
          </a:xfrm>
          <a:prstGeom prst="rect">
            <a:avLst/>
          </a:prstGeom>
          <a:noFill/>
        </p:spPr>
        <p:txBody>
          <a:bodyPr wrap="square" anchor="t" lIns="45720" rIns="45720" tIns="27432" bIns="27432">
            <a:spAutoFit/>
          </a:bodyPr>
          <a:lstStyle/>
          <a:p>
            <a:pPr algn="l">
              <a:spcAft>
                <a:spcPts val="600"/>
              </a:spcAft>
            </a:pPr>
            <a:r>
              <a:rPr sz="1400" b="0" i="0">
                <a:solidFill>
                  <a:srgbClr val="5F6368"/>
                </a:solidFill>
                <a:latin typeface="Segoe UI"/>
              </a:rPr>
              <a:t>You don't need all five every time, but the more context, the better the answer.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08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274320"/>
            <a:ext cx="10972800" cy="320040"/>
          </a:xfrm>
          <a:prstGeom prst="rect">
            <a:avLst/>
          </a:prstGeom>
          <a:noFill/>
        </p:spPr>
        <p:txBody>
          <a:bodyPr wrap="square" anchor="t" lIns="45720" rIns="45720" tIns="27432" bIns="27432">
            <a:spAutoFit/>
          </a:bodyPr>
          <a:lstStyle/>
          <a:p>
            <a:pPr algn="l">
              <a:spcAft>
                <a:spcPts val="600"/>
              </a:spcAft>
            </a:pPr>
            <a:r>
              <a:rPr sz="1200" b="1" i="0">
                <a:solidFill>
                  <a:srgbClr val="008C8A"/>
                </a:solidFill>
                <a:latin typeface="Segoe UI"/>
              </a:rPr>
              <a:t>PROMPTING</a:t>
            </a:r>
          </a:p>
        </p:txBody>
      </p:sp>
      <p:sp>
        <p:nvSpPr>
          <p:cNvPr id="4" name="TextBox 3"/>
          <p:cNvSpPr txBox="1"/>
          <p:nvPr/>
        </p:nvSpPr>
        <p:spPr>
          <a:xfrm>
            <a:off x="457200" y="530352"/>
            <a:ext cx="11247120" cy="731520"/>
          </a:xfrm>
          <a:prstGeom prst="rect">
            <a:avLst/>
          </a:prstGeom>
          <a:noFill/>
        </p:spPr>
        <p:txBody>
          <a:bodyPr wrap="square" anchor="t" lIns="45720" rIns="45720" tIns="27432" bIns="27432">
            <a:spAutoFit/>
          </a:bodyPr>
          <a:lstStyle/>
          <a:p>
            <a:pPr algn="l">
              <a:spcAft>
                <a:spcPts val="600"/>
              </a:spcAft>
            </a:pPr>
            <a:r>
              <a:rPr sz="3000" b="1" i="0">
                <a:solidFill>
                  <a:srgbClr val="1F2A44"/>
                </a:solidFill>
                <a:latin typeface="Segoe UI"/>
              </a:rPr>
              <a:t>Six habits worth building</a:t>
            </a:r>
          </a:p>
        </p:txBody>
      </p:sp>
      <p:sp>
        <p:nvSpPr>
          <p:cNvPr id="5" name="TextBox 4"/>
          <p:cNvSpPr txBox="1"/>
          <p:nvPr/>
        </p:nvSpPr>
        <p:spPr>
          <a:xfrm>
            <a:off x="457200" y="6446520"/>
            <a:ext cx="7315200" cy="274320"/>
          </a:xfrm>
          <a:prstGeom prst="rect">
            <a:avLst/>
          </a:prstGeom>
          <a:noFill/>
        </p:spPr>
        <p:txBody>
          <a:bodyPr wrap="square" anchor="t" lIns="45720" rIns="45720" tIns="27432" bIns="27432">
            <a:spAutoFit/>
          </a:bodyPr>
          <a:lstStyle/>
          <a:p>
            <a:pPr algn="l">
              <a:spcAft>
                <a:spcPts val="600"/>
              </a:spcAft>
            </a:pPr>
            <a:r>
              <a:rPr sz="1000" b="0" i="0">
                <a:solidFill>
                  <a:srgbClr val="5F6368"/>
                </a:solidFill>
                <a:latin typeface="Segoe UI"/>
              </a:rPr>
              <a:t>AI in service management  |  ShopFast workshop</a:t>
            </a:r>
          </a:p>
        </p:txBody>
      </p:sp>
      <p:sp>
        <p:nvSpPr>
          <p:cNvPr id="6" name="TextBox 5"/>
          <p:cNvSpPr txBox="1"/>
          <p:nvPr/>
        </p:nvSpPr>
        <p:spPr>
          <a:xfrm>
            <a:off x="10972800" y="6446520"/>
            <a:ext cx="777240" cy="274320"/>
          </a:xfrm>
          <a:prstGeom prst="rect">
            <a:avLst/>
          </a:prstGeom>
          <a:noFill/>
        </p:spPr>
        <p:txBody>
          <a:bodyPr wrap="square" anchor="t" lIns="45720" rIns="45720" tIns="27432" bIns="27432">
            <a:spAutoFit/>
          </a:bodyPr>
          <a:lstStyle/>
          <a:p>
            <a:pPr algn="r">
              <a:spcAft>
                <a:spcPts val="600"/>
              </a:spcAft>
            </a:pPr>
            <a:r>
              <a:rPr sz="1000" b="0" i="0">
                <a:solidFill>
                  <a:srgbClr val="5F6368"/>
                </a:solidFill>
                <a:latin typeface="Segoe UI"/>
              </a:rPr>
              <a:t>7</a:t>
            </a:r>
          </a:p>
        </p:txBody>
      </p:sp>
      <p:sp>
        <p:nvSpPr>
          <p:cNvPr id="7" name="Rounded Rectangle 6"/>
          <p:cNvSpPr/>
          <p:nvPr/>
        </p:nvSpPr>
        <p:spPr>
          <a:xfrm>
            <a:off x="731520" y="1600200"/>
            <a:ext cx="3429000" cy="201168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31520" y="1600200"/>
            <a:ext cx="109728" cy="2011680"/>
          </a:xfrm>
          <a:prstGeom prst="rect">
            <a:avLst/>
          </a:prstGeom>
          <a:solidFill>
            <a:srgbClr val="008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05840" y="1783080"/>
            <a:ext cx="3017520" cy="457200"/>
          </a:xfrm>
          <a:prstGeom prst="rect">
            <a:avLst/>
          </a:prstGeom>
          <a:noFill/>
        </p:spPr>
        <p:txBody>
          <a:bodyPr wrap="square" anchor="t" lIns="45720" rIns="45720" tIns="27432" bIns="27432">
            <a:spAutoFit/>
          </a:bodyPr>
          <a:lstStyle/>
          <a:p>
            <a:pPr algn="l">
              <a:spcAft>
                <a:spcPts val="600"/>
              </a:spcAft>
            </a:pPr>
            <a:r>
              <a:rPr sz="1900" b="1" i="0">
                <a:solidFill>
                  <a:srgbClr val="1F2A44"/>
                </a:solidFill>
                <a:latin typeface="Segoe UI"/>
              </a:rPr>
              <a:t>Ask for confidence</a:t>
            </a:r>
          </a:p>
        </p:txBody>
      </p:sp>
      <p:sp>
        <p:nvSpPr>
          <p:cNvPr id="10" name="TextBox 9"/>
          <p:cNvSpPr txBox="1"/>
          <p:nvPr/>
        </p:nvSpPr>
        <p:spPr>
          <a:xfrm>
            <a:off x="1005840" y="2331720"/>
            <a:ext cx="3017520" cy="1188720"/>
          </a:xfrm>
          <a:prstGeom prst="rect">
            <a:avLst/>
          </a:prstGeom>
          <a:noFill/>
        </p:spPr>
        <p:txBody>
          <a:bodyPr wrap="square" anchor="t" lIns="45720" rIns="45720" tIns="27432" bIns="27432">
            <a:spAutoFit/>
          </a:bodyPr>
          <a:lstStyle/>
          <a:p>
            <a:pPr algn="l">
              <a:spcAft>
                <a:spcPts val="600"/>
              </a:spcAft>
            </a:pPr>
            <a:r>
              <a:rPr sz="1500" b="0" i="0">
                <a:solidFill>
                  <a:srgbClr val="202124"/>
                </a:solidFill>
                <a:latin typeface="Segoe UI"/>
              </a:rPr>
              <a:t>“How sure are you, and what would change your mind?”</a:t>
            </a:r>
          </a:p>
        </p:txBody>
      </p:sp>
      <p:sp>
        <p:nvSpPr>
          <p:cNvPr id="11" name="Rounded Rectangle 10"/>
          <p:cNvSpPr/>
          <p:nvPr/>
        </p:nvSpPr>
        <p:spPr>
          <a:xfrm>
            <a:off x="4389120" y="1600200"/>
            <a:ext cx="3429000" cy="201168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389120" y="1600200"/>
            <a:ext cx="109728" cy="2011680"/>
          </a:xfrm>
          <a:prstGeom prst="rect">
            <a:avLst/>
          </a:prstGeom>
          <a:solidFill>
            <a:srgbClr val="008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63440" y="1783080"/>
            <a:ext cx="3017520" cy="457200"/>
          </a:xfrm>
          <a:prstGeom prst="rect">
            <a:avLst/>
          </a:prstGeom>
          <a:noFill/>
        </p:spPr>
        <p:txBody>
          <a:bodyPr wrap="square" anchor="t" lIns="45720" rIns="45720" tIns="27432" bIns="27432">
            <a:spAutoFit/>
          </a:bodyPr>
          <a:lstStyle/>
          <a:p>
            <a:pPr algn="l">
              <a:spcAft>
                <a:spcPts val="600"/>
              </a:spcAft>
            </a:pPr>
            <a:r>
              <a:rPr sz="1900" b="1" i="0">
                <a:solidFill>
                  <a:srgbClr val="1F2A44"/>
                </a:solidFill>
                <a:latin typeface="Segoe UI"/>
              </a:rPr>
              <a:t>Ask for alternatives</a:t>
            </a:r>
          </a:p>
        </p:txBody>
      </p:sp>
      <p:sp>
        <p:nvSpPr>
          <p:cNvPr id="14" name="TextBox 13"/>
          <p:cNvSpPr txBox="1"/>
          <p:nvPr/>
        </p:nvSpPr>
        <p:spPr>
          <a:xfrm>
            <a:off x="4663440" y="2331720"/>
            <a:ext cx="3017520" cy="1188720"/>
          </a:xfrm>
          <a:prstGeom prst="rect">
            <a:avLst/>
          </a:prstGeom>
          <a:noFill/>
        </p:spPr>
        <p:txBody>
          <a:bodyPr wrap="square" anchor="t" lIns="45720" rIns="45720" tIns="27432" bIns="27432">
            <a:spAutoFit/>
          </a:bodyPr>
          <a:lstStyle/>
          <a:p>
            <a:pPr algn="l">
              <a:spcAft>
                <a:spcPts val="600"/>
              </a:spcAft>
            </a:pPr>
            <a:r>
              <a:rPr sz="1500" b="0" i="0">
                <a:solidFill>
                  <a:srgbClr val="202124"/>
                </a:solidFill>
                <a:latin typeface="Segoe UI"/>
              </a:rPr>
              <a:t>“Give me 3 other explanations and how to rule each out.”</a:t>
            </a:r>
          </a:p>
        </p:txBody>
      </p:sp>
      <p:sp>
        <p:nvSpPr>
          <p:cNvPr id="15" name="Rounded Rectangle 14"/>
          <p:cNvSpPr/>
          <p:nvPr/>
        </p:nvSpPr>
        <p:spPr>
          <a:xfrm>
            <a:off x="8046720" y="1600200"/>
            <a:ext cx="3429000" cy="201168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8046720" y="1600200"/>
            <a:ext cx="109728" cy="2011680"/>
          </a:xfrm>
          <a:prstGeom prst="rect">
            <a:avLst/>
          </a:prstGeom>
          <a:solidFill>
            <a:srgbClr val="008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321040" y="1783080"/>
            <a:ext cx="3017520" cy="457200"/>
          </a:xfrm>
          <a:prstGeom prst="rect">
            <a:avLst/>
          </a:prstGeom>
          <a:noFill/>
        </p:spPr>
        <p:txBody>
          <a:bodyPr wrap="square" anchor="t" lIns="45720" rIns="45720" tIns="27432" bIns="27432">
            <a:spAutoFit/>
          </a:bodyPr>
          <a:lstStyle/>
          <a:p>
            <a:pPr algn="l">
              <a:spcAft>
                <a:spcPts val="600"/>
              </a:spcAft>
            </a:pPr>
            <a:r>
              <a:rPr sz="1900" b="1" i="0">
                <a:solidFill>
                  <a:srgbClr val="1F2A44"/>
                </a:solidFill>
                <a:latin typeface="Segoe UI"/>
              </a:rPr>
              <a:t>Ask for evidence</a:t>
            </a:r>
          </a:p>
        </p:txBody>
      </p:sp>
      <p:sp>
        <p:nvSpPr>
          <p:cNvPr id="18" name="TextBox 17"/>
          <p:cNvSpPr txBox="1"/>
          <p:nvPr/>
        </p:nvSpPr>
        <p:spPr>
          <a:xfrm>
            <a:off x="8321040" y="2331720"/>
            <a:ext cx="3017520" cy="1188720"/>
          </a:xfrm>
          <a:prstGeom prst="rect">
            <a:avLst/>
          </a:prstGeom>
          <a:noFill/>
        </p:spPr>
        <p:txBody>
          <a:bodyPr wrap="square" anchor="t" lIns="45720" rIns="45720" tIns="27432" bIns="27432">
            <a:spAutoFit/>
          </a:bodyPr>
          <a:lstStyle/>
          <a:p>
            <a:pPr algn="l">
              <a:spcAft>
                <a:spcPts val="600"/>
              </a:spcAft>
            </a:pPr>
            <a:r>
              <a:rPr sz="1500" b="0" i="0">
                <a:solidFill>
                  <a:srgbClr val="202124"/>
                </a:solidFill>
                <a:latin typeface="Segoe UI"/>
              </a:rPr>
              <a:t>“Quote the log line or metric that supports each claim.”</a:t>
            </a:r>
          </a:p>
        </p:txBody>
      </p:sp>
      <p:sp>
        <p:nvSpPr>
          <p:cNvPr id="19" name="Rounded Rectangle 18"/>
          <p:cNvSpPr/>
          <p:nvPr/>
        </p:nvSpPr>
        <p:spPr>
          <a:xfrm>
            <a:off x="731520" y="3840480"/>
            <a:ext cx="3429000" cy="201168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731520" y="3840480"/>
            <a:ext cx="109728" cy="201168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005840" y="4023360"/>
            <a:ext cx="3017520" cy="457200"/>
          </a:xfrm>
          <a:prstGeom prst="rect">
            <a:avLst/>
          </a:prstGeom>
          <a:noFill/>
        </p:spPr>
        <p:txBody>
          <a:bodyPr wrap="square" anchor="t" lIns="45720" rIns="45720" tIns="27432" bIns="27432">
            <a:spAutoFit/>
          </a:bodyPr>
          <a:lstStyle/>
          <a:p>
            <a:pPr algn="l">
              <a:spcAft>
                <a:spcPts val="600"/>
              </a:spcAft>
            </a:pPr>
            <a:r>
              <a:rPr sz="1900" b="1" i="0">
                <a:solidFill>
                  <a:srgbClr val="1F2A44"/>
                </a:solidFill>
                <a:latin typeface="Segoe UI"/>
              </a:rPr>
              <a:t>Iterate</a:t>
            </a:r>
          </a:p>
        </p:txBody>
      </p:sp>
      <p:sp>
        <p:nvSpPr>
          <p:cNvPr id="22" name="TextBox 21"/>
          <p:cNvSpPr txBox="1"/>
          <p:nvPr/>
        </p:nvSpPr>
        <p:spPr>
          <a:xfrm>
            <a:off x="1005840" y="4572000"/>
            <a:ext cx="3017520" cy="1188720"/>
          </a:xfrm>
          <a:prstGeom prst="rect">
            <a:avLst/>
          </a:prstGeom>
          <a:noFill/>
        </p:spPr>
        <p:txBody>
          <a:bodyPr wrap="square" anchor="t" lIns="45720" rIns="45720" tIns="27432" bIns="27432">
            <a:spAutoFit/>
          </a:bodyPr>
          <a:lstStyle/>
          <a:p>
            <a:pPr algn="l">
              <a:spcAft>
                <a:spcPts val="600"/>
              </a:spcAft>
            </a:pPr>
            <a:r>
              <a:rPr sz="1500" b="0" i="0">
                <a:solidFill>
                  <a:srgbClr val="202124"/>
                </a:solidFill>
                <a:latin typeface="Segoe UI"/>
              </a:rPr>
              <a:t>Treat the first answer as a draft. Refine, correct, ask again.</a:t>
            </a:r>
          </a:p>
        </p:txBody>
      </p:sp>
      <p:sp>
        <p:nvSpPr>
          <p:cNvPr id="23" name="Rounded Rectangle 22"/>
          <p:cNvSpPr/>
          <p:nvPr/>
        </p:nvSpPr>
        <p:spPr>
          <a:xfrm>
            <a:off x="4389120" y="3840480"/>
            <a:ext cx="3429000" cy="201168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4389120" y="3840480"/>
            <a:ext cx="109728" cy="201168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663440" y="4023360"/>
            <a:ext cx="3017520" cy="457200"/>
          </a:xfrm>
          <a:prstGeom prst="rect">
            <a:avLst/>
          </a:prstGeom>
          <a:noFill/>
        </p:spPr>
        <p:txBody>
          <a:bodyPr wrap="square" anchor="t" lIns="45720" rIns="45720" tIns="27432" bIns="27432">
            <a:spAutoFit/>
          </a:bodyPr>
          <a:lstStyle/>
          <a:p>
            <a:pPr algn="l">
              <a:spcAft>
                <a:spcPts val="600"/>
              </a:spcAft>
            </a:pPr>
            <a:r>
              <a:rPr sz="1900" b="1" i="0">
                <a:solidFill>
                  <a:srgbClr val="1F2A44"/>
                </a:solidFill>
                <a:latin typeface="Segoe UI"/>
              </a:rPr>
              <a:t>Don't lead the witness</a:t>
            </a:r>
          </a:p>
        </p:txBody>
      </p:sp>
      <p:sp>
        <p:nvSpPr>
          <p:cNvPr id="26" name="TextBox 25"/>
          <p:cNvSpPr txBox="1"/>
          <p:nvPr/>
        </p:nvSpPr>
        <p:spPr>
          <a:xfrm>
            <a:off x="4663440" y="4572000"/>
            <a:ext cx="3017520" cy="1188720"/>
          </a:xfrm>
          <a:prstGeom prst="rect">
            <a:avLst/>
          </a:prstGeom>
          <a:noFill/>
        </p:spPr>
        <p:txBody>
          <a:bodyPr wrap="square" anchor="t" lIns="45720" rIns="45720" tIns="27432" bIns="27432">
            <a:spAutoFit/>
          </a:bodyPr>
          <a:lstStyle/>
          <a:p>
            <a:pPr algn="l">
              <a:spcAft>
                <a:spcPts val="600"/>
              </a:spcAft>
            </a:pPr>
            <a:r>
              <a:rPr sz="1500" b="0" i="0">
                <a:solidFill>
                  <a:srgbClr val="202124"/>
                </a:solidFill>
                <a:latin typeface="Segoe UI"/>
              </a:rPr>
              <a:t>Ask “what happened?”, not “it was the database, right?”</a:t>
            </a:r>
          </a:p>
        </p:txBody>
      </p:sp>
      <p:sp>
        <p:nvSpPr>
          <p:cNvPr id="27" name="Rounded Rectangle 26"/>
          <p:cNvSpPr/>
          <p:nvPr/>
        </p:nvSpPr>
        <p:spPr>
          <a:xfrm>
            <a:off x="8046720" y="3840480"/>
            <a:ext cx="3429000" cy="201168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8046720" y="3840480"/>
            <a:ext cx="109728" cy="201168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321040" y="4023360"/>
            <a:ext cx="3017520" cy="457200"/>
          </a:xfrm>
          <a:prstGeom prst="rect">
            <a:avLst/>
          </a:prstGeom>
          <a:noFill/>
        </p:spPr>
        <p:txBody>
          <a:bodyPr wrap="square" anchor="t" lIns="45720" rIns="45720" tIns="27432" bIns="27432">
            <a:spAutoFit/>
          </a:bodyPr>
          <a:lstStyle/>
          <a:p>
            <a:pPr algn="l">
              <a:spcAft>
                <a:spcPts val="600"/>
              </a:spcAft>
            </a:pPr>
            <a:r>
              <a:rPr sz="1900" b="1" i="0">
                <a:solidFill>
                  <a:srgbClr val="1F2A44"/>
                </a:solidFill>
                <a:latin typeface="Segoe UI"/>
              </a:rPr>
              <a:t>Stay blameless</a:t>
            </a:r>
          </a:p>
        </p:txBody>
      </p:sp>
      <p:sp>
        <p:nvSpPr>
          <p:cNvPr id="30" name="TextBox 29"/>
          <p:cNvSpPr txBox="1"/>
          <p:nvPr/>
        </p:nvSpPr>
        <p:spPr>
          <a:xfrm>
            <a:off x="8321040" y="4572000"/>
            <a:ext cx="3017520" cy="1188720"/>
          </a:xfrm>
          <a:prstGeom prst="rect">
            <a:avLst/>
          </a:prstGeom>
          <a:noFill/>
        </p:spPr>
        <p:txBody>
          <a:bodyPr wrap="square" anchor="t" lIns="45720" rIns="45720" tIns="27432" bIns="27432">
            <a:spAutoFit/>
          </a:bodyPr>
          <a:lstStyle/>
          <a:p>
            <a:pPr algn="l">
              <a:spcAft>
                <a:spcPts val="600"/>
              </a:spcAft>
            </a:pPr>
            <a:r>
              <a:rPr sz="1500" b="0" i="0">
                <a:solidFill>
                  <a:srgbClr val="202124"/>
                </a:solidFill>
                <a:latin typeface="Segoe UI"/>
              </a:rPr>
              <a:t>Ask about systems and conditions, not about who made the mistake.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08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274320"/>
            <a:ext cx="10972800" cy="320040"/>
          </a:xfrm>
          <a:prstGeom prst="rect">
            <a:avLst/>
          </a:prstGeom>
          <a:noFill/>
        </p:spPr>
        <p:txBody>
          <a:bodyPr wrap="square" anchor="t" lIns="45720" rIns="45720" tIns="27432" bIns="27432">
            <a:spAutoFit/>
          </a:bodyPr>
          <a:lstStyle/>
          <a:p>
            <a:pPr algn="l">
              <a:spcAft>
                <a:spcPts val="600"/>
              </a:spcAft>
            </a:pPr>
            <a:r>
              <a:rPr sz="1200" b="1" i="0">
                <a:solidFill>
                  <a:srgbClr val="008C8A"/>
                </a:solidFill>
                <a:latin typeface="Segoe UI"/>
              </a:rPr>
              <a:t>OWNERSHIP</a:t>
            </a:r>
          </a:p>
        </p:txBody>
      </p:sp>
      <p:sp>
        <p:nvSpPr>
          <p:cNvPr id="4" name="TextBox 3"/>
          <p:cNvSpPr txBox="1"/>
          <p:nvPr/>
        </p:nvSpPr>
        <p:spPr>
          <a:xfrm>
            <a:off x="457200" y="530352"/>
            <a:ext cx="11247120" cy="731520"/>
          </a:xfrm>
          <a:prstGeom prst="rect">
            <a:avLst/>
          </a:prstGeom>
          <a:noFill/>
        </p:spPr>
        <p:txBody>
          <a:bodyPr wrap="square" anchor="t" lIns="45720" rIns="45720" tIns="27432" bIns="27432">
            <a:spAutoFit/>
          </a:bodyPr>
          <a:lstStyle/>
          <a:p>
            <a:pPr algn="l">
              <a:spcAft>
                <a:spcPts val="600"/>
              </a:spcAft>
            </a:pPr>
            <a:r>
              <a:rPr sz="3000" b="1" i="0">
                <a:solidFill>
                  <a:srgbClr val="1F2A44"/>
                </a:solidFill>
                <a:latin typeface="Segoe UI"/>
              </a:rPr>
              <a:t>Human in the loop: you stay the engineer</a:t>
            </a:r>
          </a:p>
        </p:txBody>
      </p:sp>
      <p:sp>
        <p:nvSpPr>
          <p:cNvPr id="5" name="TextBox 4"/>
          <p:cNvSpPr txBox="1"/>
          <p:nvPr/>
        </p:nvSpPr>
        <p:spPr>
          <a:xfrm>
            <a:off x="457200" y="6446520"/>
            <a:ext cx="7315200" cy="274320"/>
          </a:xfrm>
          <a:prstGeom prst="rect">
            <a:avLst/>
          </a:prstGeom>
          <a:noFill/>
        </p:spPr>
        <p:txBody>
          <a:bodyPr wrap="square" anchor="t" lIns="45720" rIns="45720" tIns="27432" bIns="27432">
            <a:spAutoFit/>
          </a:bodyPr>
          <a:lstStyle/>
          <a:p>
            <a:pPr algn="l">
              <a:spcAft>
                <a:spcPts val="600"/>
              </a:spcAft>
            </a:pPr>
            <a:r>
              <a:rPr sz="1000" b="0" i="0">
                <a:solidFill>
                  <a:srgbClr val="5F6368"/>
                </a:solidFill>
                <a:latin typeface="Segoe UI"/>
              </a:rPr>
              <a:t>AI in service management  |  ShopFast workshop</a:t>
            </a:r>
          </a:p>
        </p:txBody>
      </p:sp>
      <p:sp>
        <p:nvSpPr>
          <p:cNvPr id="6" name="TextBox 5"/>
          <p:cNvSpPr txBox="1"/>
          <p:nvPr/>
        </p:nvSpPr>
        <p:spPr>
          <a:xfrm>
            <a:off x="10972800" y="6446520"/>
            <a:ext cx="777240" cy="274320"/>
          </a:xfrm>
          <a:prstGeom prst="rect">
            <a:avLst/>
          </a:prstGeom>
          <a:noFill/>
        </p:spPr>
        <p:txBody>
          <a:bodyPr wrap="square" anchor="t" lIns="45720" rIns="45720" tIns="27432" bIns="27432">
            <a:spAutoFit/>
          </a:bodyPr>
          <a:lstStyle/>
          <a:p>
            <a:pPr algn="r">
              <a:spcAft>
                <a:spcPts val="600"/>
              </a:spcAft>
            </a:pPr>
            <a:r>
              <a:rPr sz="1000" b="0" i="0">
                <a:solidFill>
                  <a:srgbClr val="5F6368"/>
                </a:solidFill>
                <a:latin typeface="Segoe UI"/>
              </a:rPr>
              <a:t>8</a:t>
            </a:r>
          </a:p>
        </p:txBody>
      </p:sp>
      <p:sp>
        <p:nvSpPr>
          <p:cNvPr id="7" name="Rounded Rectangle 6"/>
          <p:cNvSpPr/>
          <p:nvPr/>
        </p:nvSpPr>
        <p:spPr>
          <a:xfrm>
            <a:off x="731520" y="1600200"/>
            <a:ext cx="2377440" cy="914400"/>
          </a:xfrm>
          <a:prstGeom prst="roundRect">
            <a:avLst>
              <a:gd name="adj" fmla="val 8000"/>
            </a:avLst>
          </a:prstGeom>
          <a:solidFill>
            <a:srgbClr val="008C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FFFFFF"/>
                </a:solidFill>
                <a:latin typeface="Segoe UI"/>
              </a:rPr>
              <a:t>AI drafts</a:t>
            </a:r>
          </a:p>
        </p:txBody>
      </p:sp>
      <p:sp>
        <p:nvSpPr>
          <p:cNvPr id="8" name="Right Arrow 7"/>
          <p:cNvSpPr/>
          <p:nvPr/>
        </p:nvSpPr>
        <p:spPr>
          <a:xfrm>
            <a:off x="3182112" y="1874519"/>
            <a:ext cx="365760" cy="365760"/>
          </a:xfrm>
          <a:prstGeom prst="rightArrow">
            <a:avLst/>
          </a:prstGeom>
          <a:solidFill>
            <a:srgbClr val="5F63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566160" y="1600200"/>
            <a:ext cx="2377440" cy="914400"/>
          </a:xfrm>
          <a:prstGeom prst="roundRect">
            <a:avLst>
              <a:gd name="adj" fmla="val 8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FFFFFF"/>
                </a:solidFill>
                <a:latin typeface="Segoe UI"/>
              </a:rPr>
              <a:t>You verify</a:t>
            </a:r>
          </a:p>
        </p:txBody>
      </p:sp>
      <p:sp>
        <p:nvSpPr>
          <p:cNvPr id="10" name="Right Arrow 9"/>
          <p:cNvSpPr/>
          <p:nvPr/>
        </p:nvSpPr>
        <p:spPr>
          <a:xfrm>
            <a:off x="6016752" y="1874519"/>
            <a:ext cx="365760" cy="365760"/>
          </a:xfrm>
          <a:prstGeom prst="rightArrow">
            <a:avLst/>
          </a:prstGeom>
          <a:solidFill>
            <a:srgbClr val="5F63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0" y="1600200"/>
            <a:ext cx="2377440" cy="914400"/>
          </a:xfrm>
          <a:prstGeom prst="roundRect">
            <a:avLst>
              <a:gd name="adj" fmla="val 8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FFFFFF"/>
                </a:solidFill>
                <a:latin typeface="Segoe UI"/>
              </a:rPr>
              <a:t>You decide</a:t>
            </a:r>
          </a:p>
        </p:txBody>
      </p:sp>
      <p:sp>
        <p:nvSpPr>
          <p:cNvPr id="12" name="Right Arrow 11"/>
          <p:cNvSpPr/>
          <p:nvPr/>
        </p:nvSpPr>
        <p:spPr>
          <a:xfrm>
            <a:off x="8851392" y="1874519"/>
            <a:ext cx="365760" cy="365760"/>
          </a:xfrm>
          <a:prstGeom prst="rightArrow">
            <a:avLst/>
          </a:prstGeom>
          <a:solidFill>
            <a:srgbClr val="5F63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235440" y="1600200"/>
            <a:ext cx="2377440" cy="914400"/>
          </a:xfrm>
          <a:prstGeom prst="roundRect">
            <a:avLst>
              <a:gd name="adj" fmla="val 8000"/>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FFFFFF"/>
                </a:solidFill>
                <a:latin typeface="Segoe UI"/>
              </a:rPr>
              <a:t>You own</a:t>
            </a:r>
          </a:p>
        </p:txBody>
      </p:sp>
      <p:sp>
        <p:nvSpPr>
          <p:cNvPr id="14" name="TextBox 13"/>
          <p:cNvSpPr txBox="1"/>
          <p:nvPr/>
        </p:nvSpPr>
        <p:spPr>
          <a:xfrm>
            <a:off x="731520" y="2880360"/>
            <a:ext cx="5303520" cy="457200"/>
          </a:xfrm>
          <a:prstGeom prst="rect">
            <a:avLst/>
          </a:prstGeom>
          <a:noFill/>
        </p:spPr>
        <p:txBody>
          <a:bodyPr wrap="square" anchor="t" lIns="45720" rIns="45720" tIns="27432" bIns="27432">
            <a:spAutoFit/>
          </a:bodyPr>
          <a:lstStyle/>
          <a:p>
            <a:pPr algn="l">
              <a:spcAft>
                <a:spcPts val="600"/>
              </a:spcAft>
            </a:pPr>
            <a:r>
              <a:rPr sz="2000" b="1" i="0">
                <a:solidFill>
                  <a:srgbClr val="1F2A44"/>
                </a:solidFill>
                <a:latin typeface="Segoe UI"/>
              </a:rPr>
              <a:t>Verify before you act</a:t>
            </a:r>
          </a:p>
        </p:txBody>
      </p:sp>
      <p:sp>
        <p:nvSpPr>
          <p:cNvPr id="15" name="TextBox 14"/>
          <p:cNvSpPr txBox="1"/>
          <p:nvPr/>
        </p:nvSpPr>
        <p:spPr>
          <a:xfrm>
            <a:off x="731520" y="3383280"/>
            <a:ext cx="5303520" cy="2743200"/>
          </a:xfrm>
          <a:prstGeom prst="rect">
            <a:avLst/>
          </a:prstGeom>
          <a:noFill/>
        </p:spPr>
        <p:txBody>
          <a:bodyPr wrap="square" anchor="t" lIns="45720" rIns="45720" tIns="27432" bIns="27432">
            <a:spAutoFit/>
          </a:bodyPr>
          <a:lstStyle/>
          <a:p>
            <a:pPr algn="l">
              <a:spcAft>
                <a:spcPts val="600"/>
              </a:spcAft>
            </a:pPr>
            <a:r>
              <a:rPr sz="1600" b="0" i="0">
                <a:solidFill>
                  <a:srgbClr val="202124"/>
                </a:solidFill>
                <a:latin typeface="Segoe UI"/>
              </a:rPr>
              <a:t>• Numbers and timestamps: check them against the source</a:t>
            </a:r>
          </a:p>
          <a:p>
            <a:pPr algn="l">
              <a:spcAft>
                <a:spcPts val="600"/>
              </a:spcAft>
            </a:pPr>
            <a:r>
              <a:rPr sz="1600" b="0" i="0">
                <a:solidFill>
                  <a:srgbClr val="202124"/>
                </a:solidFill>
                <a:latin typeface="Segoe UI"/>
              </a:rPr>
              <a:t>• Commands: understand them before you run them, especially in production</a:t>
            </a:r>
          </a:p>
          <a:p>
            <a:pPr algn="l">
              <a:spcAft>
                <a:spcPts val="600"/>
              </a:spcAft>
            </a:pPr>
            <a:r>
              <a:rPr sz="1600" b="0" i="0">
                <a:solidFill>
                  <a:srgbClr val="202124"/>
                </a:solidFill>
                <a:latin typeface="Segoe UI"/>
              </a:rPr>
              <a:t>• Names, versions, ticket numbers: AI likes to invent plausible ones</a:t>
            </a:r>
          </a:p>
          <a:p>
            <a:pPr algn="l">
              <a:spcAft>
                <a:spcPts val="600"/>
              </a:spcAft>
            </a:pPr>
            <a:r>
              <a:rPr sz="1600" b="0" i="0">
                <a:solidFill>
                  <a:srgbClr val="202124"/>
                </a:solidFill>
                <a:latin typeface="Segoe UI"/>
              </a:rPr>
              <a:t>• Conclusions: does the evidence really support them?</a:t>
            </a:r>
          </a:p>
        </p:txBody>
      </p:sp>
      <p:sp>
        <p:nvSpPr>
          <p:cNvPr id="16" name="TextBox 15"/>
          <p:cNvSpPr txBox="1"/>
          <p:nvPr/>
        </p:nvSpPr>
        <p:spPr>
          <a:xfrm>
            <a:off x="6400800" y="2880360"/>
            <a:ext cx="5120640" cy="457200"/>
          </a:xfrm>
          <a:prstGeom prst="rect">
            <a:avLst/>
          </a:prstGeom>
          <a:noFill/>
        </p:spPr>
        <p:txBody>
          <a:bodyPr wrap="square" anchor="t" lIns="45720" rIns="45720" tIns="27432" bIns="27432">
            <a:spAutoFit/>
          </a:bodyPr>
          <a:lstStyle/>
          <a:p>
            <a:pPr algn="l">
              <a:spcAft>
                <a:spcPts val="600"/>
              </a:spcAft>
            </a:pPr>
            <a:r>
              <a:rPr sz="2000" b="1" i="0">
                <a:solidFill>
                  <a:srgbClr val="1F2A44"/>
                </a:solidFill>
                <a:latin typeface="Segoe UI"/>
              </a:rPr>
              <a:t>What doesn't change</a:t>
            </a:r>
          </a:p>
        </p:txBody>
      </p:sp>
      <p:sp>
        <p:nvSpPr>
          <p:cNvPr id="17" name="TextBox 16"/>
          <p:cNvSpPr txBox="1"/>
          <p:nvPr/>
        </p:nvSpPr>
        <p:spPr>
          <a:xfrm>
            <a:off x="6400800" y="3383280"/>
            <a:ext cx="5120640" cy="2743200"/>
          </a:xfrm>
          <a:prstGeom prst="rect">
            <a:avLst/>
          </a:prstGeom>
          <a:noFill/>
        </p:spPr>
        <p:txBody>
          <a:bodyPr wrap="square" anchor="t" lIns="45720" rIns="45720" tIns="27432" bIns="27432">
            <a:spAutoFit/>
          </a:bodyPr>
          <a:lstStyle/>
          <a:p>
            <a:pPr algn="l">
              <a:spcAft>
                <a:spcPts val="600"/>
              </a:spcAft>
            </a:pPr>
            <a:r>
              <a:rPr sz="1600" b="0" i="0">
                <a:solidFill>
                  <a:srgbClr val="202124"/>
                </a:solidFill>
                <a:latin typeface="Segoe UI"/>
              </a:rPr>
              <a:t>• You are the assignee of the TopDesk incident</a:t>
            </a:r>
          </a:p>
          <a:p>
            <a:pPr algn="l">
              <a:spcAft>
                <a:spcPts val="600"/>
              </a:spcAft>
            </a:pPr>
            <a:r>
              <a:rPr sz="1600" b="0" i="0">
                <a:solidFill>
                  <a:srgbClr val="202124"/>
                </a:solidFill>
                <a:latin typeface="Segoe UI"/>
              </a:rPr>
              <a:t>• Rollback during a high priority incident: your call, announced in Teams</a:t>
            </a:r>
          </a:p>
          <a:p>
            <a:pPr algn="l">
              <a:spcAft>
                <a:spcPts val="600"/>
              </a:spcAft>
            </a:pPr>
            <a:r>
              <a:rPr sz="1600" b="0" i="0">
                <a:solidFill>
                  <a:srgbClr val="202124"/>
                </a:solidFill>
                <a:latin typeface="Segoe UI"/>
              </a:rPr>
              <a:t>• The RFC is yours and goes through the CAB as usual</a:t>
            </a:r>
          </a:p>
          <a:p>
            <a:pPr algn="l">
              <a:spcAft>
                <a:spcPts val="600"/>
              </a:spcAft>
            </a:pPr>
            <a:r>
              <a:rPr sz="1600" b="0" i="0">
                <a:solidFill>
                  <a:srgbClr val="202124"/>
                </a:solidFill>
                <a:latin typeface="Segoe UI"/>
              </a:rPr>
              <a:t>• “The AI said so” is never a justification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08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274320"/>
            <a:ext cx="10972800" cy="320040"/>
          </a:xfrm>
          <a:prstGeom prst="rect">
            <a:avLst/>
          </a:prstGeom>
          <a:noFill/>
        </p:spPr>
        <p:txBody>
          <a:bodyPr wrap="square" anchor="t" lIns="45720" rIns="45720" tIns="27432" bIns="27432">
            <a:spAutoFit/>
          </a:bodyPr>
          <a:lstStyle/>
          <a:p>
            <a:pPr algn="l">
              <a:spcAft>
                <a:spcPts val="600"/>
              </a:spcAft>
            </a:pPr>
            <a:r>
              <a:rPr sz="1200" b="1" i="0">
                <a:solidFill>
                  <a:srgbClr val="008C8A"/>
                </a:solidFill>
                <a:latin typeface="Segoe UI"/>
              </a:rPr>
              <a:t>SAFETY</a:t>
            </a:r>
          </a:p>
        </p:txBody>
      </p:sp>
      <p:sp>
        <p:nvSpPr>
          <p:cNvPr id="4" name="TextBox 3"/>
          <p:cNvSpPr txBox="1"/>
          <p:nvPr/>
        </p:nvSpPr>
        <p:spPr>
          <a:xfrm>
            <a:off x="457200" y="530352"/>
            <a:ext cx="11247120" cy="731520"/>
          </a:xfrm>
          <a:prstGeom prst="rect">
            <a:avLst/>
          </a:prstGeom>
          <a:noFill/>
        </p:spPr>
        <p:txBody>
          <a:bodyPr wrap="square" anchor="t" lIns="45720" rIns="45720" tIns="27432" bIns="27432">
            <a:spAutoFit/>
          </a:bodyPr>
          <a:lstStyle/>
          <a:p>
            <a:pPr algn="l">
              <a:spcAft>
                <a:spcPts val="600"/>
              </a:spcAft>
            </a:pPr>
            <a:r>
              <a:rPr sz="3000" b="1" i="0">
                <a:solidFill>
                  <a:srgbClr val="1F2A44"/>
                </a:solidFill>
                <a:latin typeface="Segoe UI"/>
              </a:rPr>
              <a:t>Data: what can and can't go into an AI tool</a:t>
            </a:r>
          </a:p>
        </p:txBody>
      </p:sp>
      <p:sp>
        <p:nvSpPr>
          <p:cNvPr id="5" name="TextBox 4"/>
          <p:cNvSpPr txBox="1"/>
          <p:nvPr/>
        </p:nvSpPr>
        <p:spPr>
          <a:xfrm>
            <a:off x="457200" y="6446520"/>
            <a:ext cx="7315200" cy="274320"/>
          </a:xfrm>
          <a:prstGeom prst="rect">
            <a:avLst/>
          </a:prstGeom>
          <a:noFill/>
        </p:spPr>
        <p:txBody>
          <a:bodyPr wrap="square" anchor="t" lIns="45720" rIns="45720" tIns="27432" bIns="27432">
            <a:spAutoFit/>
          </a:bodyPr>
          <a:lstStyle/>
          <a:p>
            <a:pPr algn="l">
              <a:spcAft>
                <a:spcPts val="600"/>
              </a:spcAft>
            </a:pPr>
            <a:r>
              <a:rPr sz="1000" b="0" i="0">
                <a:solidFill>
                  <a:srgbClr val="5F6368"/>
                </a:solidFill>
                <a:latin typeface="Segoe UI"/>
              </a:rPr>
              <a:t>AI in service management  |  ShopFast workshop</a:t>
            </a:r>
          </a:p>
        </p:txBody>
      </p:sp>
      <p:sp>
        <p:nvSpPr>
          <p:cNvPr id="6" name="TextBox 5"/>
          <p:cNvSpPr txBox="1"/>
          <p:nvPr/>
        </p:nvSpPr>
        <p:spPr>
          <a:xfrm>
            <a:off x="10972800" y="6446520"/>
            <a:ext cx="777240" cy="274320"/>
          </a:xfrm>
          <a:prstGeom prst="rect">
            <a:avLst/>
          </a:prstGeom>
          <a:noFill/>
        </p:spPr>
        <p:txBody>
          <a:bodyPr wrap="square" anchor="t" lIns="45720" rIns="45720" tIns="27432" bIns="27432">
            <a:spAutoFit/>
          </a:bodyPr>
          <a:lstStyle/>
          <a:p>
            <a:pPr algn="r">
              <a:spcAft>
                <a:spcPts val="600"/>
              </a:spcAft>
            </a:pPr>
            <a:r>
              <a:rPr sz="1000" b="0" i="0">
                <a:solidFill>
                  <a:srgbClr val="5F6368"/>
                </a:solidFill>
                <a:latin typeface="Segoe UI"/>
              </a:rPr>
              <a:t>9</a:t>
            </a:r>
          </a:p>
        </p:txBody>
      </p:sp>
      <p:sp>
        <p:nvSpPr>
          <p:cNvPr id="7" name="Rounded Rectangle 6"/>
          <p:cNvSpPr/>
          <p:nvPr/>
        </p:nvSpPr>
        <p:spPr>
          <a:xfrm>
            <a:off x="731520" y="1554480"/>
            <a:ext cx="5257800" cy="3200400"/>
          </a:xfrm>
          <a:prstGeom prst="roundRect">
            <a:avLst>
              <a:gd name="adj" fmla="val 8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731520" y="1554480"/>
            <a:ext cx="5257800" cy="502920"/>
          </a:xfrm>
          <a:prstGeom prst="roundRect">
            <a:avLst>
              <a:gd name="adj" fmla="val 15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i="0">
                <a:solidFill>
                  <a:srgbClr val="FFFFFF"/>
                </a:solidFill>
                <a:latin typeface="Segoe UI"/>
              </a:rPr>
              <a:t>OK, in an approved tool</a:t>
            </a:r>
          </a:p>
        </p:txBody>
      </p:sp>
      <p:sp>
        <p:nvSpPr>
          <p:cNvPr id="9" name="TextBox 8"/>
          <p:cNvSpPr txBox="1"/>
          <p:nvPr/>
        </p:nvSpPr>
        <p:spPr>
          <a:xfrm>
            <a:off x="868680" y="2167128"/>
            <a:ext cx="4983480" cy="2514600"/>
          </a:xfrm>
          <a:prstGeom prst="rect">
            <a:avLst/>
          </a:prstGeom>
          <a:noFill/>
        </p:spPr>
        <p:txBody>
          <a:bodyPr wrap="square" anchor="t" lIns="45720" rIns="45720" tIns="27432" bIns="27432">
            <a:spAutoFit/>
          </a:bodyPr>
          <a:lstStyle/>
          <a:p>
            <a:pPr algn="l">
              <a:spcAft>
                <a:spcPts val="600"/>
              </a:spcAft>
            </a:pPr>
            <a:r>
              <a:rPr sz="1600" b="0" i="0">
                <a:solidFill>
                  <a:srgbClr val="202124"/>
                </a:solidFill>
                <a:latin typeface="Segoe UI"/>
              </a:rPr>
              <a:t>• Use our approved tools (e.g. GitHub Copilot with a business licence)</a:t>
            </a:r>
          </a:p>
          <a:p>
            <a:pPr algn="l">
              <a:spcAft>
                <a:spcPts val="600"/>
              </a:spcAft>
            </a:pPr>
            <a:r>
              <a:rPr sz="1600" b="0" i="0">
                <a:solidFill>
                  <a:srgbClr val="202124"/>
                </a:solidFill>
                <a:latin typeface="Segoe UI"/>
              </a:rPr>
              <a:t>• Logs and metrics without personal data</a:t>
            </a:r>
          </a:p>
          <a:p>
            <a:pPr algn="l">
              <a:spcAft>
                <a:spcPts val="600"/>
              </a:spcAft>
            </a:pPr>
            <a:r>
              <a:rPr sz="1600" b="0" i="0">
                <a:solidFill>
                  <a:srgbClr val="202124"/>
                </a:solidFill>
                <a:latin typeface="Segoe UI"/>
              </a:rPr>
              <a:t>• Code, configuration (without secrets), runbooks</a:t>
            </a:r>
          </a:p>
          <a:p>
            <a:pPr algn="l">
              <a:spcAft>
                <a:spcPts val="600"/>
              </a:spcAft>
            </a:pPr>
            <a:r>
              <a:rPr sz="1600" b="0" i="0">
                <a:solidFill>
                  <a:srgbClr val="202124"/>
                </a:solidFill>
                <a:latin typeface="Segoe UI"/>
              </a:rPr>
              <a:t>• Ticket text without customer details</a:t>
            </a:r>
          </a:p>
          <a:p>
            <a:pPr algn="l">
              <a:spcAft>
                <a:spcPts val="600"/>
              </a:spcAft>
            </a:pPr>
            <a:r>
              <a:rPr sz="1600" b="0" i="0">
                <a:solidFill>
                  <a:srgbClr val="202124"/>
                </a:solidFill>
                <a:latin typeface="Segoe UI"/>
              </a:rPr>
              <a:t>• Today's workshop data: fully synthetic</a:t>
            </a:r>
          </a:p>
        </p:txBody>
      </p:sp>
      <p:sp>
        <p:nvSpPr>
          <p:cNvPr id="10" name="Rounded Rectangle 9"/>
          <p:cNvSpPr/>
          <p:nvPr/>
        </p:nvSpPr>
        <p:spPr>
          <a:xfrm>
            <a:off x="6217920" y="1554480"/>
            <a:ext cx="5257800" cy="3200400"/>
          </a:xfrm>
          <a:prstGeom prst="roundRect">
            <a:avLst>
              <a:gd name="adj" fmla="val 8000"/>
            </a:avLst>
          </a:prstGeom>
          <a:solidFill>
            <a:srgbClr val="FB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6217920" y="1554480"/>
            <a:ext cx="5257800" cy="502920"/>
          </a:xfrm>
          <a:prstGeom prst="roundRect">
            <a:avLst>
              <a:gd name="adj" fmla="val 15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i="0">
                <a:solidFill>
                  <a:srgbClr val="FFFFFF"/>
                </a:solidFill>
                <a:latin typeface="Segoe UI"/>
              </a:rPr>
              <a:t>Never</a:t>
            </a:r>
          </a:p>
        </p:txBody>
      </p:sp>
      <p:sp>
        <p:nvSpPr>
          <p:cNvPr id="12" name="TextBox 11"/>
          <p:cNvSpPr txBox="1"/>
          <p:nvPr/>
        </p:nvSpPr>
        <p:spPr>
          <a:xfrm>
            <a:off x="6355080" y="2167128"/>
            <a:ext cx="4983480" cy="2514600"/>
          </a:xfrm>
          <a:prstGeom prst="rect">
            <a:avLst/>
          </a:prstGeom>
          <a:noFill/>
        </p:spPr>
        <p:txBody>
          <a:bodyPr wrap="square" anchor="t" lIns="45720" rIns="45720" tIns="27432" bIns="27432">
            <a:spAutoFit/>
          </a:bodyPr>
          <a:lstStyle/>
          <a:p>
            <a:pPr algn="l">
              <a:spcAft>
                <a:spcPts val="600"/>
              </a:spcAft>
            </a:pPr>
            <a:r>
              <a:rPr sz="1600" b="0" i="0">
                <a:solidFill>
                  <a:srgbClr val="202124"/>
                </a:solidFill>
                <a:latin typeface="Segoe UI"/>
              </a:rPr>
              <a:t>• Passwords, API keys, tokens, connection strings</a:t>
            </a:r>
          </a:p>
          <a:p>
            <a:pPr algn="l">
              <a:spcAft>
                <a:spcPts val="600"/>
              </a:spcAft>
            </a:pPr>
            <a:r>
              <a:rPr sz="1600" b="0" i="0">
                <a:solidFill>
                  <a:srgbClr val="202124"/>
                </a:solidFill>
                <a:latin typeface="Segoe UI"/>
              </a:rPr>
              <a:t>• Customer personal data: names, e-mails, addresses, payment details</a:t>
            </a:r>
          </a:p>
          <a:p>
            <a:pPr algn="l">
              <a:spcAft>
                <a:spcPts val="600"/>
              </a:spcAft>
            </a:pPr>
            <a:r>
              <a:rPr sz="1600" b="0" i="0">
                <a:solidFill>
                  <a:srgbClr val="202124"/>
                </a:solidFill>
                <a:latin typeface="Segoe UI"/>
              </a:rPr>
              <a:t>• Confidential data in public or personal AI tools</a:t>
            </a:r>
          </a:p>
          <a:p>
            <a:pPr algn="l">
              <a:spcAft>
                <a:spcPts val="600"/>
              </a:spcAft>
            </a:pPr>
            <a:r>
              <a:rPr sz="1600" b="0" i="0">
                <a:solidFill>
                  <a:srgbClr val="202124"/>
                </a:solidFill>
                <a:latin typeface="Segoe UI"/>
              </a:rPr>
              <a:t>• Anything you wouldn't put in a TopDesk ticket</a:t>
            </a:r>
          </a:p>
        </p:txBody>
      </p:sp>
      <p:sp>
        <p:nvSpPr>
          <p:cNvPr id="13" name="TextBox 12"/>
          <p:cNvSpPr txBox="1"/>
          <p:nvPr/>
        </p:nvSpPr>
        <p:spPr>
          <a:xfrm>
            <a:off x="731520" y="5029200"/>
            <a:ext cx="10789920" cy="548640"/>
          </a:xfrm>
          <a:prstGeom prst="rect">
            <a:avLst/>
          </a:prstGeom>
          <a:noFill/>
        </p:spPr>
        <p:txBody>
          <a:bodyPr wrap="square" anchor="t" lIns="45720" rIns="45720" tIns="27432" bIns="27432">
            <a:spAutoFit/>
          </a:bodyPr>
          <a:lstStyle/>
          <a:p>
            <a:pPr algn="l">
              <a:spcAft>
                <a:spcPts val="600"/>
              </a:spcAft>
            </a:pPr>
            <a:r>
              <a:rPr sz="1500" b="1" i="0">
                <a:solidFill>
                  <a:srgbClr val="5F6368"/>
                </a:solidFill>
                <a:latin typeface="Segoe UI"/>
              </a:rPr>
              <a:t>When in doubt: mask it (customer_id=***) or leave it out, and check our AI policy.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08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274320"/>
            <a:ext cx="10972800" cy="320040"/>
          </a:xfrm>
          <a:prstGeom prst="rect">
            <a:avLst/>
          </a:prstGeom>
          <a:noFill/>
        </p:spPr>
        <p:txBody>
          <a:bodyPr wrap="square" anchor="t" lIns="45720" rIns="45720" tIns="27432" bIns="27432">
            <a:spAutoFit/>
          </a:bodyPr>
          <a:lstStyle/>
          <a:p>
            <a:pPr algn="l">
              <a:spcAft>
                <a:spcPts val="600"/>
              </a:spcAft>
            </a:pPr>
            <a:r>
              <a:rPr sz="1200" b="1" i="0">
                <a:solidFill>
                  <a:srgbClr val="008C8A"/>
                </a:solidFill>
                <a:latin typeface="Segoe UI"/>
              </a:rPr>
              <a:t>PITFALLS</a:t>
            </a:r>
          </a:p>
        </p:txBody>
      </p:sp>
      <p:sp>
        <p:nvSpPr>
          <p:cNvPr id="4" name="TextBox 3"/>
          <p:cNvSpPr txBox="1"/>
          <p:nvPr/>
        </p:nvSpPr>
        <p:spPr>
          <a:xfrm>
            <a:off x="457200" y="530352"/>
            <a:ext cx="11247120" cy="731520"/>
          </a:xfrm>
          <a:prstGeom prst="rect">
            <a:avLst/>
          </a:prstGeom>
          <a:noFill/>
        </p:spPr>
        <p:txBody>
          <a:bodyPr wrap="square" anchor="t" lIns="45720" rIns="45720" tIns="27432" bIns="27432">
            <a:spAutoFit/>
          </a:bodyPr>
          <a:lstStyle/>
          <a:p>
            <a:pPr algn="l">
              <a:spcAft>
                <a:spcPts val="600"/>
              </a:spcAft>
            </a:pPr>
            <a:r>
              <a:rPr sz="3000" b="1" i="0">
                <a:solidFill>
                  <a:srgbClr val="1F2A44"/>
                </a:solidFill>
                <a:latin typeface="Segoe UI"/>
              </a:rPr>
              <a:t>Common pitfalls (you'll probably see them today)</a:t>
            </a:r>
          </a:p>
        </p:txBody>
      </p:sp>
      <p:sp>
        <p:nvSpPr>
          <p:cNvPr id="5" name="TextBox 4"/>
          <p:cNvSpPr txBox="1"/>
          <p:nvPr/>
        </p:nvSpPr>
        <p:spPr>
          <a:xfrm>
            <a:off x="457200" y="6446520"/>
            <a:ext cx="7315200" cy="274320"/>
          </a:xfrm>
          <a:prstGeom prst="rect">
            <a:avLst/>
          </a:prstGeom>
          <a:noFill/>
        </p:spPr>
        <p:txBody>
          <a:bodyPr wrap="square" anchor="t" lIns="45720" rIns="45720" tIns="27432" bIns="27432">
            <a:spAutoFit/>
          </a:bodyPr>
          <a:lstStyle/>
          <a:p>
            <a:pPr algn="l">
              <a:spcAft>
                <a:spcPts val="600"/>
              </a:spcAft>
            </a:pPr>
            <a:r>
              <a:rPr sz="1000" b="0" i="0">
                <a:solidFill>
                  <a:srgbClr val="5F6368"/>
                </a:solidFill>
                <a:latin typeface="Segoe UI"/>
              </a:rPr>
              <a:t>AI in service management  |  ShopFast workshop</a:t>
            </a:r>
          </a:p>
        </p:txBody>
      </p:sp>
      <p:sp>
        <p:nvSpPr>
          <p:cNvPr id="6" name="TextBox 5"/>
          <p:cNvSpPr txBox="1"/>
          <p:nvPr/>
        </p:nvSpPr>
        <p:spPr>
          <a:xfrm>
            <a:off x="10972800" y="6446520"/>
            <a:ext cx="777240" cy="274320"/>
          </a:xfrm>
          <a:prstGeom prst="rect">
            <a:avLst/>
          </a:prstGeom>
          <a:noFill/>
        </p:spPr>
        <p:txBody>
          <a:bodyPr wrap="square" anchor="t" lIns="45720" rIns="45720" tIns="27432" bIns="27432">
            <a:spAutoFit/>
          </a:bodyPr>
          <a:lstStyle/>
          <a:p>
            <a:pPr algn="r">
              <a:spcAft>
                <a:spcPts val="600"/>
              </a:spcAft>
            </a:pPr>
            <a:r>
              <a:rPr sz="1000" b="0" i="0">
                <a:solidFill>
                  <a:srgbClr val="5F6368"/>
                </a:solidFill>
                <a:latin typeface="Segoe UI"/>
              </a:rPr>
              <a:t>10</a:t>
            </a:r>
          </a:p>
        </p:txBody>
      </p:sp>
      <p:sp>
        <p:nvSpPr>
          <p:cNvPr id="7" name="Rounded Rectangle 6"/>
          <p:cNvSpPr/>
          <p:nvPr/>
        </p:nvSpPr>
        <p:spPr>
          <a:xfrm>
            <a:off x="731520" y="1554480"/>
            <a:ext cx="5257800" cy="205740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60120" y="1691639"/>
            <a:ext cx="4846320" cy="457200"/>
          </a:xfrm>
          <a:prstGeom prst="rect">
            <a:avLst/>
          </a:prstGeom>
          <a:noFill/>
        </p:spPr>
        <p:txBody>
          <a:bodyPr wrap="square" anchor="t" lIns="45720" rIns="45720" tIns="27432" bIns="27432">
            <a:spAutoFit/>
          </a:bodyPr>
          <a:lstStyle/>
          <a:p>
            <a:pPr algn="l">
              <a:spcAft>
                <a:spcPts val="600"/>
              </a:spcAft>
            </a:pPr>
            <a:r>
              <a:rPr sz="1900" b="1" i="0">
                <a:solidFill>
                  <a:srgbClr val="E07A1F"/>
                </a:solidFill>
                <a:latin typeface="Segoe UI"/>
              </a:rPr>
              <a:t>Confident but wrong</a:t>
            </a:r>
          </a:p>
        </p:txBody>
      </p:sp>
      <p:sp>
        <p:nvSpPr>
          <p:cNvPr id="9" name="TextBox 8"/>
          <p:cNvSpPr txBox="1"/>
          <p:nvPr/>
        </p:nvSpPr>
        <p:spPr>
          <a:xfrm>
            <a:off x="960120" y="2194560"/>
            <a:ext cx="4846320" cy="731520"/>
          </a:xfrm>
          <a:prstGeom prst="rect">
            <a:avLst/>
          </a:prstGeom>
          <a:noFill/>
        </p:spPr>
        <p:txBody>
          <a:bodyPr wrap="square" anchor="t" lIns="45720" rIns="45720" tIns="27432" bIns="27432">
            <a:spAutoFit/>
          </a:bodyPr>
          <a:lstStyle/>
          <a:p>
            <a:pPr algn="l">
              <a:spcAft>
                <a:spcPts val="600"/>
              </a:spcAft>
            </a:pPr>
            <a:r>
              <a:rPr sz="1500" b="0" i="0">
                <a:solidFill>
                  <a:srgbClr val="202124"/>
                </a:solidFill>
                <a:latin typeface="Segoe UI"/>
              </a:rPr>
              <a:t>Plausible root causes, invented log lines, versions or ticket numbers.</a:t>
            </a:r>
          </a:p>
        </p:txBody>
      </p:sp>
      <p:sp>
        <p:nvSpPr>
          <p:cNvPr id="10" name="TextBox 9"/>
          <p:cNvSpPr txBox="1"/>
          <p:nvPr/>
        </p:nvSpPr>
        <p:spPr>
          <a:xfrm>
            <a:off x="960120" y="2926080"/>
            <a:ext cx="4846320" cy="548640"/>
          </a:xfrm>
          <a:prstGeom prst="rect">
            <a:avLst/>
          </a:prstGeom>
          <a:noFill/>
        </p:spPr>
        <p:txBody>
          <a:bodyPr wrap="square" anchor="t" lIns="45720" rIns="45720" tIns="27432" bIns="27432">
            <a:spAutoFit/>
          </a:bodyPr>
          <a:lstStyle/>
          <a:p>
            <a:pPr algn="l">
              <a:spcAft>
                <a:spcPts val="600"/>
              </a:spcAft>
            </a:pPr>
            <a:r>
              <a:rPr sz="1500" b="1" i="0">
                <a:solidFill>
                  <a:srgbClr val="008C8A"/>
                </a:solidFill>
                <a:latin typeface="Segoe UI"/>
              </a:rPr>
              <a:t>Fix: </a:t>
            </a:r>
            <a:r>
              <a:rPr sz="1500" b="0" i="0">
                <a:solidFill>
                  <a:srgbClr val="202124"/>
                </a:solidFill>
                <a:latin typeface="Segoe UI"/>
              </a:rPr>
              <a:t>Ask for evidence and check the source.</a:t>
            </a:r>
          </a:p>
        </p:txBody>
      </p:sp>
      <p:sp>
        <p:nvSpPr>
          <p:cNvPr id="11" name="Rounded Rectangle 10"/>
          <p:cNvSpPr/>
          <p:nvPr/>
        </p:nvSpPr>
        <p:spPr>
          <a:xfrm>
            <a:off x="6217920" y="1554480"/>
            <a:ext cx="5257800" cy="205740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46520" y="1691639"/>
            <a:ext cx="4846320" cy="457200"/>
          </a:xfrm>
          <a:prstGeom prst="rect">
            <a:avLst/>
          </a:prstGeom>
          <a:noFill/>
        </p:spPr>
        <p:txBody>
          <a:bodyPr wrap="square" anchor="t" lIns="45720" rIns="45720" tIns="27432" bIns="27432">
            <a:spAutoFit/>
          </a:bodyPr>
          <a:lstStyle/>
          <a:p>
            <a:pPr algn="l">
              <a:spcAft>
                <a:spcPts val="600"/>
              </a:spcAft>
            </a:pPr>
            <a:r>
              <a:rPr sz="1900" b="1" i="0">
                <a:solidFill>
                  <a:srgbClr val="E07A1F"/>
                </a:solidFill>
                <a:latin typeface="Segoe UI"/>
              </a:rPr>
              <a:t>Confirmation bias</a:t>
            </a:r>
          </a:p>
        </p:txBody>
      </p:sp>
      <p:sp>
        <p:nvSpPr>
          <p:cNvPr id="13" name="TextBox 12"/>
          <p:cNvSpPr txBox="1"/>
          <p:nvPr/>
        </p:nvSpPr>
        <p:spPr>
          <a:xfrm>
            <a:off x="6446520" y="2194560"/>
            <a:ext cx="4846320" cy="731520"/>
          </a:xfrm>
          <a:prstGeom prst="rect">
            <a:avLst/>
          </a:prstGeom>
          <a:noFill/>
        </p:spPr>
        <p:txBody>
          <a:bodyPr wrap="square" anchor="t" lIns="45720" rIns="45720" tIns="27432" bIns="27432">
            <a:spAutoFit/>
          </a:bodyPr>
          <a:lstStyle/>
          <a:p>
            <a:pPr algn="l">
              <a:spcAft>
                <a:spcPts val="600"/>
              </a:spcAft>
            </a:pPr>
            <a:r>
              <a:rPr sz="1500" b="0" i="0">
                <a:solidFill>
                  <a:srgbClr val="202124"/>
                </a:solidFill>
                <a:latin typeface="Segoe UI"/>
              </a:rPr>
              <a:t>You suggest a cause, and the AI agrees and builds a story around it.</a:t>
            </a:r>
          </a:p>
        </p:txBody>
      </p:sp>
      <p:sp>
        <p:nvSpPr>
          <p:cNvPr id="14" name="TextBox 13"/>
          <p:cNvSpPr txBox="1"/>
          <p:nvPr/>
        </p:nvSpPr>
        <p:spPr>
          <a:xfrm>
            <a:off x="6446520" y="2926080"/>
            <a:ext cx="4846320" cy="548640"/>
          </a:xfrm>
          <a:prstGeom prst="rect">
            <a:avLst/>
          </a:prstGeom>
          <a:noFill/>
        </p:spPr>
        <p:txBody>
          <a:bodyPr wrap="square" anchor="t" lIns="45720" rIns="45720" tIns="27432" bIns="27432">
            <a:spAutoFit/>
          </a:bodyPr>
          <a:lstStyle/>
          <a:p>
            <a:pPr algn="l">
              <a:spcAft>
                <a:spcPts val="600"/>
              </a:spcAft>
            </a:pPr>
            <a:r>
              <a:rPr sz="1500" b="1" i="0">
                <a:solidFill>
                  <a:srgbClr val="008C8A"/>
                </a:solidFill>
                <a:latin typeface="Segoe UI"/>
              </a:rPr>
              <a:t>Fix: </a:t>
            </a:r>
            <a:r>
              <a:rPr sz="1500" b="0" i="0">
                <a:solidFill>
                  <a:srgbClr val="202124"/>
                </a:solidFill>
                <a:latin typeface="Segoe UI"/>
              </a:rPr>
              <a:t>Ask open questions; ask for alternatives.</a:t>
            </a:r>
          </a:p>
        </p:txBody>
      </p:sp>
      <p:sp>
        <p:nvSpPr>
          <p:cNvPr id="15" name="Rounded Rectangle 14"/>
          <p:cNvSpPr/>
          <p:nvPr/>
        </p:nvSpPr>
        <p:spPr>
          <a:xfrm>
            <a:off x="731520" y="3840480"/>
            <a:ext cx="5257800" cy="205740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60120" y="3977640"/>
            <a:ext cx="4846320" cy="457200"/>
          </a:xfrm>
          <a:prstGeom prst="rect">
            <a:avLst/>
          </a:prstGeom>
          <a:noFill/>
        </p:spPr>
        <p:txBody>
          <a:bodyPr wrap="square" anchor="t" lIns="45720" rIns="45720" tIns="27432" bIns="27432">
            <a:spAutoFit/>
          </a:bodyPr>
          <a:lstStyle/>
          <a:p>
            <a:pPr algn="l">
              <a:spcAft>
                <a:spcPts val="600"/>
              </a:spcAft>
            </a:pPr>
            <a:r>
              <a:rPr sz="1900" b="1" i="0">
                <a:solidFill>
                  <a:srgbClr val="E07A1F"/>
                </a:solidFill>
                <a:latin typeface="Segoe UI"/>
              </a:rPr>
              <a:t>Missing context</a:t>
            </a:r>
          </a:p>
        </p:txBody>
      </p:sp>
      <p:sp>
        <p:nvSpPr>
          <p:cNvPr id="17" name="TextBox 16"/>
          <p:cNvSpPr txBox="1"/>
          <p:nvPr/>
        </p:nvSpPr>
        <p:spPr>
          <a:xfrm>
            <a:off x="960120" y="4480560"/>
            <a:ext cx="4846320" cy="731520"/>
          </a:xfrm>
          <a:prstGeom prst="rect">
            <a:avLst/>
          </a:prstGeom>
          <a:noFill/>
        </p:spPr>
        <p:txBody>
          <a:bodyPr wrap="square" anchor="t" lIns="45720" rIns="45720" tIns="27432" bIns="27432">
            <a:spAutoFit/>
          </a:bodyPr>
          <a:lstStyle/>
          <a:p>
            <a:pPr algn="l">
              <a:spcAft>
                <a:spcPts val="600"/>
              </a:spcAft>
            </a:pPr>
            <a:r>
              <a:rPr sz="1500" b="0" i="0">
                <a:solidFill>
                  <a:srgbClr val="202124"/>
                </a:solidFill>
                <a:latin typeface="Segoe UI"/>
              </a:rPr>
              <a:t>It only knows what you gave it, so the answer fits the wrong situation.</a:t>
            </a:r>
          </a:p>
        </p:txBody>
      </p:sp>
      <p:sp>
        <p:nvSpPr>
          <p:cNvPr id="18" name="TextBox 17"/>
          <p:cNvSpPr txBox="1"/>
          <p:nvPr/>
        </p:nvSpPr>
        <p:spPr>
          <a:xfrm>
            <a:off x="960120" y="5212080"/>
            <a:ext cx="4846320" cy="548640"/>
          </a:xfrm>
          <a:prstGeom prst="rect">
            <a:avLst/>
          </a:prstGeom>
          <a:noFill/>
        </p:spPr>
        <p:txBody>
          <a:bodyPr wrap="square" anchor="t" lIns="45720" rIns="45720" tIns="27432" bIns="27432">
            <a:spAutoFit/>
          </a:bodyPr>
          <a:lstStyle/>
          <a:p>
            <a:pPr algn="l">
              <a:spcAft>
                <a:spcPts val="600"/>
              </a:spcAft>
            </a:pPr>
            <a:r>
              <a:rPr sz="1500" b="1" i="0">
                <a:solidFill>
                  <a:srgbClr val="008C8A"/>
                </a:solidFill>
                <a:latin typeface="Segoe UI"/>
              </a:rPr>
              <a:t>Fix: </a:t>
            </a:r>
            <a:r>
              <a:rPr sz="1500" b="0" i="0">
                <a:solidFill>
                  <a:srgbClr val="202124"/>
                </a:solidFill>
                <a:latin typeface="Segoe UI"/>
              </a:rPr>
              <a:t>Add evidence, the architecture and constraints.</a:t>
            </a:r>
          </a:p>
        </p:txBody>
      </p:sp>
      <p:sp>
        <p:nvSpPr>
          <p:cNvPr id="19" name="Rounded Rectangle 18"/>
          <p:cNvSpPr/>
          <p:nvPr/>
        </p:nvSpPr>
        <p:spPr>
          <a:xfrm>
            <a:off x="6217920" y="3840480"/>
            <a:ext cx="5257800" cy="205740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46520" y="3977640"/>
            <a:ext cx="4846320" cy="457200"/>
          </a:xfrm>
          <a:prstGeom prst="rect">
            <a:avLst/>
          </a:prstGeom>
          <a:noFill/>
        </p:spPr>
        <p:txBody>
          <a:bodyPr wrap="square" anchor="t" lIns="45720" rIns="45720" tIns="27432" bIns="27432">
            <a:spAutoFit/>
          </a:bodyPr>
          <a:lstStyle/>
          <a:p>
            <a:pPr algn="l">
              <a:spcAft>
                <a:spcPts val="600"/>
              </a:spcAft>
            </a:pPr>
            <a:r>
              <a:rPr sz="1900" b="1" i="0">
                <a:solidFill>
                  <a:srgbClr val="E07A1F"/>
                </a:solidFill>
                <a:latin typeface="Segoe UI"/>
              </a:rPr>
              <a:t>Vague output</a:t>
            </a:r>
          </a:p>
        </p:txBody>
      </p:sp>
      <p:sp>
        <p:nvSpPr>
          <p:cNvPr id="21" name="TextBox 20"/>
          <p:cNvSpPr txBox="1"/>
          <p:nvPr/>
        </p:nvSpPr>
        <p:spPr>
          <a:xfrm>
            <a:off x="6446520" y="4480560"/>
            <a:ext cx="4846320" cy="731520"/>
          </a:xfrm>
          <a:prstGeom prst="rect">
            <a:avLst/>
          </a:prstGeom>
          <a:noFill/>
        </p:spPr>
        <p:txBody>
          <a:bodyPr wrap="square" anchor="t" lIns="45720" rIns="45720" tIns="27432" bIns="27432">
            <a:spAutoFit/>
          </a:bodyPr>
          <a:lstStyle/>
          <a:p>
            <a:pPr algn="l">
              <a:spcAft>
                <a:spcPts val="600"/>
              </a:spcAft>
            </a:pPr>
            <a:r>
              <a:rPr sz="1500" b="0" i="0">
                <a:solidFill>
                  <a:srgbClr val="202124"/>
                </a:solidFill>
                <a:latin typeface="Segoe UI"/>
              </a:rPr>
              <a:t>Generic advice like “monitor your system” and “add tests”.</a:t>
            </a:r>
          </a:p>
        </p:txBody>
      </p:sp>
      <p:sp>
        <p:nvSpPr>
          <p:cNvPr id="22" name="TextBox 21"/>
          <p:cNvSpPr txBox="1"/>
          <p:nvPr/>
        </p:nvSpPr>
        <p:spPr>
          <a:xfrm>
            <a:off x="6446520" y="5212080"/>
            <a:ext cx="4846320" cy="548640"/>
          </a:xfrm>
          <a:prstGeom prst="rect">
            <a:avLst/>
          </a:prstGeom>
          <a:noFill/>
        </p:spPr>
        <p:txBody>
          <a:bodyPr wrap="square" anchor="t" lIns="45720" rIns="45720" tIns="27432" bIns="27432">
            <a:spAutoFit/>
          </a:bodyPr>
          <a:lstStyle/>
          <a:p>
            <a:pPr algn="l">
              <a:spcAft>
                <a:spcPts val="600"/>
              </a:spcAft>
            </a:pPr>
            <a:r>
              <a:rPr sz="1500" b="1" i="0">
                <a:solidFill>
                  <a:srgbClr val="008C8A"/>
                </a:solidFill>
                <a:latin typeface="Segoe UI"/>
              </a:rPr>
              <a:t>Fix: </a:t>
            </a:r>
            <a:r>
              <a:rPr sz="1500" b="0" i="0">
                <a:solidFill>
                  <a:srgbClr val="202124"/>
                </a:solidFill>
                <a:latin typeface="Segoe UI"/>
              </a:rPr>
              <a:t>Ask for specifics: who, what, by when.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08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274320"/>
            <a:ext cx="10972800" cy="320040"/>
          </a:xfrm>
          <a:prstGeom prst="rect">
            <a:avLst/>
          </a:prstGeom>
          <a:noFill/>
        </p:spPr>
        <p:txBody>
          <a:bodyPr wrap="square" anchor="t" lIns="45720" rIns="45720" tIns="27432" bIns="27432">
            <a:spAutoFit/>
          </a:bodyPr>
          <a:lstStyle/>
          <a:p>
            <a:pPr algn="l">
              <a:spcAft>
                <a:spcPts val="600"/>
              </a:spcAft>
            </a:pPr>
            <a:r>
              <a:rPr sz="1200" b="1" i="0">
                <a:solidFill>
                  <a:srgbClr val="008C8A"/>
                </a:solidFill>
                <a:latin typeface="Segoe UI"/>
              </a:rPr>
              <a:t>INCIDENT → PROBLEM → CHANGE</a:t>
            </a:r>
          </a:p>
        </p:txBody>
      </p:sp>
      <p:sp>
        <p:nvSpPr>
          <p:cNvPr id="4" name="TextBox 3"/>
          <p:cNvSpPr txBox="1"/>
          <p:nvPr/>
        </p:nvSpPr>
        <p:spPr>
          <a:xfrm>
            <a:off x="457200" y="530352"/>
            <a:ext cx="11247120" cy="731520"/>
          </a:xfrm>
          <a:prstGeom prst="rect">
            <a:avLst/>
          </a:prstGeom>
          <a:noFill/>
        </p:spPr>
        <p:txBody>
          <a:bodyPr wrap="square" anchor="t" lIns="45720" rIns="45720" tIns="27432" bIns="27432">
            <a:spAutoFit/>
          </a:bodyPr>
          <a:lstStyle/>
          <a:p>
            <a:pPr algn="l">
              <a:spcAft>
                <a:spcPts val="600"/>
              </a:spcAft>
            </a:pPr>
            <a:r>
              <a:rPr sz="3000" b="1" i="0">
                <a:solidFill>
                  <a:srgbClr val="1F2A44"/>
                </a:solidFill>
                <a:latin typeface="Segoe UI"/>
              </a:rPr>
              <a:t>Where AI helps in our process</a:t>
            </a:r>
          </a:p>
        </p:txBody>
      </p:sp>
      <p:sp>
        <p:nvSpPr>
          <p:cNvPr id="5" name="TextBox 4"/>
          <p:cNvSpPr txBox="1"/>
          <p:nvPr/>
        </p:nvSpPr>
        <p:spPr>
          <a:xfrm>
            <a:off x="457200" y="6446520"/>
            <a:ext cx="7315200" cy="274320"/>
          </a:xfrm>
          <a:prstGeom prst="rect">
            <a:avLst/>
          </a:prstGeom>
          <a:noFill/>
        </p:spPr>
        <p:txBody>
          <a:bodyPr wrap="square" anchor="t" lIns="45720" rIns="45720" tIns="27432" bIns="27432">
            <a:spAutoFit/>
          </a:bodyPr>
          <a:lstStyle/>
          <a:p>
            <a:pPr algn="l">
              <a:spcAft>
                <a:spcPts val="600"/>
              </a:spcAft>
            </a:pPr>
            <a:r>
              <a:rPr sz="1000" b="0" i="0">
                <a:solidFill>
                  <a:srgbClr val="5F6368"/>
                </a:solidFill>
                <a:latin typeface="Segoe UI"/>
              </a:rPr>
              <a:t>AI in service management  |  ShopFast workshop</a:t>
            </a:r>
          </a:p>
        </p:txBody>
      </p:sp>
      <p:sp>
        <p:nvSpPr>
          <p:cNvPr id="6" name="TextBox 5"/>
          <p:cNvSpPr txBox="1"/>
          <p:nvPr/>
        </p:nvSpPr>
        <p:spPr>
          <a:xfrm>
            <a:off x="10972800" y="6446520"/>
            <a:ext cx="777240" cy="274320"/>
          </a:xfrm>
          <a:prstGeom prst="rect">
            <a:avLst/>
          </a:prstGeom>
          <a:noFill/>
        </p:spPr>
        <p:txBody>
          <a:bodyPr wrap="square" anchor="t" lIns="45720" rIns="45720" tIns="27432" bIns="27432">
            <a:spAutoFit/>
          </a:bodyPr>
          <a:lstStyle/>
          <a:p>
            <a:pPr algn="r">
              <a:spcAft>
                <a:spcPts val="600"/>
              </a:spcAft>
            </a:pPr>
            <a:r>
              <a:rPr sz="1000" b="0" i="0">
                <a:solidFill>
                  <a:srgbClr val="5F6368"/>
                </a:solidFill>
                <a:latin typeface="Segoe UI"/>
              </a:rPr>
              <a:t>11</a:t>
            </a:r>
          </a:p>
        </p:txBody>
      </p:sp>
      <p:sp>
        <p:nvSpPr>
          <p:cNvPr id="7" name="Rounded Rectangle 6"/>
          <p:cNvSpPr/>
          <p:nvPr/>
        </p:nvSpPr>
        <p:spPr>
          <a:xfrm>
            <a:off x="731520" y="1554480"/>
            <a:ext cx="3291840" cy="960120"/>
          </a:xfrm>
          <a:prstGeom prst="roundRect">
            <a:avLst>
              <a:gd name="adj" fmla="val 8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FFFFFF"/>
                </a:solidFill>
                <a:latin typeface="Segoe UI"/>
              </a:rPr>
              <a:t>Incident</a:t>
            </a:r>
          </a:p>
          <a:p>
            <a:pPr algn="ctr"/>
            <a:r>
              <a:rPr sz="1200" b="0" i="0">
                <a:solidFill>
                  <a:srgbClr val="FFFFFF"/>
                </a:solidFill>
                <a:latin typeface="Segoe UI"/>
              </a:rPr>
              <a:t>Service desk registers in TopDesk</a:t>
            </a:r>
          </a:p>
        </p:txBody>
      </p:sp>
      <p:sp>
        <p:nvSpPr>
          <p:cNvPr id="8" name="Rounded Rectangle 7"/>
          <p:cNvSpPr/>
          <p:nvPr/>
        </p:nvSpPr>
        <p:spPr>
          <a:xfrm>
            <a:off x="731520" y="2651760"/>
            <a:ext cx="3291840" cy="219456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14400" y="2788920"/>
            <a:ext cx="2971800" cy="2011680"/>
          </a:xfrm>
          <a:prstGeom prst="rect">
            <a:avLst/>
          </a:prstGeom>
          <a:noFill/>
        </p:spPr>
        <p:txBody>
          <a:bodyPr wrap="square" anchor="t" lIns="45720" rIns="45720" tIns="27432" bIns="27432">
            <a:spAutoFit/>
          </a:bodyPr>
          <a:lstStyle/>
          <a:p>
            <a:pPr algn="l">
              <a:spcAft>
                <a:spcPts val="600"/>
              </a:spcAft>
            </a:pPr>
            <a:r>
              <a:rPr sz="1500" b="0" i="0">
                <a:solidFill>
                  <a:srgbClr val="202124"/>
                </a:solidFill>
                <a:latin typeface="Segoe UI"/>
              </a:rPr>
              <a:t>• Triage: impact and priority</a:t>
            </a:r>
          </a:p>
          <a:p>
            <a:pPr algn="l">
              <a:spcAft>
                <a:spcPts val="600"/>
              </a:spcAft>
            </a:pPr>
            <a:r>
              <a:rPr sz="1500" b="0" i="0">
                <a:solidFill>
                  <a:srgbClr val="202124"/>
                </a:solidFill>
                <a:latin typeface="Segoe UI"/>
              </a:rPr>
              <a:t>• Correlate alerts, logs, deploys</a:t>
            </a:r>
          </a:p>
          <a:p>
            <a:pPr algn="l">
              <a:spcAft>
                <a:spcPts val="600"/>
              </a:spcAft>
            </a:pPr>
            <a:r>
              <a:rPr sz="1500" b="0" i="0">
                <a:solidFill>
                  <a:srgbClr val="202124"/>
                </a:solidFill>
                <a:latin typeface="Segoe UI"/>
              </a:rPr>
              <a:t>• Draft Teams and status updates</a:t>
            </a:r>
          </a:p>
          <a:p>
            <a:pPr algn="l">
              <a:spcAft>
                <a:spcPts val="600"/>
              </a:spcAft>
            </a:pPr>
            <a:r>
              <a:rPr sz="1500" b="0" i="0">
                <a:solidFill>
                  <a:srgbClr val="202124"/>
                </a:solidFill>
                <a:latin typeface="Segoe UI"/>
              </a:rPr>
              <a:t>• Write TopDesk actions and resolution</a:t>
            </a:r>
          </a:p>
        </p:txBody>
      </p:sp>
      <p:sp>
        <p:nvSpPr>
          <p:cNvPr id="10" name="Right Arrow 9"/>
          <p:cNvSpPr/>
          <p:nvPr/>
        </p:nvSpPr>
        <p:spPr>
          <a:xfrm>
            <a:off x="4096512" y="1874519"/>
            <a:ext cx="457200" cy="365760"/>
          </a:xfrm>
          <a:prstGeom prst="rightArrow">
            <a:avLst/>
          </a:prstGeom>
          <a:solidFill>
            <a:srgbClr val="5F63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26280" y="1554480"/>
            <a:ext cx="3291840" cy="960120"/>
          </a:xfrm>
          <a:prstGeom prst="roundRect">
            <a:avLst>
              <a:gd name="adj" fmla="val 8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FFFFFF"/>
                </a:solidFill>
                <a:latin typeface="Segoe UI"/>
              </a:rPr>
              <a:t>Problem</a:t>
            </a:r>
          </a:p>
          <a:p>
            <a:pPr algn="ctr"/>
            <a:r>
              <a:rPr sz="1200" b="0" i="0">
                <a:solidFill>
                  <a:srgbClr val="FFFFFF"/>
                </a:solidFill>
                <a:latin typeface="Segoe UI"/>
              </a:rPr>
              <a:t>Registered when a workaround was used</a:t>
            </a:r>
          </a:p>
        </p:txBody>
      </p:sp>
      <p:sp>
        <p:nvSpPr>
          <p:cNvPr id="12" name="Rounded Rectangle 11"/>
          <p:cNvSpPr/>
          <p:nvPr/>
        </p:nvSpPr>
        <p:spPr>
          <a:xfrm>
            <a:off x="4526280" y="2651760"/>
            <a:ext cx="3291840" cy="219456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09160" y="2788920"/>
            <a:ext cx="2971800" cy="2011680"/>
          </a:xfrm>
          <a:prstGeom prst="rect">
            <a:avLst/>
          </a:prstGeom>
          <a:noFill/>
        </p:spPr>
        <p:txBody>
          <a:bodyPr wrap="square" anchor="t" lIns="45720" rIns="45720" tIns="27432" bIns="27432">
            <a:spAutoFit/>
          </a:bodyPr>
          <a:lstStyle/>
          <a:p>
            <a:pPr algn="l">
              <a:spcAft>
                <a:spcPts val="600"/>
              </a:spcAft>
            </a:pPr>
            <a:r>
              <a:rPr sz="1500" b="0" i="0">
                <a:solidFill>
                  <a:srgbClr val="202124"/>
                </a:solidFill>
                <a:latin typeface="Segoe UI"/>
              </a:rPr>
              <a:t>• Root-cause hypotheses vs. evidence</a:t>
            </a:r>
          </a:p>
          <a:p>
            <a:pPr algn="l">
              <a:spcAft>
                <a:spcPts val="600"/>
              </a:spcAft>
            </a:pPr>
            <a:r>
              <a:rPr sz="1500" b="0" i="0">
                <a:solidFill>
                  <a:srgbClr val="202124"/>
                </a:solidFill>
                <a:latin typeface="Segoe UI"/>
              </a:rPr>
              <a:t>• Contributing factors, known error</a:t>
            </a:r>
          </a:p>
          <a:p>
            <a:pPr algn="l">
              <a:spcAft>
                <a:spcPts val="600"/>
              </a:spcAft>
            </a:pPr>
            <a:r>
              <a:rPr sz="1500" b="0" i="0">
                <a:solidFill>
                  <a:srgbClr val="202124"/>
                </a:solidFill>
                <a:latin typeface="Segoe UI"/>
              </a:rPr>
              <a:t>• Compare solution options</a:t>
            </a:r>
          </a:p>
          <a:p>
            <a:pPr algn="l">
              <a:spcAft>
                <a:spcPts val="600"/>
              </a:spcAft>
            </a:pPr>
            <a:r>
              <a:rPr sz="1500" b="0" i="0">
                <a:solidFill>
                  <a:srgbClr val="202124"/>
                </a:solidFill>
                <a:latin typeface="Segoe UI"/>
              </a:rPr>
              <a:t>• Draft a blameless postmortem</a:t>
            </a:r>
          </a:p>
        </p:txBody>
      </p:sp>
      <p:sp>
        <p:nvSpPr>
          <p:cNvPr id="14" name="Right Arrow 13"/>
          <p:cNvSpPr/>
          <p:nvPr/>
        </p:nvSpPr>
        <p:spPr>
          <a:xfrm>
            <a:off x="7891272" y="1874519"/>
            <a:ext cx="457200" cy="365760"/>
          </a:xfrm>
          <a:prstGeom prst="rightArrow">
            <a:avLst/>
          </a:prstGeom>
          <a:solidFill>
            <a:srgbClr val="5F63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321040" y="1554480"/>
            <a:ext cx="3291840" cy="960120"/>
          </a:xfrm>
          <a:prstGeom prst="roundRect">
            <a:avLst>
              <a:gd name="adj" fmla="val 8000"/>
            </a:avLst>
          </a:prstGeom>
          <a:solidFill>
            <a:srgbClr val="008C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FFFFFF"/>
                </a:solidFill>
                <a:latin typeface="Segoe UI"/>
              </a:rPr>
              <a:t>Change</a:t>
            </a:r>
          </a:p>
          <a:p>
            <a:pPr algn="ctr"/>
            <a:r>
              <a:rPr sz="1200" b="0" i="0">
                <a:solidFill>
                  <a:srgbClr val="FFFFFF"/>
                </a:solidFill>
                <a:latin typeface="Segoe UI"/>
              </a:rPr>
              <a:t>RFC with rfc-template.docx</a:t>
            </a:r>
          </a:p>
        </p:txBody>
      </p:sp>
      <p:sp>
        <p:nvSpPr>
          <p:cNvPr id="16" name="Rounded Rectangle 15"/>
          <p:cNvSpPr/>
          <p:nvPr/>
        </p:nvSpPr>
        <p:spPr>
          <a:xfrm>
            <a:off x="8321040" y="2651760"/>
            <a:ext cx="3291840" cy="219456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503920" y="2788920"/>
            <a:ext cx="2971800" cy="2011680"/>
          </a:xfrm>
          <a:prstGeom prst="rect">
            <a:avLst/>
          </a:prstGeom>
          <a:noFill/>
        </p:spPr>
        <p:txBody>
          <a:bodyPr wrap="square" anchor="t" lIns="45720" rIns="45720" tIns="27432" bIns="27432">
            <a:spAutoFit/>
          </a:bodyPr>
          <a:lstStyle/>
          <a:p>
            <a:pPr algn="l">
              <a:spcAft>
                <a:spcPts val="600"/>
              </a:spcAft>
            </a:pPr>
            <a:r>
              <a:rPr sz="1500" b="0" i="0">
                <a:solidFill>
                  <a:srgbClr val="202124"/>
                </a:solidFill>
                <a:latin typeface="Segoe UI"/>
              </a:rPr>
              <a:t>• Draft the RFC sections</a:t>
            </a:r>
          </a:p>
          <a:p>
            <a:pPr algn="l">
              <a:spcAft>
                <a:spcPts val="600"/>
              </a:spcAft>
            </a:pPr>
            <a:r>
              <a:rPr sz="1500" b="0" i="0">
                <a:solidFill>
                  <a:srgbClr val="202124"/>
                </a:solidFill>
                <a:latin typeface="Segoe UI"/>
              </a:rPr>
              <a:t>• Risks and rollback plan</a:t>
            </a:r>
          </a:p>
          <a:p>
            <a:pPr algn="l">
              <a:spcAft>
                <a:spcPts val="600"/>
              </a:spcAft>
            </a:pPr>
            <a:r>
              <a:rPr sz="1500" b="0" i="0">
                <a:solidFill>
                  <a:srgbClr val="202124"/>
                </a:solidFill>
                <a:latin typeface="Segoe UI"/>
              </a:rPr>
              <a:t>• Work breakdown and estimates</a:t>
            </a:r>
          </a:p>
          <a:p>
            <a:pPr algn="l">
              <a:spcAft>
                <a:spcPts val="600"/>
              </a:spcAft>
            </a:pPr>
            <a:r>
              <a:rPr sz="1500" b="0" i="0">
                <a:solidFill>
                  <a:srgbClr val="202124"/>
                </a:solidFill>
                <a:latin typeface="Segoe UI"/>
              </a:rPr>
              <a:t>• Anticipate CAB questions</a:t>
            </a:r>
          </a:p>
        </p:txBody>
      </p:sp>
      <p:sp>
        <p:nvSpPr>
          <p:cNvPr id="18" name="TextBox 17"/>
          <p:cNvSpPr txBox="1"/>
          <p:nvPr/>
        </p:nvSpPr>
        <p:spPr>
          <a:xfrm>
            <a:off x="731520" y="5120640"/>
            <a:ext cx="10789920" cy="548640"/>
          </a:xfrm>
          <a:prstGeom prst="rect">
            <a:avLst/>
          </a:prstGeom>
          <a:noFill/>
        </p:spPr>
        <p:txBody>
          <a:bodyPr wrap="square" anchor="t" lIns="45720" rIns="45720" tIns="27432" bIns="27432">
            <a:spAutoFit/>
          </a:bodyPr>
          <a:lstStyle/>
          <a:p>
            <a:pPr algn="l">
              <a:spcAft>
                <a:spcPts val="600"/>
              </a:spcAft>
            </a:pPr>
            <a:r>
              <a:rPr sz="1500" b="1" i="0">
                <a:solidFill>
                  <a:srgbClr val="5F6368"/>
                </a:solidFill>
                <a:latin typeface="Segoe UI"/>
              </a:rPr>
              <a:t>Today you'll practise each of these steps, starting from TopDesk incident I 2607 041.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731520" y="2011680"/>
            <a:ext cx="109728" cy="2377440"/>
          </a:xfrm>
          <a:prstGeom prst="rect">
            <a:avLst/>
          </a:prstGeom>
          <a:solidFill>
            <a:srgbClr val="008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97280" y="1920240"/>
            <a:ext cx="9144000" cy="548640"/>
          </a:xfrm>
          <a:prstGeom prst="rect">
            <a:avLst/>
          </a:prstGeom>
          <a:noFill/>
        </p:spPr>
        <p:txBody>
          <a:bodyPr wrap="square" anchor="t" lIns="45720" rIns="45720" tIns="27432" bIns="27432">
            <a:spAutoFit/>
          </a:bodyPr>
          <a:lstStyle/>
          <a:p>
            <a:pPr algn="l">
              <a:spcAft>
                <a:spcPts val="600"/>
              </a:spcAft>
            </a:pPr>
            <a:r>
              <a:rPr sz="1800" b="1" i="0">
                <a:solidFill>
                  <a:srgbClr val="7FD1CF"/>
                </a:solidFill>
                <a:latin typeface="Segoe UI"/>
              </a:rPr>
              <a:t>PART 2</a:t>
            </a:r>
          </a:p>
        </p:txBody>
      </p:sp>
      <p:sp>
        <p:nvSpPr>
          <p:cNvPr id="5" name="TextBox 4"/>
          <p:cNvSpPr txBox="1"/>
          <p:nvPr/>
        </p:nvSpPr>
        <p:spPr>
          <a:xfrm>
            <a:off x="1097280" y="2377440"/>
            <a:ext cx="10058400" cy="1097280"/>
          </a:xfrm>
          <a:prstGeom prst="rect">
            <a:avLst/>
          </a:prstGeom>
          <a:noFill/>
        </p:spPr>
        <p:txBody>
          <a:bodyPr wrap="square" anchor="t" lIns="45720" rIns="45720" tIns="27432" bIns="27432">
            <a:spAutoFit/>
          </a:bodyPr>
          <a:lstStyle/>
          <a:p>
            <a:pPr algn="l">
              <a:spcAft>
                <a:spcPts val="600"/>
              </a:spcAft>
            </a:pPr>
            <a:r>
              <a:rPr sz="4000" b="1" i="0">
                <a:solidFill>
                  <a:srgbClr val="FFFFFF"/>
                </a:solidFill>
                <a:latin typeface="Segoe UI"/>
              </a:rPr>
              <a:t>Workshop: ShopFast checkout outage</a:t>
            </a:r>
          </a:p>
        </p:txBody>
      </p:sp>
      <p:sp>
        <p:nvSpPr>
          <p:cNvPr id="6" name="TextBox 5"/>
          <p:cNvSpPr txBox="1"/>
          <p:nvPr/>
        </p:nvSpPr>
        <p:spPr>
          <a:xfrm>
            <a:off x="1097280" y="3474720"/>
            <a:ext cx="10058400" cy="914400"/>
          </a:xfrm>
          <a:prstGeom prst="rect">
            <a:avLst/>
          </a:prstGeom>
          <a:noFill/>
        </p:spPr>
        <p:txBody>
          <a:bodyPr wrap="square" anchor="t" lIns="45720" rIns="45720" tIns="27432" bIns="27432">
            <a:spAutoFit/>
          </a:bodyPr>
          <a:lstStyle/>
          <a:p>
            <a:pPr algn="l">
              <a:spcAft>
                <a:spcPts val="600"/>
              </a:spcAft>
            </a:pPr>
            <a:r>
              <a:rPr sz="2000" b="0" i="0">
                <a:solidFill>
                  <a:srgbClr val="C8D0DC"/>
                </a:solidFill>
                <a:latin typeface="Segoe UI"/>
              </a:rPr>
              <a:t>Tuesday 7 July 2026, 10:16 UTC: the service desk registers incident I 2607 041</a:t>
            </a:r>
          </a:p>
        </p:txBody>
      </p:sp>
      <p:sp>
        <p:nvSpPr>
          <p:cNvPr id="7" name="TextBox 6"/>
          <p:cNvSpPr txBox="1"/>
          <p:nvPr/>
        </p:nvSpPr>
        <p:spPr>
          <a:xfrm>
            <a:off x="457200" y="6446520"/>
            <a:ext cx="7315200" cy="274320"/>
          </a:xfrm>
          <a:prstGeom prst="rect">
            <a:avLst/>
          </a:prstGeom>
          <a:noFill/>
        </p:spPr>
        <p:txBody>
          <a:bodyPr wrap="square" anchor="t" lIns="45720" rIns="45720" tIns="27432" bIns="27432">
            <a:spAutoFit/>
          </a:bodyPr>
          <a:lstStyle/>
          <a:p>
            <a:pPr algn="l">
              <a:spcAft>
                <a:spcPts val="600"/>
              </a:spcAft>
            </a:pPr>
            <a:r>
              <a:rPr sz="1000" b="0" i="0">
                <a:solidFill>
                  <a:srgbClr val="B0B8C4"/>
                </a:solidFill>
                <a:latin typeface="Segoe UI"/>
              </a:rPr>
              <a:t>AI in service management  |  ShopFast workshop</a:t>
            </a:r>
          </a:p>
        </p:txBody>
      </p:sp>
      <p:sp>
        <p:nvSpPr>
          <p:cNvPr id="8" name="TextBox 7"/>
          <p:cNvSpPr txBox="1"/>
          <p:nvPr/>
        </p:nvSpPr>
        <p:spPr>
          <a:xfrm>
            <a:off x="10972800" y="6446520"/>
            <a:ext cx="777240" cy="274320"/>
          </a:xfrm>
          <a:prstGeom prst="rect">
            <a:avLst/>
          </a:prstGeom>
          <a:noFill/>
        </p:spPr>
        <p:txBody>
          <a:bodyPr wrap="square" anchor="t" lIns="45720" rIns="45720" tIns="27432" bIns="27432">
            <a:spAutoFit/>
          </a:bodyPr>
          <a:lstStyle/>
          <a:p>
            <a:pPr algn="r">
              <a:spcAft>
                <a:spcPts val="600"/>
              </a:spcAft>
            </a:pPr>
            <a:r>
              <a:rPr sz="1000" b="0" i="0">
                <a:solidFill>
                  <a:srgbClr val="B0B8C4"/>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08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274320"/>
            <a:ext cx="10972800" cy="320040"/>
          </a:xfrm>
          <a:prstGeom prst="rect">
            <a:avLst/>
          </a:prstGeom>
          <a:noFill/>
        </p:spPr>
        <p:txBody>
          <a:bodyPr wrap="square" anchor="t" lIns="45720" rIns="45720" tIns="27432" bIns="27432">
            <a:spAutoFit/>
          </a:bodyPr>
          <a:lstStyle/>
          <a:p>
            <a:pPr algn="l">
              <a:spcAft>
                <a:spcPts val="600"/>
              </a:spcAft>
            </a:pPr>
            <a:r>
              <a:rPr sz="1200" b="1" i="0">
                <a:solidFill>
                  <a:srgbClr val="008C8A"/>
                </a:solidFill>
                <a:latin typeface="Segoe UI"/>
              </a:rPr>
              <a:t>WORKSHOP</a:t>
            </a:r>
          </a:p>
        </p:txBody>
      </p:sp>
      <p:sp>
        <p:nvSpPr>
          <p:cNvPr id="4" name="TextBox 3"/>
          <p:cNvSpPr txBox="1"/>
          <p:nvPr/>
        </p:nvSpPr>
        <p:spPr>
          <a:xfrm>
            <a:off x="457200" y="530352"/>
            <a:ext cx="11247120" cy="731520"/>
          </a:xfrm>
          <a:prstGeom prst="rect">
            <a:avLst/>
          </a:prstGeom>
          <a:noFill/>
        </p:spPr>
        <p:txBody>
          <a:bodyPr wrap="square" anchor="t" lIns="45720" rIns="45720" tIns="27432" bIns="27432">
            <a:spAutoFit/>
          </a:bodyPr>
          <a:lstStyle/>
          <a:p>
            <a:pPr algn="l">
              <a:spcAft>
                <a:spcPts val="600"/>
              </a:spcAft>
            </a:pPr>
            <a:r>
              <a:rPr sz="3000" b="1" i="0">
                <a:solidFill>
                  <a:srgbClr val="1F2A44"/>
                </a:solidFill>
                <a:latin typeface="Segoe UI"/>
              </a:rPr>
              <a:t>Four exercises, one flow</a:t>
            </a:r>
          </a:p>
        </p:txBody>
      </p:sp>
      <p:sp>
        <p:nvSpPr>
          <p:cNvPr id="5" name="TextBox 4"/>
          <p:cNvSpPr txBox="1"/>
          <p:nvPr/>
        </p:nvSpPr>
        <p:spPr>
          <a:xfrm>
            <a:off x="457200" y="6446520"/>
            <a:ext cx="7315200" cy="274320"/>
          </a:xfrm>
          <a:prstGeom prst="rect">
            <a:avLst/>
          </a:prstGeom>
          <a:noFill/>
        </p:spPr>
        <p:txBody>
          <a:bodyPr wrap="square" anchor="t" lIns="45720" rIns="45720" tIns="27432" bIns="27432">
            <a:spAutoFit/>
          </a:bodyPr>
          <a:lstStyle/>
          <a:p>
            <a:pPr algn="l">
              <a:spcAft>
                <a:spcPts val="600"/>
              </a:spcAft>
            </a:pPr>
            <a:r>
              <a:rPr sz="1000" b="0" i="0">
                <a:solidFill>
                  <a:srgbClr val="5F6368"/>
                </a:solidFill>
                <a:latin typeface="Segoe UI"/>
              </a:rPr>
              <a:t>AI in service management  |  ShopFast workshop</a:t>
            </a:r>
          </a:p>
        </p:txBody>
      </p:sp>
      <p:sp>
        <p:nvSpPr>
          <p:cNvPr id="6" name="TextBox 5"/>
          <p:cNvSpPr txBox="1"/>
          <p:nvPr/>
        </p:nvSpPr>
        <p:spPr>
          <a:xfrm>
            <a:off x="10972800" y="6446520"/>
            <a:ext cx="777240" cy="274320"/>
          </a:xfrm>
          <a:prstGeom prst="rect">
            <a:avLst/>
          </a:prstGeom>
          <a:noFill/>
        </p:spPr>
        <p:txBody>
          <a:bodyPr wrap="square" anchor="t" lIns="45720" rIns="45720" tIns="27432" bIns="27432">
            <a:spAutoFit/>
          </a:bodyPr>
          <a:lstStyle/>
          <a:p>
            <a:pPr algn="r">
              <a:spcAft>
                <a:spcPts val="600"/>
              </a:spcAft>
            </a:pPr>
            <a:r>
              <a:rPr sz="1000" b="0" i="0">
                <a:solidFill>
                  <a:srgbClr val="5F6368"/>
                </a:solidFill>
                <a:latin typeface="Segoe UI"/>
              </a:rPr>
              <a:t>13</a:t>
            </a:r>
          </a:p>
        </p:txBody>
      </p:sp>
      <p:sp>
        <p:nvSpPr>
          <p:cNvPr id="7" name="Rounded Rectangle 6"/>
          <p:cNvSpPr/>
          <p:nvPr/>
        </p:nvSpPr>
        <p:spPr>
          <a:xfrm>
            <a:off x="731520" y="1645920"/>
            <a:ext cx="2606040" cy="356616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14400" y="1828800"/>
            <a:ext cx="731520" cy="73152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i="0">
                <a:solidFill>
                  <a:srgbClr val="FFFFFF"/>
                </a:solidFill>
                <a:latin typeface="Segoe UI"/>
              </a:rPr>
              <a:t>1</a:t>
            </a:r>
          </a:p>
        </p:txBody>
      </p:sp>
      <p:sp>
        <p:nvSpPr>
          <p:cNvPr id="9" name="TextBox 8"/>
          <p:cNvSpPr txBox="1"/>
          <p:nvPr/>
        </p:nvSpPr>
        <p:spPr>
          <a:xfrm>
            <a:off x="914400" y="2743200"/>
            <a:ext cx="2286000" cy="457200"/>
          </a:xfrm>
          <a:prstGeom prst="rect">
            <a:avLst/>
          </a:prstGeom>
          <a:noFill/>
        </p:spPr>
        <p:txBody>
          <a:bodyPr wrap="square" anchor="t" lIns="45720" rIns="45720" tIns="27432" bIns="27432">
            <a:spAutoFit/>
          </a:bodyPr>
          <a:lstStyle/>
          <a:p>
            <a:pPr algn="l">
              <a:spcAft>
                <a:spcPts val="600"/>
              </a:spcAft>
            </a:pPr>
            <a:r>
              <a:rPr sz="1900" b="1" i="0">
                <a:solidFill>
                  <a:srgbClr val="1F2A44"/>
                </a:solidFill>
                <a:latin typeface="Segoe UI"/>
              </a:rPr>
              <a:t>Incident triage</a:t>
            </a:r>
          </a:p>
        </p:txBody>
      </p:sp>
      <p:sp>
        <p:nvSpPr>
          <p:cNvPr id="10" name="TextBox 9"/>
          <p:cNvSpPr txBox="1"/>
          <p:nvPr/>
        </p:nvSpPr>
        <p:spPr>
          <a:xfrm>
            <a:off x="914400" y="3246120"/>
            <a:ext cx="2286000" cy="1463040"/>
          </a:xfrm>
          <a:prstGeom prst="rect">
            <a:avLst/>
          </a:prstGeom>
          <a:noFill/>
        </p:spPr>
        <p:txBody>
          <a:bodyPr wrap="square" anchor="t" lIns="45720" rIns="45720" tIns="27432" bIns="27432">
            <a:spAutoFit/>
          </a:bodyPr>
          <a:lstStyle/>
          <a:p>
            <a:pPr algn="l">
              <a:spcAft>
                <a:spcPts val="600"/>
              </a:spcAft>
            </a:pPr>
            <a:r>
              <a:rPr sz="1400" b="0" i="0">
                <a:solidFill>
                  <a:srgbClr val="202124"/>
                </a:solidFill>
                <a:latin typeface="Segoe UI"/>
              </a:rPr>
              <a:t>Impact, priority, first Teams update, TopDesk action</a:t>
            </a:r>
          </a:p>
        </p:txBody>
      </p:sp>
      <p:sp>
        <p:nvSpPr>
          <p:cNvPr id="11" name="TextBox 10"/>
          <p:cNvSpPr txBox="1"/>
          <p:nvPr/>
        </p:nvSpPr>
        <p:spPr>
          <a:xfrm>
            <a:off x="914400" y="4709160"/>
            <a:ext cx="2286000" cy="365760"/>
          </a:xfrm>
          <a:prstGeom prst="rect">
            <a:avLst/>
          </a:prstGeom>
          <a:noFill/>
        </p:spPr>
        <p:txBody>
          <a:bodyPr wrap="square" anchor="t" lIns="45720" rIns="45720" tIns="27432" bIns="27432">
            <a:spAutoFit/>
          </a:bodyPr>
          <a:lstStyle/>
          <a:p>
            <a:pPr algn="l">
              <a:spcAft>
                <a:spcPts val="600"/>
              </a:spcAft>
            </a:pPr>
            <a:r>
              <a:rPr sz="1500" b="1" i="0">
                <a:solidFill>
                  <a:srgbClr val="C0392B"/>
                </a:solidFill>
                <a:latin typeface="Segoe UI"/>
              </a:rPr>
              <a:t>25 min</a:t>
            </a:r>
          </a:p>
        </p:txBody>
      </p:sp>
      <p:sp>
        <p:nvSpPr>
          <p:cNvPr id="12" name="Right Arrow 11"/>
          <p:cNvSpPr/>
          <p:nvPr/>
        </p:nvSpPr>
        <p:spPr>
          <a:xfrm>
            <a:off x="3364991" y="3200400"/>
            <a:ext cx="246888" cy="320040"/>
          </a:xfrm>
          <a:prstGeom prst="rightArrow">
            <a:avLst/>
          </a:prstGeom>
          <a:solidFill>
            <a:srgbClr val="5F63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611880" y="1645920"/>
            <a:ext cx="2606040" cy="356616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794760" y="1828800"/>
            <a:ext cx="731520" cy="73152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i="0">
                <a:solidFill>
                  <a:srgbClr val="FFFFFF"/>
                </a:solidFill>
                <a:latin typeface="Segoe UI"/>
              </a:rPr>
              <a:t>2</a:t>
            </a:r>
          </a:p>
        </p:txBody>
      </p:sp>
      <p:sp>
        <p:nvSpPr>
          <p:cNvPr id="15" name="TextBox 14"/>
          <p:cNvSpPr txBox="1"/>
          <p:nvPr/>
        </p:nvSpPr>
        <p:spPr>
          <a:xfrm>
            <a:off x="3794760" y="2743200"/>
            <a:ext cx="2286000" cy="457200"/>
          </a:xfrm>
          <a:prstGeom prst="rect">
            <a:avLst/>
          </a:prstGeom>
          <a:noFill/>
        </p:spPr>
        <p:txBody>
          <a:bodyPr wrap="square" anchor="t" lIns="45720" rIns="45720" tIns="27432" bIns="27432">
            <a:spAutoFit/>
          </a:bodyPr>
          <a:lstStyle/>
          <a:p>
            <a:pPr algn="l">
              <a:spcAft>
                <a:spcPts val="600"/>
              </a:spcAft>
            </a:pPr>
            <a:r>
              <a:rPr sz="1900" b="1" i="0">
                <a:solidFill>
                  <a:srgbClr val="1F2A44"/>
                </a:solidFill>
                <a:latin typeface="Segoe UI"/>
              </a:rPr>
              <a:t>Incident resolution</a:t>
            </a:r>
          </a:p>
        </p:txBody>
      </p:sp>
      <p:sp>
        <p:nvSpPr>
          <p:cNvPr id="16" name="TextBox 15"/>
          <p:cNvSpPr txBox="1"/>
          <p:nvPr/>
        </p:nvSpPr>
        <p:spPr>
          <a:xfrm>
            <a:off x="3794760" y="3246120"/>
            <a:ext cx="2286000" cy="1463040"/>
          </a:xfrm>
          <a:prstGeom prst="rect">
            <a:avLst/>
          </a:prstGeom>
          <a:noFill/>
        </p:spPr>
        <p:txBody>
          <a:bodyPr wrap="square" anchor="t" lIns="45720" rIns="45720" tIns="27432" bIns="27432">
            <a:spAutoFit/>
          </a:bodyPr>
          <a:lstStyle/>
          <a:p>
            <a:pPr algn="l">
              <a:spcAft>
                <a:spcPts val="600"/>
              </a:spcAft>
            </a:pPr>
            <a:r>
              <a:rPr sz="1400" b="0" i="0">
                <a:solidFill>
                  <a:srgbClr val="202124"/>
                </a:solidFill>
                <a:latin typeface="Segoe UI"/>
              </a:rPr>
              <a:t>Find the trigger, roll back, resolve with a workaround, register a problem</a:t>
            </a:r>
          </a:p>
        </p:txBody>
      </p:sp>
      <p:sp>
        <p:nvSpPr>
          <p:cNvPr id="17" name="TextBox 16"/>
          <p:cNvSpPr txBox="1"/>
          <p:nvPr/>
        </p:nvSpPr>
        <p:spPr>
          <a:xfrm>
            <a:off x="3794760" y="4709160"/>
            <a:ext cx="2286000" cy="365760"/>
          </a:xfrm>
          <a:prstGeom prst="rect">
            <a:avLst/>
          </a:prstGeom>
          <a:noFill/>
        </p:spPr>
        <p:txBody>
          <a:bodyPr wrap="square" anchor="t" lIns="45720" rIns="45720" tIns="27432" bIns="27432">
            <a:spAutoFit/>
          </a:bodyPr>
          <a:lstStyle/>
          <a:p>
            <a:pPr algn="l">
              <a:spcAft>
                <a:spcPts val="600"/>
              </a:spcAft>
            </a:pPr>
            <a:r>
              <a:rPr sz="1500" b="1" i="0">
                <a:solidFill>
                  <a:srgbClr val="C0392B"/>
                </a:solidFill>
                <a:latin typeface="Segoe UI"/>
              </a:rPr>
              <a:t>40 min</a:t>
            </a:r>
          </a:p>
        </p:txBody>
      </p:sp>
      <p:sp>
        <p:nvSpPr>
          <p:cNvPr id="18" name="Right Arrow 17"/>
          <p:cNvSpPr/>
          <p:nvPr/>
        </p:nvSpPr>
        <p:spPr>
          <a:xfrm>
            <a:off x="6245352" y="3200400"/>
            <a:ext cx="246888" cy="320040"/>
          </a:xfrm>
          <a:prstGeom prst="rightArrow">
            <a:avLst/>
          </a:prstGeom>
          <a:solidFill>
            <a:srgbClr val="5F63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92240" y="1645920"/>
            <a:ext cx="2606040" cy="356616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6675120" y="1828800"/>
            <a:ext cx="731520" cy="73152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i="0">
                <a:solidFill>
                  <a:srgbClr val="FFFFFF"/>
                </a:solidFill>
                <a:latin typeface="Segoe UI"/>
              </a:rPr>
              <a:t>3</a:t>
            </a:r>
          </a:p>
        </p:txBody>
      </p:sp>
      <p:sp>
        <p:nvSpPr>
          <p:cNvPr id="21" name="TextBox 20"/>
          <p:cNvSpPr txBox="1"/>
          <p:nvPr/>
        </p:nvSpPr>
        <p:spPr>
          <a:xfrm>
            <a:off x="6675120" y="2743200"/>
            <a:ext cx="2286000" cy="457200"/>
          </a:xfrm>
          <a:prstGeom prst="rect">
            <a:avLst/>
          </a:prstGeom>
          <a:noFill/>
        </p:spPr>
        <p:txBody>
          <a:bodyPr wrap="square" anchor="t" lIns="45720" rIns="45720" tIns="27432" bIns="27432">
            <a:spAutoFit/>
          </a:bodyPr>
          <a:lstStyle/>
          <a:p>
            <a:pPr algn="l">
              <a:spcAft>
                <a:spcPts val="600"/>
              </a:spcAft>
            </a:pPr>
            <a:r>
              <a:rPr sz="1900" b="1" i="0">
                <a:solidFill>
                  <a:srgbClr val="1F2A44"/>
                </a:solidFill>
                <a:latin typeface="Segoe UI"/>
              </a:rPr>
              <a:t>Problem analysis</a:t>
            </a:r>
          </a:p>
        </p:txBody>
      </p:sp>
      <p:sp>
        <p:nvSpPr>
          <p:cNvPr id="22" name="TextBox 21"/>
          <p:cNvSpPr txBox="1"/>
          <p:nvPr/>
        </p:nvSpPr>
        <p:spPr>
          <a:xfrm>
            <a:off x="6675120" y="3246120"/>
            <a:ext cx="2286000" cy="1463040"/>
          </a:xfrm>
          <a:prstGeom prst="rect">
            <a:avLst/>
          </a:prstGeom>
          <a:noFill/>
        </p:spPr>
        <p:txBody>
          <a:bodyPr wrap="square" anchor="t" lIns="45720" rIns="45720" tIns="27432" bIns="27432">
            <a:spAutoFit/>
          </a:bodyPr>
          <a:lstStyle/>
          <a:p>
            <a:pPr algn="l">
              <a:spcAft>
                <a:spcPts val="600"/>
              </a:spcAft>
            </a:pPr>
            <a:r>
              <a:rPr sz="1400" b="0" i="0">
                <a:solidFill>
                  <a:srgbClr val="202124"/>
                </a:solidFill>
                <a:latin typeface="Segoe UI"/>
              </a:rPr>
              <a:t>Root cause, contributing factors, solution options, postmortem</a:t>
            </a:r>
          </a:p>
        </p:txBody>
      </p:sp>
      <p:sp>
        <p:nvSpPr>
          <p:cNvPr id="23" name="TextBox 22"/>
          <p:cNvSpPr txBox="1"/>
          <p:nvPr/>
        </p:nvSpPr>
        <p:spPr>
          <a:xfrm>
            <a:off x="6675120" y="4709160"/>
            <a:ext cx="2286000" cy="365760"/>
          </a:xfrm>
          <a:prstGeom prst="rect">
            <a:avLst/>
          </a:prstGeom>
          <a:noFill/>
        </p:spPr>
        <p:txBody>
          <a:bodyPr wrap="square" anchor="t" lIns="45720" rIns="45720" tIns="27432" bIns="27432">
            <a:spAutoFit/>
          </a:bodyPr>
          <a:lstStyle/>
          <a:p>
            <a:pPr algn="l">
              <a:spcAft>
                <a:spcPts val="600"/>
              </a:spcAft>
            </a:pPr>
            <a:r>
              <a:rPr sz="1500" b="1" i="0">
                <a:solidFill>
                  <a:srgbClr val="1F2A44"/>
                </a:solidFill>
                <a:latin typeface="Segoe UI"/>
              </a:rPr>
              <a:t>55 min</a:t>
            </a:r>
          </a:p>
        </p:txBody>
      </p:sp>
      <p:sp>
        <p:nvSpPr>
          <p:cNvPr id="24" name="Right Arrow 23"/>
          <p:cNvSpPr/>
          <p:nvPr/>
        </p:nvSpPr>
        <p:spPr>
          <a:xfrm>
            <a:off x="9125712" y="3200400"/>
            <a:ext cx="246888" cy="320040"/>
          </a:xfrm>
          <a:prstGeom prst="rightArrow">
            <a:avLst/>
          </a:prstGeom>
          <a:solidFill>
            <a:srgbClr val="5F63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372600" y="1645920"/>
            <a:ext cx="2606040" cy="356616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9555480" y="1828800"/>
            <a:ext cx="731520" cy="731520"/>
          </a:xfrm>
          <a:prstGeom prst="ellipse">
            <a:avLst/>
          </a:prstGeom>
          <a:solidFill>
            <a:srgbClr val="008C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i="0">
                <a:solidFill>
                  <a:srgbClr val="FFFFFF"/>
                </a:solidFill>
                <a:latin typeface="Segoe UI"/>
              </a:rPr>
              <a:t>4</a:t>
            </a:r>
          </a:p>
        </p:txBody>
      </p:sp>
      <p:sp>
        <p:nvSpPr>
          <p:cNvPr id="27" name="TextBox 26"/>
          <p:cNvSpPr txBox="1"/>
          <p:nvPr/>
        </p:nvSpPr>
        <p:spPr>
          <a:xfrm>
            <a:off x="9555480" y="2743200"/>
            <a:ext cx="2286000" cy="457200"/>
          </a:xfrm>
          <a:prstGeom prst="rect">
            <a:avLst/>
          </a:prstGeom>
          <a:noFill/>
        </p:spPr>
        <p:txBody>
          <a:bodyPr wrap="square" anchor="t" lIns="45720" rIns="45720" tIns="27432" bIns="27432">
            <a:spAutoFit/>
          </a:bodyPr>
          <a:lstStyle/>
          <a:p>
            <a:pPr algn="l">
              <a:spcAft>
                <a:spcPts val="600"/>
              </a:spcAft>
            </a:pPr>
            <a:r>
              <a:rPr sz="1900" b="1" i="0">
                <a:solidFill>
                  <a:srgbClr val="1F2A44"/>
                </a:solidFill>
                <a:latin typeface="Segoe UI"/>
              </a:rPr>
              <a:t>Change request</a:t>
            </a:r>
          </a:p>
        </p:txBody>
      </p:sp>
      <p:sp>
        <p:nvSpPr>
          <p:cNvPr id="28" name="TextBox 27"/>
          <p:cNvSpPr txBox="1"/>
          <p:nvPr/>
        </p:nvSpPr>
        <p:spPr>
          <a:xfrm>
            <a:off x="9555480" y="3246120"/>
            <a:ext cx="2286000" cy="1463040"/>
          </a:xfrm>
          <a:prstGeom prst="rect">
            <a:avLst/>
          </a:prstGeom>
          <a:noFill/>
        </p:spPr>
        <p:txBody>
          <a:bodyPr wrap="square" anchor="t" lIns="45720" rIns="45720" tIns="27432" bIns="27432">
            <a:spAutoFit/>
          </a:bodyPr>
          <a:lstStyle/>
          <a:p>
            <a:pPr algn="l">
              <a:spcAft>
                <a:spcPts val="600"/>
              </a:spcAft>
            </a:pPr>
            <a:r>
              <a:rPr sz="1400" b="0" i="0">
                <a:solidFill>
                  <a:srgbClr val="202124"/>
                </a:solidFill>
                <a:latin typeface="Segoe UI"/>
              </a:rPr>
              <a:t>Fill in rfc-template.docx and prepare for the CAB</a:t>
            </a:r>
          </a:p>
        </p:txBody>
      </p:sp>
      <p:sp>
        <p:nvSpPr>
          <p:cNvPr id="29" name="TextBox 28"/>
          <p:cNvSpPr txBox="1"/>
          <p:nvPr/>
        </p:nvSpPr>
        <p:spPr>
          <a:xfrm>
            <a:off x="9555480" y="4709160"/>
            <a:ext cx="2286000" cy="365760"/>
          </a:xfrm>
          <a:prstGeom prst="rect">
            <a:avLst/>
          </a:prstGeom>
          <a:noFill/>
        </p:spPr>
        <p:txBody>
          <a:bodyPr wrap="square" anchor="t" lIns="45720" rIns="45720" tIns="27432" bIns="27432">
            <a:spAutoFit/>
          </a:bodyPr>
          <a:lstStyle/>
          <a:p>
            <a:pPr algn="l">
              <a:spcAft>
                <a:spcPts val="600"/>
              </a:spcAft>
            </a:pPr>
            <a:r>
              <a:rPr sz="1500" b="1" i="0">
                <a:solidFill>
                  <a:srgbClr val="008C8A"/>
                </a:solidFill>
                <a:latin typeface="Segoe UI"/>
              </a:rPr>
              <a:t>35 min</a:t>
            </a:r>
          </a:p>
        </p:txBody>
      </p:sp>
      <p:sp>
        <p:nvSpPr>
          <p:cNvPr id="30" name="TextBox 29"/>
          <p:cNvSpPr txBox="1"/>
          <p:nvPr/>
        </p:nvSpPr>
        <p:spPr>
          <a:xfrm>
            <a:off x="731520" y="5486400"/>
            <a:ext cx="10789920" cy="731520"/>
          </a:xfrm>
          <a:prstGeom prst="rect">
            <a:avLst/>
          </a:prstGeom>
          <a:noFill/>
        </p:spPr>
        <p:txBody>
          <a:bodyPr wrap="square" anchor="t" lIns="45720" rIns="45720" tIns="27432" bIns="27432">
            <a:spAutoFit/>
          </a:bodyPr>
          <a:lstStyle/>
          <a:p>
            <a:pPr algn="l">
              <a:spcAft>
                <a:spcPts val="600"/>
              </a:spcAft>
            </a:pPr>
            <a:r>
              <a:rPr sz="1600" b="1" i="0">
                <a:solidFill>
                  <a:srgbClr val="1F2A44"/>
                </a:solidFill>
                <a:latin typeface="Segoe UI"/>
              </a:rPr>
              <a:t>Each exercise ends with a short debrief: </a:t>
            </a:r>
            <a:r>
              <a:rPr sz="1600" b="0" i="0">
                <a:solidFill>
                  <a:srgbClr val="202124"/>
                </a:solidFill>
                <a:latin typeface="Segoe UI"/>
              </a:rPr>
              <a:t>where was AI accurate, incomplete, or plain wrong?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08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274320"/>
            <a:ext cx="10972800" cy="320040"/>
          </a:xfrm>
          <a:prstGeom prst="rect">
            <a:avLst/>
          </a:prstGeom>
          <a:noFill/>
        </p:spPr>
        <p:txBody>
          <a:bodyPr wrap="square" anchor="t" lIns="45720" rIns="45720" tIns="27432" bIns="27432">
            <a:spAutoFit/>
          </a:bodyPr>
          <a:lstStyle/>
          <a:p>
            <a:pPr algn="l">
              <a:spcAft>
                <a:spcPts val="600"/>
              </a:spcAft>
            </a:pPr>
            <a:r>
              <a:rPr sz="1200" b="1" i="0">
                <a:solidFill>
                  <a:srgbClr val="008C8A"/>
                </a:solidFill>
                <a:latin typeface="Segoe UI"/>
              </a:rPr>
              <a:t>WORKSHOP</a:t>
            </a:r>
          </a:p>
        </p:txBody>
      </p:sp>
      <p:sp>
        <p:nvSpPr>
          <p:cNvPr id="4" name="TextBox 3"/>
          <p:cNvSpPr txBox="1"/>
          <p:nvPr/>
        </p:nvSpPr>
        <p:spPr>
          <a:xfrm>
            <a:off x="457200" y="530352"/>
            <a:ext cx="11247120" cy="731520"/>
          </a:xfrm>
          <a:prstGeom prst="rect">
            <a:avLst/>
          </a:prstGeom>
          <a:noFill/>
        </p:spPr>
        <p:txBody>
          <a:bodyPr wrap="square" anchor="t" lIns="45720" rIns="45720" tIns="27432" bIns="27432">
            <a:spAutoFit/>
          </a:bodyPr>
          <a:lstStyle/>
          <a:p>
            <a:pPr algn="l">
              <a:spcAft>
                <a:spcPts val="600"/>
              </a:spcAft>
            </a:pPr>
            <a:r>
              <a:rPr sz="3000" b="1" i="0">
                <a:solidFill>
                  <a:srgbClr val="1F2A44"/>
                </a:solidFill>
                <a:latin typeface="Segoe UI"/>
              </a:rPr>
              <a:t>How we work today</a:t>
            </a:r>
          </a:p>
        </p:txBody>
      </p:sp>
      <p:sp>
        <p:nvSpPr>
          <p:cNvPr id="5" name="TextBox 4"/>
          <p:cNvSpPr txBox="1"/>
          <p:nvPr/>
        </p:nvSpPr>
        <p:spPr>
          <a:xfrm>
            <a:off x="457200" y="6446520"/>
            <a:ext cx="7315200" cy="274320"/>
          </a:xfrm>
          <a:prstGeom prst="rect">
            <a:avLst/>
          </a:prstGeom>
          <a:noFill/>
        </p:spPr>
        <p:txBody>
          <a:bodyPr wrap="square" anchor="t" lIns="45720" rIns="45720" tIns="27432" bIns="27432">
            <a:spAutoFit/>
          </a:bodyPr>
          <a:lstStyle/>
          <a:p>
            <a:pPr algn="l">
              <a:spcAft>
                <a:spcPts val="600"/>
              </a:spcAft>
            </a:pPr>
            <a:r>
              <a:rPr sz="1000" b="0" i="0">
                <a:solidFill>
                  <a:srgbClr val="5F6368"/>
                </a:solidFill>
                <a:latin typeface="Segoe UI"/>
              </a:rPr>
              <a:t>AI in service management  |  ShopFast workshop</a:t>
            </a:r>
          </a:p>
        </p:txBody>
      </p:sp>
      <p:sp>
        <p:nvSpPr>
          <p:cNvPr id="6" name="TextBox 5"/>
          <p:cNvSpPr txBox="1"/>
          <p:nvPr/>
        </p:nvSpPr>
        <p:spPr>
          <a:xfrm>
            <a:off x="10972800" y="6446520"/>
            <a:ext cx="777240" cy="274320"/>
          </a:xfrm>
          <a:prstGeom prst="rect">
            <a:avLst/>
          </a:prstGeom>
          <a:noFill/>
        </p:spPr>
        <p:txBody>
          <a:bodyPr wrap="square" anchor="t" lIns="45720" rIns="45720" tIns="27432" bIns="27432">
            <a:spAutoFit/>
          </a:bodyPr>
          <a:lstStyle/>
          <a:p>
            <a:pPr algn="r">
              <a:spcAft>
                <a:spcPts val="600"/>
              </a:spcAft>
            </a:pPr>
            <a:r>
              <a:rPr sz="1000" b="0" i="0">
                <a:solidFill>
                  <a:srgbClr val="5F6368"/>
                </a:solidFill>
                <a:latin typeface="Segoe UI"/>
              </a:rPr>
              <a:t>14</a:t>
            </a:r>
          </a:p>
        </p:txBody>
      </p:sp>
      <p:sp>
        <p:nvSpPr>
          <p:cNvPr id="7" name="TextBox 6"/>
          <p:cNvSpPr txBox="1"/>
          <p:nvPr/>
        </p:nvSpPr>
        <p:spPr>
          <a:xfrm>
            <a:off x="731520" y="1554480"/>
            <a:ext cx="5303520" cy="4389120"/>
          </a:xfrm>
          <a:prstGeom prst="rect">
            <a:avLst/>
          </a:prstGeom>
          <a:noFill/>
        </p:spPr>
        <p:txBody>
          <a:bodyPr wrap="square" anchor="t" lIns="45720" rIns="45720" tIns="27432" bIns="27432">
            <a:spAutoFit/>
          </a:bodyPr>
          <a:lstStyle/>
          <a:p>
            <a:pPr algn="l">
              <a:spcAft>
                <a:spcPts val="1200"/>
              </a:spcAft>
            </a:pPr>
            <a:r>
              <a:rPr sz="1800" b="0" i="0">
                <a:solidFill>
                  <a:srgbClr val="202124"/>
                </a:solidFill>
                <a:latin typeface="Segoe UI"/>
              </a:rPr>
              <a:t>• Work in pairs or small groups</a:t>
            </a:r>
          </a:p>
          <a:p>
            <a:pPr algn="l">
              <a:spcAft>
                <a:spcPts val="1200"/>
              </a:spcAft>
            </a:pPr>
            <a:r>
              <a:rPr sz="1800" b="0" i="0">
                <a:solidFill>
                  <a:srgbClr val="202124"/>
                </a:solidFill>
                <a:latin typeface="Segoe UI"/>
              </a:rPr>
              <a:t>• Use AI for as much as you can, but you own every answer</a:t>
            </a:r>
          </a:p>
          <a:p>
            <a:pPr algn="l">
              <a:spcAft>
                <a:spcPts val="1200"/>
              </a:spcAft>
            </a:pPr>
            <a:r>
              <a:rPr sz="1800" b="0" i="0">
                <a:solidFill>
                  <a:srgbClr val="202124"/>
                </a:solidFill>
                <a:latin typeface="Segoe UI"/>
              </a:rPr>
              <a:t>• Base everything on the evidence files; ask the AI to do the same</a:t>
            </a:r>
          </a:p>
          <a:p>
            <a:pPr algn="l">
              <a:spcAft>
                <a:spcPts val="1200"/>
              </a:spcAft>
            </a:pPr>
            <a:r>
              <a:rPr sz="1800" b="0" i="0">
                <a:solidFill>
                  <a:srgbClr val="202124"/>
                </a:solidFill>
                <a:latin typeface="Segoe UI"/>
              </a:rPr>
              <a:t>• Keep track of where AI helped and where it misled you</a:t>
            </a:r>
          </a:p>
          <a:p>
            <a:pPr algn="l">
              <a:spcAft>
                <a:spcPts val="1200"/>
              </a:spcAft>
            </a:pPr>
            <a:r>
              <a:rPr sz="1800" b="0" i="0">
                <a:solidFill>
                  <a:srgbClr val="202124"/>
                </a:solidFill>
                <a:latin typeface="Segoe UI"/>
              </a:rPr>
              <a:t>• Blameless: we look at systems and conditions, not at people</a:t>
            </a:r>
          </a:p>
          <a:p>
            <a:pPr algn="l">
              <a:spcAft>
                <a:spcPts val="1200"/>
              </a:spcAft>
            </a:pPr>
            <a:r>
              <a:rPr sz="1800" b="0" i="0">
                <a:solidFill>
                  <a:srgbClr val="202124"/>
                </a:solidFill>
                <a:latin typeface="Segoe UI"/>
              </a:rPr>
              <a:t>• All data is synthetic, so paste freely (in approved tools)</a:t>
            </a:r>
          </a:p>
        </p:txBody>
      </p:sp>
      <p:sp>
        <p:nvSpPr>
          <p:cNvPr id="8" name="Rounded Rectangle 7"/>
          <p:cNvSpPr/>
          <p:nvPr/>
        </p:nvSpPr>
        <p:spPr>
          <a:xfrm>
            <a:off x="6400800" y="1554480"/>
            <a:ext cx="5074920" cy="4389120"/>
          </a:xfrm>
          <a:prstGeom prst="roundRect">
            <a:avLst>
              <a:gd name="adj" fmla="val 8000"/>
            </a:avLst>
          </a:prstGeom>
          <a:solidFill>
            <a:srgbClr val="E0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675120" y="1737360"/>
            <a:ext cx="4572000" cy="457200"/>
          </a:xfrm>
          <a:prstGeom prst="rect">
            <a:avLst/>
          </a:prstGeom>
          <a:noFill/>
        </p:spPr>
        <p:txBody>
          <a:bodyPr wrap="square" anchor="t" lIns="45720" rIns="45720" tIns="27432" bIns="27432">
            <a:spAutoFit/>
          </a:bodyPr>
          <a:lstStyle/>
          <a:p>
            <a:pPr algn="l">
              <a:spcAft>
                <a:spcPts val="600"/>
              </a:spcAft>
            </a:pPr>
            <a:r>
              <a:rPr sz="2000" b="1" i="0">
                <a:solidFill>
                  <a:srgbClr val="008C8A"/>
                </a:solidFill>
                <a:latin typeface="Segoe UI"/>
              </a:rPr>
              <a:t>What you'll get</a:t>
            </a:r>
          </a:p>
        </p:txBody>
      </p:sp>
      <p:sp>
        <p:nvSpPr>
          <p:cNvPr id="10" name="TextBox 9"/>
          <p:cNvSpPr txBox="1"/>
          <p:nvPr/>
        </p:nvSpPr>
        <p:spPr>
          <a:xfrm>
            <a:off x="6675120" y="2286000"/>
            <a:ext cx="4572000" cy="3566160"/>
          </a:xfrm>
          <a:prstGeom prst="rect">
            <a:avLst/>
          </a:prstGeom>
          <a:noFill/>
        </p:spPr>
        <p:txBody>
          <a:bodyPr wrap="square" anchor="t" lIns="45720" rIns="45720" tIns="27432" bIns="27432">
            <a:spAutoFit/>
          </a:bodyPr>
          <a:lstStyle/>
          <a:p>
            <a:pPr algn="l">
              <a:spcAft>
                <a:spcPts val="800"/>
              </a:spcAft>
            </a:pPr>
            <a:r>
              <a:rPr sz="1600" b="0" i="0">
                <a:solidFill>
                  <a:srgbClr val="202124"/>
                </a:solidFill>
                <a:latin typeface="Segoe UI"/>
              </a:rPr>
              <a:t>• Incident brief and architecture</a:t>
            </a:r>
          </a:p>
          <a:p>
            <a:pPr algn="l">
              <a:spcAft>
                <a:spcPts val="800"/>
              </a:spcAft>
            </a:pPr>
            <a:r>
              <a:rPr sz="1600" b="0" i="0">
                <a:solidFill>
                  <a:srgbClr val="202124"/>
                </a:solidFill>
                <a:latin typeface="Segoe UI"/>
              </a:rPr>
              <a:t>• TopDesk incident, Teams excerpts, alerts</a:t>
            </a:r>
          </a:p>
          <a:p>
            <a:pPr algn="l">
              <a:spcAft>
                <a:spcPts val="800"/>
              </a:spcAft>
            </a:pPr>
            <a:r>
              <a:rPr sz="1600" b="0" i="0">
                <a:solidFill>
                  <a:srgbClr val="202124"/>
                </a:solidFill>
                <a:latin typeface="Segoe UI"/>
              </a:rPr>
              <a:t>• Logs, metrics, deploy history, runbook</a:t>
            </a:r>
          </a:p>
          <a:p>
            <a:pPr algn="l">
              <a:spcAft>
                <a:spcPts val="800"/>
              </a:spcAft>
            </a:pPr>
            <a:r>
              <a:rPr sz="1600" b="0" i="0">
                <a:solidFill>
                  <a:srgbClr val="202124"/>
                </a:solidFill>
                <a:latin typeface="Segoe UI"/>
              </a:rPr>
              <a:t>• Problem evidence (from Exercise 3): code diff, config, traffic, reconciliation, stakeholder notes</a:t>
            </a:r>
          </a:p>
          <a:p>
            <a:pPr algn="l">
              <a:spcAft>
                <a:spcPts val="800"/>
              </a:spcAft>
            </a:pPr>
            <a:r>
              <a:rPr sz="1600" b="0" i="0">
                <a:solidFill>
                  <a:srgbClr val="202124"/>
                </a:solidFill>
                <a:latin typeface="Segoe UI"/>
              </a:rPr>
              <a:t>• rfc-template.docx</a:t>
            </a:r>
          </a:p>
          <a:p>
            <a:pPr algn="l">
              <a:spcAft>
                <a:spcPts val="800"/>
              </a:spcAft>
            </a:pPr>
            <a:r>
              <a:rPr sz="1600" b="0" i="0">
                <a:solidFill>
                  <a:srgbClr val="202124"/>
                </a:solidFill>
                <a:latin typeface="Segoe UI"/>
              </a:rPr>
              <a:t>• Afterwards: the prompt library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731520" y="2011680"/>
            <a:ext cx="109728" cy="2377440"/>
          </a:xfrm>
          <a:prstGeom prst="rect">
            <a:avLst/>
          </a:prstGeom>
          <a:solidFill>
            <a:srgbClr val="008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97280" y="1920240"/>
            <a:ext cx="9144000" cy="548640"/>
          </a:xfrm>
          <a:prstGeom prst="rect">
            <a:avLst/>
          </a:prstGeom>
          <a:noFill/>
        </p:spPr>
        <p:txBody>
          <a:bodyPr wrap="square" anchor="t" lIns="45720" rIns="45720" tIns="27432" bIns="27432">
            <a:spAutoFit/>
          </a:bodyPr>
          <a:lstStyle/>
          <a:p>
            <a:pPr algn="l">
              <a:spcAft>
                <a:spcPts val="600"/>
              </a:spcAft>
            </a:pPr>
            <a:r>
              <a:rPr sz="1800" b="1" i="0">
                <a:solidFill>
                  <a:srgbClr val="7FD1CF"/>
                </a:solidFill>
                <a:latin typeface="Segoe UI"/>
              </a:rPr>
              <a:t>PART 3</a:t>
            </a:r>
          </a:p>
        </p:txBody>
      </p:sp>
      <p:sp>
        <p:nvSpPr>
          <p:cNvPr id="5" name="TextBox 4"/>
          <p:cNvSpPr txBox="1"/>
          <p:nvPr/>
        </p:nvSpPr>
        <p:spPr>
          <a:xfrm>
            <a:off x="1097280" y="2377440"/>
            <a:ext cx="10058400" cy="1097280"/>
          </a:xfrm>
          <a:prstGeom prst="rect">
            <a:avLst/>
          </a:prstGeom>
          <a:noFill/>
        </p:spPr>
        <p:txBody>
          <a:bodyPr wrap="square" anchor="t" lIns="45720" rIns="45720" tIns="27432" bIns="27432">
            <a:spAutoFit/>
          </a:bodyPr>
          <a:lstStyle/>
          <a:p>
            <a:pPr algn="l">
              <a:spcAft>
                <a:spcPts val="600"/>
              </a:spcAft>
            </a:pPr>
            <a:r>
              <a:rPr sz="4000" b="1" i="0">
                <a:solidFill>
                  <a:srgbClr val="FFFFFF"/>
                </a:solidFill>
                <a:latin typeface="Segoe UI"/>
              </a:rPr>
              <a:t>What if Copilot could talk to TopDesk?</a:t>
            </a:r>
          </a:p>
        </p:txBody>
      </p:sp>
      <p:sp>
        <p:nvSpPr>
          <p:cNvPr id="6" name="TextBox 5"/>
          <p:cNvSpPr txBox="1"/>
          <p:nvPr/>
        </p:nvSpPr>
        <p:spPr>
          <a:xfrm>
            <a:off x="1097280" y="3474720"/>
            <a:ext cx="10058400" cy="914400"/>
          </a:xfrm>
          <a:prstGeom prst="rect">
            <a:avLst/>
          </a:prstGeom>
          <a:noFill/>
        </p:spPr>
        <p:txBody>
          <a:bodyPr wrap="square" anchor="t" lIns="45720" rIns="45720" tIns="27432" bIns="27432">
            <a:spAutoFit/>
          </a:bodyPr>
          <a:lstStyle/>
          <a:p>
            <a:pPr algn="l">
              <a:spcAft>
                <a:spcPts val="600"/>
              </a:spcAft>
            </a:pPr>
            <a:r>
              <a:rPr sz="2000" b="0" i="0">
                <a:solidFill>
                  <a:srgbClr val="C8D0DC"/>
                </a:solidFill>
                <a:latin typeface="Segoe UI"/>
              </a:rPr>
              <a:t>Our own MCP server in front of TopDesk: a look ahead</a:t>
            </a:r>
          </a:p>
        </p:txBody>
      </p:sp>
      <p:sp>
        <p:nvSpPr>
          <p:cNvPr id="7" name="TextBox 6"/>
          <p:cNvSpPr txBox="1"/>
          <p:nvPr/>
        </p:nvSpPr>
        <p:spPr>
          <a:xfrm>
            <a:off x="457200" y="6446520"/>
            <a:ext cx="7315200" cy="274320"/>
          </a:xfrm>
          <a:prstGeom prst="rect">
            <a:avLst/>
          </a:prstGeom>
          <a:noFill/>
        </p:spPr>
        <p:txBody>
          <a:bodyPr wrap="square" anchor="t" lIns="45720" rIns="45720" tIns="27432" bIns="27432">
            <a:spAutoFit/>
          </a:bodyPr>
          <a:lstStyle/>
          <a:p>
            <a:pPr algn="l">
              <a:spcAft>
                <a:spcPts val="600"/>
              </a:spcAft>
            </a:pPr>
            <a:r>
              <a:rPr sz="1000" b="0" i="0">
                <a:solidFill>
                  <a:srgbClr val="B0B8C4"/>
                </a:solidFill>
                <a:latin typeface="Segoe UI"/>
              </a:rPr>
              <a:t>AI in service management  |  ShopFast workshop</a:t>
            </a:r>
          </a:p>
        </p:txBody>
      </p:sp>
      <p:sp>
        <p:nvSpPr>
          <p:cNvPr id="8" name="TextBox 7"/>
          <p:cNvSpPr txBox="1"/>
          <p:nvPr/>
        </p:nvSpPr>
        <p:spPr>
          <a:xfrm>
            <a:off x="10972800" y="6446520"/>
            <a:ext cx="777240" cy="274320"/>
          </a:xfrm>
          <a:prstGeom prst="rect">
            <a:avLst/>
          </a:prstGeom>
          <a:noFill/>
        </p:spPr>
        <p:txBody>
          <a:bodyPr wrap="square" anchor="t" lIns="45720" rIns="45720" tIns="27432" bIns="27432">
            <a:spAutoFit/>
          </a:bodyPr>
          <a:lstStyle/>
          <a:p>
            <a:pPr algn="r">
              <a:spcAft>
                <a:spcPts val="600"/>
              </a:spcAft>
            </a:pPr>
            <a:r>
              <a:rPr sz="1000" b="0" i="0">
                <a:solidFill>
                  <a:srgbClr val="B0B8C4"/>
                </a:solidFill>
                <a:latin typeface="Segoe U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08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274320"/>
            <a:ext cx="10972800" cy="320040"/>
          </a:xfrm>
          <a:prstGeom prst="rect">
            <a:avLst/>
          </a:prstGeom>
          <a:noFill/>
        </p:spPr>
        <p:txBody>
          <a:bodyPr wrap="square" anchor="t" lIns="45720" rIns="45720" tIns="27432" bIns="27432">
            <a:spAutoFit/>
          </a:bodyPr>
          <a:lstStyle/>
          <a:p>
            <a:pPr algn="l">
              <a:spcAft>
                <a:spcPts val="600"/>
              </a:spcAft>
            </a:pPr>
            <a:r>
              <a:rPr sz="1200" b="1" i="0">
                <a:solidFill>
                  <a:srgbClr val="008C8A"/>
                </a:solidFill>
                <a:latin typeface="Segoe UI"/>
              </a:rPr>
              <a:t>THE PROBLEM</a:t>
            </a:r>
          </a:p>
        </p:txBody>
      </p:sp>
      <p:sp>
        <p:nvSpPr>
          <p:cNvPr id="4" name="TextBox 3"/>
          <p:cNvSpPr txBox="1"/>
          <p:nvPr/>
        </p:nvSpPr>
        <p:spPr>
          <a:xfrm>
            <a:off x="457200" y="530352"/>
            <a:ext cx="11247120" cy="731520"/>
          </a:xfrm>
          <a:prstGeom prst="rect">
            <a:avLst/>
          </a:prstGeom>
          <a:noFill/>
        </p:spPr>
        <p:txBody>
          <a:bodyPr wrap="square" anchor="t" lIns="45720" rIns="45720" tIns="27432" bIns="27432">
            <a:spAutoFit/>
          </a:bodyPr>
          <a:lstStyle/>
          <a:p>
            <a:pPr algn="l">
              <a:spcAft>
                <a:spcPts val="600"/>
              </a:spcAft>
            </a:pPr>
            <a:r>
              <a:rPr sz="3000" b="1" i="0">
                <a:solidFill>
                  <a:srgbClr val="1F2A44"/>
                </a:solidFill>
                <a:latin typeface="Segoe UI"/>
              </a:rPr>
              <a:t>Today: we are the copy-paste layer</a:t>
            </a:r>
          </a:p>
        </p:txBody>
      </p:sp>
      <p:sp>
        <p:nvSpPr>
          <p:cNvPr id="5" name="TextBox 4"/>
          <p:cNvSpPr txBox="1"/>
          <p:nvPr/>
        </p:nvSpPr>
        <p:spPr>
          <a:xfrm>
            <a:off x="457200" y="6446520"/>
            <a:ext cx="7315200" cy="274320"/>
          </a:xfrm>
          <a:prstGeom prst="rect">
            <a:avLst/>
          </a:prstGeom>
          <a:noFill/>
        </p:spPr>
        <p:txBody>
          <a:bodyPr wrap="square" anchor="t" lIns="45720" rIns="45720" tIns="27432" bIns="27432">
            <a:spAutoFit/>
          </a:bodyPr>
          <a:lstStyle/>
          <a:p>
            <a:pPr algn="l">
              <a:spcAft>
                <a:spcPts val="600"/>
              </a:spcAft>
            </a:pPr>
            <a:r>
              <a:rPr sz="1000" b="0" i="0">
                <a:solidFill>
                  <a:srgbClr val="5F6368"/>
                </a:solidFill>
                <a:latin typeface="Segoe UI"/>
              </a:rPr>
              <a:t>AI in service management  |  ShopFast workshop</a:t>
            </a:r>
          </a:p>
        </p:txBody>
      </p:sp>
      <p:sp>
        <p:nvSpPr>
          <p:cNvPr id="6" name="TextBox 5"/>
          <p:cNvSpPr txBox="1"/>
          <p:nvPr/>
        </p:nvSpPr>
        <p:spPr>
          <a:xfrm>
            <a:off x="10972800" y="6446520"/>
            <a:ext cx="777240" cy="274320"/>
          </a:xfrm>
          <a:prstGeom prst="rect">
            <a:avLst/>
          </a:prstGeom>
          <a:noFill/>
        </p:spPr>
        <p:txBody>
          <a:bodyPr wrap="square" anchor="t" lIns="45720" rIns="45720" tIns="27432" bIns="27432">
            <a:spAutoFit/>
          </a:bodyPr>
          <a:lstStyle/>
          <a:p>
            <a:pPr algn="r">
              <a:spcAft>
                <a:spcPts val="600"/>
              </a:spcAft>
            </a:pPr>
            <a:r>
              <a:rPr sz="1000" b="0" i="0">
                <a:solidFill>
                  <a:srgbClr val="5F6368"/>
                </a:solidFill>
                <a:latin typeface="Segoe UI"/>
              </a:rPr>
              <a:t>16</a:t>
            </a:r>
          </a:p>
        </p:txBody>
      </p:sp>
      <p:sp>
        <p:nvSpPr>
          <p:cNvPr id="7" name="Rounded Rectangle 6"/>
          <p:cNvSpPr/>
          <p:nvPr/>
        </p:nvSpPr>
        <p:spPr>
          <a:xfrm>
            <a:off x="822960" y="2103120"/>
            <a:ext cx="2651760" cy="1371600"/>
          </a:xfrm>
          <a:prstGeom prst="roundRect">
            <a:avLst>
              <a:gd name="adj" fmla="val 8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FFFFFF"/>
                </a:solidFill>
                <a:latin typeface="Segoe UI"/>
              </a:rPr>
              <a:t>TopDesk</a:t>
            </a:r>
          </a:p>
          <a:p>
            <a:pPr algn="ctr"/>
            <a:r>
              <a:rPr sz="1200" b="0" i="0">
                <a:solidFill>
                  <a:srgbClr val="FFFFFF"/>
                </a:solidFill>
                <a:latin typeface="Segoe UI"/>
              </a:rPr>
              <a:t>incidents, problems, changes</a:t>
            </a:r>
          </a:p>
        </p:txBody>
      </p:sp>
      <p:sp>
        <p:nvSpPr>
          <p:cNvPr id="8" name="Rounded Rectangle 7"/>
          <p:cNvSpPr/>
          <p:nvPr/>
        </p:nvSpPr>
        <p:spPr>
          <a:xfrm>
            <a:off x="4754880" y="2103120"/>
            <a:ext cx="2651760" cy="1371600"/>
          </a:xfrm>
          <a:prstGeom prst="roundRect">
            <a:avLst>
              <a:gd name="adj" fmla="val 8000"/>
            </a:avLst>
          </a:prstGeom>
          <a:solidFill>
            <a:srgbClr val="5F63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FFFFFF"/>
                </a:solidFill>
                <a:latin typeface="Segoe UI"/>
              </a:rPr>
              <a:t>Engineer</a:t>
            </a:r>
          </a:p>
          <a:p>
            <a:pPr algn="ctr"/>
            <a:r>
              <a:rPr sz="1200" b="0" i="0">
                <a:solidFill>
                  <a:srgbClr val="FFFFFF"/>
                </a:solidFill>
                <a:latin typeface="Segoe UI"/>
              </a:rPr>
              <a:t>copy · paste · retype</a:t>
            </a:r>
          </a:p>
        </p:txBody>
      </p:sp>
      <p:sp>
        <p:nvSpPr>
          <p:cNvPr id="9" name="Rounded Rectangle 8"/>
          <p:cNvSpPr/>
          <p:nvPr/>
        </p:nvSpPr>
        <p:spPr>
          <a:xfrm>
            <a:off x="8686800" y="2103120"/>
            <a:ext cx="2651760" cy="1371600"/>
          </a:xfrm>
          <a:prstGeom prst="roundRect">
            <a:avLst>
              <a:gd name="adj" fmla="val 8000"/>
            </a:avLst>
          </a:prstGeom>
          <a:solidFill>
            <a:srgbClr val="008C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FFFFFF"/>
                </a:solidFill>
                <a:latin typeface="Segoe UI"/>
              </a:rPr>
              <a:t>Copilot</a:t>
            </a:r>
          </a:p>
          <a:p>
            <a:pPr algn="ctr"/>
            <a:r>
              <a:rPr sz="1200" b="0" i="0">
                <a:solidFill>
                  <a:srgbClr val="FFFFFF"/>
                </a:solidFill>
                <a:latin typeface="Segoe UI"/>
              </a:rPr>
              <a:t>chat / CLI</a:t>
            </a:r>
          </a:p>
        </p:txBody>
      </p:sp>
      <p:sp>
        <p:nvSpPr>
          <p:cNvPr id="10" name="Left-Right Arrow 9"/>
          <p:cNvSpPr/>
          <p:nvPr/>
        </p:nvSpPr>
        <p:spPr>
          <a:xfrm>
            <a:off x="3611880" y="2606040"/>
            <a:ext cx="1005840" cy="411480"/>
          </a:xfrm>
          <a:prstGeom prst="leftRightArrow">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Left-Right Arrow 10"/>
          <p:cNvSpPr/>
          <p:nvPr/>
        </p:nvSpPr>
        <p:spPr>
          <a:xfrm>
            <a:off x="7543800" y="2606040"/>
            <a:ext cx="1005840" cy="411480"/>
          </a:xfrm>
          <a:prstGeom prst="leftRightArrow">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3931920"/>
            <a:ext cx="10515600" cy="457200"/>
          </a:xfrm>
          <a:prstGeom prst="rect">
            <a:avLst/>
          </a:prstGeom>
          <a:noFill/>
        </p:spPr>
        <p:txBody>
          <a:bodyPr wrap="square" anchor="t" lIns="45720" rIns="45720" tIns="27432" bIns="27432">
            <a:spAutoFit/>
          </a:bodyPr>
          <a:lstStyle/>
          <a:p>
            <a:pPr algn="l">
              <a:spcAft>
                <a:spcPts val="600"/>
              </a:spcAft>
            </a:pPr>
            <a:r>
              <a:rPr sz="2000" b="1" i="0">
                <a:solidFill>
                  <a:srgbClr val="1F2A44"/>
                </a:solidFill>
                <a:latin typeface="Segoe UI"/>
              </a:rPr>
              <a:t>What that costs us</a:t>
            </a:r>
          </a:p>
        </p:txBody>
      </p:sp>
      <p:sp>
        <p:nvSpPr>
          <p:cNvPr id="13" name="TextBox 12"/>
          <p:cNvSpPr txBox="1"/>
          <p:nvPr/>
        </p:nvSpPr>
        <p:spPr>
          <a:xfrm>
            <a:off x="822960" y="4434840"/>
            <a:ext cx="5120640" cy="1828800"/>
          </a:xfrm>
          <a:prstGeom prst="rect">
            <a:avLst/>
          </a:prstGeom>
          <a:noFill/>
        </p:spPr>
        <p:txBody>
          <a:bodyPr wrap="square" anchor="t" lIns="45720" rIns="45720" tIns="27432" bIns="27432">
            <a:spAutoFit/>
          </a:bodyPr>
          <a:lstStyle/>
          <a:p>
            <a:pPr algn="l">
              <a:spcAft>
                <a:spcPts val="600"/>
              </a:spcAft>
            </a:pPr>
            <a:r>
              <a:rPr sz="1600" b="0" i="0">
                <a:solidFill>
                  <a:srgbClr val="202124"/>
                </a:solidFill>
                <a:latin typeface="Segoe UI"/>
              </a:rPr>
              <a:t>• Time: copying ticket text, history and related records</a:t>
            </a:r>
          </a:p>
          <a:p>
            <a:pPr algn="l">
              <a:spcAft>
                <a:spcPts val="600"/>
              </a:spcAft>
            </a:pPr>
            <a:r>
              <a:rPr sz="1600" b="0" i="0">
                <a:solidFill>
                  <a:srgbClr val="202124"/>
                </a:solidFill>
                <a:latin typeface="Segoe UI"/>
              </a:rPr>
              <a:t>• Context: AI only sees what we remember to paste</a:t>
            </a:r>
          </a:p>
        </p:txBody>
      </p:sp>
      <p:sp>
        <p:nvSpPr>
          <p:cNvPr id="14" name="TextBox 13"/>
          <p:cNvSpPr txBox="1"/>
          <p:nvPr/>
        </p:nvSpPr>
        <p:spPr>
          <a:xfrm>
            <a:off x="6217920" y="4434840"/>
            <a:ext cx="5120640" cy="1828800"/>
          </a:xfrm>
          <a:prstGeom prst="rect">
            <a:avLst/>
          </a:prstGeom>
          <a:noFill/>
        </p:spPr>
        <p:txBody>
          <a:bodyPr wrap="square" anchor="t" lIns="45720" rIns="45720" tIns="27432" bIns="27432">
            <a:spAutoFit/>
          </a:bodyPr>
          <a:lstStyle/>
          <a:p>
            <a:pPr algn="l">
              <a:spcAft>
                <a:spcPts val="600"/>
              </a:spcAft>
            </a:pPr>
            <a:r>
              <a:rPr sz="1600" b="0" i="0">
                <a:solidFill>
                  <a:srgbClr val="202124"/>
                </a:solidFill>
                <a:latin typeface="Segoe UI"/>
              </a:rPr>
              <a:t>• Quality: AI output never makes it back into TopDesk</a:t>
            </a:r>
          </a:p>
          <a:p>
            <a:pPr algn="l">
              <a:spcAft>
                <a:spcPts val="600"/>
              </a:spcAft>
            </a:pPr>
            <a:r>
              <a:rPr sz="1600" b="0" i="0">
                <a:solidFill>
                  <a:srgbClr val="202124"/>
                </a:solidFill>
                <a:latin typeface="Segoe UI"/>
              </a:rPr>
              <a:t>• Risk: data copied around outside a controlled channel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08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274320"/>
            <a:ext cx="10972800" cy="320040"/>
          </a:xfrm>
          <a:prstGeom prst="rect">
            <a:avLst/>
          </a:prstGeom>
          <a:noFill/>
        </p:spPr>
        <p:txBody>
          <a:bodyPr wrap="square" anchor="t" lIns="45720" rIns="45720" tIns="27432" bIns="27432">
            <a:spAutoFit/>
          </a:bodyPr>
          <a:lstStyle/>
          <a:p>
            <a:pPr algn="l">
              <a:spcAft>
                <a:spcPts val="600"/>
              </a:spcAft>
            </a:pPr>
            <a:r>
              <a:rPr sz="1200" b="1" i="0">
                <a:solidFill>
                  <a:srgbClr val="008C8A"/>
                </a:solidFill>
                <a:latin typeface="Segoe UI"/>
              </a:rPr>
              <a:t>MODEL CONTEXT PROTOCOL</a:t>
            </a:r>
          </a:p>
        </p:txBody>
      </p:sp>
      <p:sp>
        <p:nvSpPr>
          <p:cNvPr id="4" name="TextBox 3"/>
          <p:cNvSpPr txBox="1"/>
          <p:nvPr/>
        </p:nvSpPr>
        <p:spPr>
          <a:xfrm>
            <a:off x="457200" y="530352"/>
            <a:ext cx="11247120" cy="731520"/>
          </a:xfrm>
          <a:prstGeom prst="rect">
            <a:avLst/>
          </a:prstGeom>
          <a:noFill/>
        </p:spPr>
        <p:txBody>
          <a:bodyPr wrap="square" anchor="t" lIns="45720" rIns="45720" tIns="27432" bIns="27432">
            <a:spAutoFit/>
          </a:bodyPr>
          <a:lstStyle/>
          <a:p>
            <a:pPr algn="l">
              <a:spcAft>
                <a:spcPts val="600"/>
              </a:spcAft>
            </a:pPr>
            <a:r>
              <a:rPr sz="3000" b="1" i="0">
                <a:solidFill>
                  <a:srgbClr val="1F2A44"/>
                </a:solidFill>
                <a:latin typeface="Segoe UI"/>
              </a:rPr>
              <a:t>MCP: a standard plug between AI and our systems</a:t>
            </a:r>
          </a:p>
        </p:txBody>
      </p:sp>
      <p:sp>
        <p:nvSpPr>
          <p:cNvPr id="5" name="TextBox 4"/>
          <p:cNvSpPr txBox="1"/>
          <p:nvPr/>
        </p:nvSpPr>
        <p:spPr>
          <a:xfrm>
            <a:off x="457200" y="6446520"/>
            <a:ext cx="7315200" cy="274320"/>
          </a:xfrm>
          <a:prstGeom prst="rect">
            <a:avLst/>
          </a:prstGeom>
          <a:noFill/>
        </p:spPr>
        <p:txBody>
          <a:bodyPr wrap="square" anchor="t" lIns="45720" rIns="45720" tIns="27432" bIns="27432">
            <a:spAutoFit/>
          </a:bodyPr>
          <a:lstStyle/>
          <a:p>
            <a:pPr algn="l">
              <a:spcAft>
                <a:spcPts val="600"/>
              </a:spcAft>
            </a:pPr>
            <a:r>
              <a:rPr sz="1000" b="0" i="0">
                <a:solidFill>
                  <a:srgbClr val="5F6368"/>
                </a:solidFill>
                <a:latin typeface="Segoe UI"/>
              </a:rPr>
              <a:t>AI in service management  |  ShopFast workshop</a:t>
            </a:r>
          </a:p>
        </p:txBody>
      </p:sp>
      <p:sp>
        <p:nvSpPr>
          <p:cNvPr id="6" name="TextBox 5"/>
          <p:cNvSpPr txBox="1"/>
          <p:nvPr/>
        </p:nvSpPr>
        <p:spPr>
          <a:xfrm>
            <a:off x="10972800" y="6446520"/>
            <a:ext cx="777240" cy="274320"/>
          </a:xfrm>
          <a:prstGeom prst="rect">
            <a:avLst/>
          </a:prstGeom>
          <a:noFill/>
        </p:spPr>
        <p:txBody>
          <a:bodyPr wrap="square" anchor="t" lIns="45720" rIns="45720" tIns="27432" bIns="27432">
            <a:spAutoFit/>
          </a:bodyPr>
          <a:lstStyle/>
          <a:p>
            <a:pPr algn="r">
              <a:spcAft>
                <a:spcPts val="600"/>
              </a:spcAft>
            </a:pPr>
            <a:r>
              <a:rPr sz="1000" b="0" i="0">
                <a:solidFill>
                  <a:srgbClr val="5F6368"/>
                </a:solidFill>
                <a:latin typeface="Segoe UI"/>
              </a:rPr>
              <a:t>17</a:t>
            </a:r>
          </a:p>
        </p:txBody>
      </p:sp>
      <p:sp>
        <p:nvSpPr>
          <p:cNvPr id="7" name="TextBox 6"/>
          <p:cNvSpPr txBox="1"/>
          <p:nvPr/>
        </p:nvSpPr>
        <p:spPr>
          <a:xfrm>
            <a:off x="731520" y="1463040"/>
            <a:ext cx="5120640" cy="4480560"/>
          </a:xfrm>
          <a:prstGeom prst="rect">
            <a:avLst/>
          </a:prstGeom>
          <a:noFill/>
        </p:spPr>
        <p:txBody>
          <a:bodyPr wrap="square" anchor="t" lIns="45720" rIns="45720" tIns="27432" bIns="27432">
            <a:spAutoFit/>
          </a:bodyPr>
          <a:lstStyle/>
          <a:p>
            <a:pPr algn="l">
              <a:spcAft>
                <a:spcPts val="1200"/>
              </a:spcAft>
            </a:pPr>
            <a:r>
              <a:rPr sz="1700" b="0" i="0">
                <a:solidFill>
                  <a:srgbClr val="202124"/>
                </a:solidFill>
                <a:latin typeface="Segoe UI"/>
              </a:rPr>
              <a:t>• Open standard, introduced by Anthropic in late 2024, now widely adopted</a:t>
            </a:r>
          </a:p>
          <a:p>
            <a:pPr algn="l">
              <a:spcAft>
                <a:spcPts val="1200"/>
              </a:spcAft>
            </a:pPr>
            <a:r>
              <a:rPr sz="1700" b="0" i="0">
                <a:solidFill>
                  <a:srgbClr val="202124"/>
                </a:solidFill>
                <a:latin typeface="Segoe UI"/>
              </a:rPr>
              <a:t>• Think of it as “USB-C for AI”: one way to connect any AI assistant to any tool</a:t>
            </a:r>
          </a:p>
          <a:p>
            <a:pPr algn="l">
              <a:spcAft>
                <a:spcPts val="1200"/>
              </a:spcAft>
            </a:pPr>
            <a:r>
              <a:rPr sz="1700" b="0" i="0">
                <a:solidFill>
                  <a:srgbClr val="202124"/>
                </a:solidFill>
                <a:latin typeface="Segoe UI"/>
              </a:rPr>
              <a:t>• An MCP server exposes tools (e.g. get_incident) with a description and parameters</a:t>
            </a:r>
          </a:p>
          <a:p>
            <a:pPr algn="l">
              <a:spcAft>
                <a:spcPts val="1200"/>
              </a:spcAft>
            </a:pPr>
            <a:r>
              <a:rPr sz="1700" b="0" i="0">
                <a:solidFill>
                  <a:srgbClr val="202124"/>
                </a:solidFill>
                <a:latin typeface="Segoe UI"/>
              </a:rPr>
              <a:t>• The AI decides when to call a tool; you see and approve each call</a:t>
            </a:r>
          </a:p>
          <a:p>
            <a:pPr algn="l">
              <a:spcAft>
                <a:spcPts val="1200"/>
              </a:spcAft>
            </a:pPr>
            <a:r>
              <a:rPr sz="1700" b="0" i="0">
                <a:solidFill>
                  <a:srgbClr val="202124"/>
                </a:solidFill>
                <a:latin typeface="Segoe UI"/>
              </a:rPr>
              <a:t>• Supported by GitHub Copilot in VS Code, Visual Studio and the Copilot CLI</a:t>
            </a:r>
          </a:p>
          <a:p>
            <a:pPr algn="l">
              <a:spcAft>
                <a:spcPts val="1200"/>
              </a:spcAft>
            </a:pPr>
            <a:r>
              <a:rPr sz="1700" b="0" i="0">
                <a:solidFill>
                  <a:srgbClr val="202124"/>
                </a:solidFill>
                <a:latin typeface="Segoe UI"/>
              </a:rPr>
              <a:t>• Ready-made servers exist for GitHub, Azure, Grafana and others, but not for TopDesk</a:t>
            </a:r>
          </a:p>
        </p:txBody>
      </p:sp>
      <p:sp>
        <p:nvSpPr>
          <p:cNvPr id="8" name="Rounded Rectangle 7"/>
          <p:cNvSpPr/>
          <p:nvPr/>
        </p:nvSpPr>
        <p:spPr>
          <a:xfrm>
            <a:off x="6400800" y="1645920"/>
            <a:ext cx="2194560" cy="1097280"/>
          </a:xfrm>
          <a:prstGeom prst="roundRect">
            <a:avLst>
              <a:gd name="adj" fmla="val 8000"/>
            </a:avLst>
          </a:prstGeom>
          <a:solidFill>
            <a:srgbClr val="008C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FFFFFF"/>
                </a:solidFill>
                <a:latin typeface="Segoe UI"/>
              </a:rPr>
              <a:t>AI assistant</a:t>
            </a:r>
          </a:p>
          <a:p>
            <a:pPr algn="ctr"/>
            <a:r>
              <a:rPr sz="1200" b="0" i="0">
                <a:solidFill>
                  <a:srgbClr val="FFFFFF"/>
                </a:solidFill>
                <a:latin typeface="Segoe UI"/>
              </a:rPr>
              <a:t>Copilot</a:t>
            </a:r>
          </a:p>
        </p:txBody>
      </p:sp>
      <p:sp>
        <p:nvSpPr>
          <p:cNvPr id="9" name="Rounded Rectangle 8"/>
          <p:cNvSpPr/>
          <p:nvPr/>
        </p:nvSpPr>
        <p:spPr>
          <a:xfrm>
            <a:off x="9601200" y="1463040"/>
            <a:ext cx="1920240" cy="685800"/>
          </a:xfrm>
          <a:prstGeom prst="roundRect">
            <a:avLst>
              <a:gd name="adj" fmla="val 8000"/>
            </a:avLst>
          </a:prstGeom>
          <a:solidFill>
            <a:srgbClr val="5F63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FFFFFF"/>
                </a:solidFill>
                <a:latin typeface="Segoe UI"/>
              </a:rPr>
              <a:t>GitHub MCP</a:t>
            </a:r>
          </a:p>
        </p:txBody>
      </p:sp>
      <p:sp>
        <p:nvSpPr>
          <p:cNvPr id="10" name="Rounded Rectangle 9"/>
          <p:cNvSpPr/>
          <p:nvPr/>
        </p:nvSpPr>
        <p:spPr>
          <a:xfrm>
            <a:off x="9601200" y="2377440"/>
            <a:ext cx="1920240" cy="685800"/>
          </a:xfrm>
          <a:prstGeom prst="roundRect">
            <a:avLst>
              <a:gd name="adj" fmla="val 8000"/>
            </a:avLst>
          </a:prstGeom>
          <a:solidFill>
            <a:srgbClr val="5F63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FFFFFF"/>
                </a:solidFill>
                <a:latin typeface="Segoe UI"/>
              </a:rPr>
              <a:t>Grafana MCP</a:t>
            </a:r>
          </a:p>
        </p:txBody>
      </p:sp>
      <p:sp>
        <p:nvSpPr>
          <p:cNvPr id="11" name="Rounded Rectangle 10"/>
          <p:cNvSpPr/>
          <p:nvPr/>
        </p:nvSpPr>
        <p:spPr>
          <a:xfrm>
            <a:off x="9601200" y="3291840"/>
            <a:ext cx="1920240" cy="685800"/>
          </a:xfrm>
          <a:prstGeom prst="roundRect">
            <a:avLst>
              <a:gd name="adj" fmla="val 8000"/>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FFFFFF"/>
                </a:solidFill>
                <a:latin typeface="Segoe UI"/>
              </a:rPr>
              <a:t>TopDesk MCP ?</a:t>
            </a:r>
          </a:p>
        </p:txBody>
      </p:sp>
      <p:sp>
        <p:nvSpPr>
          <p:cNvPr id="12" name="Left-Right Arrow 11"/>
          <p:cNvSpPr/>
          <p:nvPr/>
        </p:nvSpPr>
        <p:spPr>
          <a:xfrm>
            <a:off x="8686800" y="2011680"/>
            <a:ext cx="822960" cy="365760"/>
          </a:xfrm>
          <a:prstGeom prst="leftRightArrow">
            <a:avLst/>
          </a:prstGeom>
          <a:solidFill>
            <a:srgbClr val="5F63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41080" y="2423160"/>
            <a:ext cx="1005840" cy="365760"/>
          </a:xfrm>
          <a:prstGeom prst="rect">
            <a:avLst/>
          </a:prstGeom>
          <a:noFill/>
        </p:spPr>
        <p:txBody>
          <a:bodyPr wrap="square" anchor="t" lIns="45720" rIns="45720" tIns="27432" bIns="27432">
            <a:spAutoFit/>
          </a:bodyPr>
          <a:lstStyle/>
          <a:p>
            <a:pPr algn="ctr">
              <a:spcAft>
                <a:spcPts val="600"/>
              </a:spcAft>
            </a:pPr>
            <a:r>
              <a:rPr sz="1200" b="1" i="0">
                <a:solidFill>
                  <a:srgbClr val="5F6368"/>
                </a:solidFill>
                <a:latin typeface="Segoe UI"/>
              </a:rPr>
              <a:t>MCP</a:t>
            </a:r>
          </a:p>
        </p:txBody>
      </p:sp>
      <p:sp>
        <p:nvSpPr>
          <p:cNvPr id="14" name="Rounded Rectangle 13"/>
          <p:cNvSpPr/>
          <p:nvPr/>
        </p:nvSpPr>
        <p:spPr>
          <a:xfrm>
            <a:off x="6400800" y="4206240"/>
            <a:ext cx="5120640" cy="1234440"/>
          </a:xfrm>
          <a:prstGeom prst="roundRect">
            <a:avLst>
              <a:gd name="adj" fmla="val 8000"/>
            </a:avLst>
          </a:prstGeom>
          <a:solidFill>
            <a:srgbClr val="FDE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583680" y="4297680"/>
            <a:ext cx="4754880" cy="1097280"/>
          </a:xfrm>
          <a:prstGeom prst="rect">
            <a:avLst/>
          </a:prstGeom>
          <a:noFill/>
        </p:spPr>
        <p:txBody>
          <a:bodyPr wrap="square" anchor="t" lIns="45720" rIns="45720" tIns="27432" bIns="27432">
            <a:spAutoFit/>
          </a:bodyPr>
          <a:lstStyle/>
          <a:p>
            <a:pPr algn="l">
              <a:spcAft>
                <a:spcPts val="600"/>
              </a:spcAft>
            </a:pPr>
            <a:r>
              <a:rPr sz="1600" b="1" i="0">
                <a:solidFill>
                  <a:srgbClr val="E07A1F"/>
                </a:solidFill>
                <a:latin typeface="Segoe UI"/>
              </a:rPr>
              <a:t>Note</a:t>
            </a:r>
          </a:p>
          <a:p>
            <a:pPr algn="l">
              <a:spcAft>
                <a:spcPts val="600"/>
              </a:spcAft>
            </a:pPr>
            <a:r>
              <a:rPr sz="1500" b="0" i="0">
                <a:solidFill>
                  <a:srgbClr val="202124"/>
                </a:solidFill>
                <a:latin typeface="Segoe UI"/>
              </a:rPr>
              <a:t>TopDesk has no MCP server. But it does have a REST API, so we can build our own MCP server on top of 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08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274320"/>
            <a:ext cx="10972800" cy="320040"/>
          </a:xfrm>
          <a:prstGeom prst="rect">
            <a:avLst/>
          </a:prstGeom>
          <a:noFill/>
        </p:spPr>
        <p:txBody>
          <a:bodyPr wrap="square" anchor="t" lIns="45720" rIns="45720" tIns="27432" bIns="27432">
            <a:spAutoFit/>
          </a:bodyPr>
          <a:lstStyle/>
          <a:p>
            <a:pPr algn="l">
              <a:spcAft>
                <a:spcPts val="600"/>
              </a:spcAft>
            </a:pPr>
            <a:r>
              <a:rPr sz="1200" b="1" i="0">
                <a:solidFill>
                  <a:srgbClr val="008C8A"/>
                </a:solidFill>
                <a:latin typeface="Segoe UI"/>
              </a:rPr>
              <a:t>ARCHITECTURE (CONCEPT)</a:t>
            </a:r>
          </a:p>
        </p:txBody>
      </p:sp>
      <p:sp>
        <p:nvSpPr>
          <p:cNvPr id="4" name="TextBox 3"/>
          <p:cNvSpPr txBox="1"/>
          <p:nvPr/>
        </p:nvSpPr>
        <p:spPr>
          <a:xfrm>
            <a:off x="457200" y="530352"/>
            <a:ext cx="11247120" cy="731520"/>
          </a:xfrm>
          <a:prstGeom prst="rect">
            <a:avLst/>
          </a:prstGeom>
          <a:noFill/>
        </p:spPr>
        <p:txBody>
          <a:bodyPr wrap="square" anchor="t" lIns="45720" rIns="45720" tIns="27432" bIns="27432">
            <a:spAutoFit/>
          </a:bodyPr>
          <a:lstStyle/>
          <a:p>
            <a:pPr algn="l">
              <a:spcAft>
                <a:spcPts val="600"/>
              </a:spcAft>
            </a:pPr>
            <a:r>
              <a:rPr sz="3000" b="1" i="0">
                <a:solidFill>
                  <a:srgbClr val="1F2A44"/>
                </a:solidFill>
                <a:latin typeface="Segoe UI"/>
              </a:rPr>
              <a:t>Our own TopDesk MCP server</a:t>
            </a:r>
          </a:p>
        </p:txBody>
      </p:sp>
      <p:sp>
        <p:nvSpPr>
          <p:cNvPr id="5" name="TextBox 4"/>
          <p:cNvSpPr txBox="1"/>
          <p:nvPr/>
        </p:nvSpPr>
        <p:spPr>
          <a:xfrm>
            <a:off x="457200" y="6446520"/>
            <a:ext cx="7315200" cy="274320"/>
          </a:xfrm>
          <a:prstGeom prst="rect">
            <a:avLst/>
          </a:prstGeom>
          <a:noFill/>
        </p:spPr>
        <p:txBody>
          <a:bodyPr wrap="square" anchor="t" lIns="45720" rIns="45720" tIns="27432" bIns="27432">
            <a:spAutoFit/>
          </a:bodyPr>
          <a:lstStyle/>
          <a:p>
            <a:pPr algn="l">
              <a:spcAft>
                <a:spcPts val="600"/>
              </a:spcAft>
            </a:pPr>
            <a:r>
              <a:rPr sz="1000" b="0" i="0">
                <a:solidFill>
                  <a:srgbClr val="5F6368"/>
                </a:solidFill>
                <a:latin typeface="Segoe UI"/>
              </a:rPr>
              <a:t>AI in service management  |  ShopFast workshop</a:t>
            </a:r>
          </a:p>
        </p:txBody>
      </p:sp>
      <p:sp>
        <p:nvSpPr>
          <p:cNvPr id="6" name="TextBox 5"/>
          <p:cNvSpPr txBox="1"/>
          <p:nvPr/>
        </p:nvSpPr>
        <p:spPr>
          <a:xfrm>
            <a:off x="10972800" y="6446520"/>
            <a:ext cx="777240" cy="274320"/>
          </a:xfrm>
          <a:prstGeom prst="rect">
            <a:avLst/>
          </a:prstGeom>
          <a:noFill/>
        </p:spPr>
        <p:txBody>
          <a:bodyPr wrap="square" anchor="t" lIns="45720" rIns="45720" tIns="27432" bIns="27432">
            <a:spAutoFit/>
          </a:bodyPr>
          <a:lstStyle/>
          <a:p>
            <a:pPr algn="r">
              <a:spcAft>
                <a:spcPts val="600"/>
              </a:spcAft>
            </a:pPr>
            <a:r>
              <a:rPr sz="1000" b="0" i="0">
                <a:solidFill>
                  <a:srgbClr val="5F6368"/>
                </a:solidFill>
                <a:latin typeface="Segoe UI"/>
              </a:rPr>
              <a:t>18</a:t>
            </a:r>
          </a:p>
        </p:txBody>
      </p:sp>
      <p:sp>
        <p:nvSpPr>
          <p:cNvPr id="7" name="Rounded Rectangle 6"/>
          <p:cNvSpPr/>
          <p:nvPr/>
        </p:nvSpPr>
        <p:spPr>
          <a:xfrm>
            <a:off x="548640" y="2194560"/>
            <a:ext cx="2377440" cy="2011680"/>
          </a:xfrm>
          <a:prstGeom prst="roundRect">
            <a:avLst>
              <a:gd name="adj" fmla="val 8000"/>
            </a:avLst>
          </a:prstGeom>
          <a:solidFill>
            <a:srgbClr val="008C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0" i="0">
                <a:solidFill>
                  <a:srgbClr val="FFFFFF"/>
                </a:solidFill>
                <a:latin typeface="Segoe UI"/>
              </a:rPr>
              <a:t>Engineer</a:t>
            </a:r>
          </a:p>
          <a:p>
            <a:pPr algn="ctr"/>
            <a:r>
              <a:rPr sz="2200" b="1" i="0">
                <a:solidFill>
                  <a:srgbClr val="FFFFFF"/>
                </a:solidFill>
                <a:latin typeface="Segoe UI"/>
              </a:rPr>
              <a:t>Copilot</a:t>
            </a:r>
          </a:p>
          <a:p>
            <a:pPr algn="ctr"/>
            <a:r>
              <a:rPr sz="1300" b="0" i="0">
                <a:solidFill>
                  <a:srgbClr val="FFFFFF"/>
                </a:solidFill>
                <a:latin typeface="Segoe UI"/>
              </a:rPr>
              <a:t>VS Code · CLI</a:t>
            </a:r>
          </a:p>
        </p:txBody>
      </p:sp>
      <p:sp>
        <p:nvSpPr>
          <p:cNvPr id="8" name="Right Arrow 7"/>
          <p:cNvSpPr/>
          <p:nvPr/>
        </p:nvSpPr>
        <p:spPr>
          <a:xfrm>
            <a:off x="3017520" y="2971800"/>
            <a:ext cx="914400" cy="457200"/>
          </a:xfrm>
          <a:prstGeom prst="rightArrow">
            <a:avLst/>
          </a:prstGeom>
          <a:solidFill>
            <a:srgbClr val="5F63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80360" y="3474720"/>
            <a:ext cx="1188720" cy="365760"/>
          </a:xfrm>
          <a:prstGeom prst="rect">
            <a:avLst/>
          </a:prstGeom>
          <a:noFill/>
        </p:spPr>
        <p:txBody>
          <a:bodyPr wrap="square" anchor="t" lIns="45720" rIns="45720" tIns="27432" bIns="27432">
            <a:spAutoFit/>
          </a:bodyPr>
          <a:lstStyle/>
          <a:p>
            <a:pPr algn="ctr">
              <a:spcAft>
                <a:spcPts val="600"/>
              </a:spcAft>
            </a:pPr>
            <a:r>
              <a:rPr sz="1300" b="1" i="0">
                <a:solidFill>
                  <a:srgbClr val="5F6368"/>
                </a:solidFill>
                <a:latin typeface="Segoe UI"/>
              </a:rPr>
              <a:t>MCP</a:t>
            </a:r>
          </a:p>
        </p:txBody>
      </p:sp>
      <p:sp>
        <p:nvSpPr>
          <p:cNvPr id="10" name="Rounded Rectangle 9"/>
          <p:cNvSpPr/>
          <p:nvPr/>
        </p:nvSpPr>
        <p:spPr>
          <a:xfrm>
            <a:off x="4069080" y="1508760"/>
            <a:ext cx="4206240" cy="4297680"/>
          </a:xfrm>
          <a:prstGeom prst="roundRect">
            <a:avLst>
              <a:gd name="adj" fmla="val 8000"/>
            </a:avLst>
          </a:prstGeom>
          <a:solidFill>
            <a:srgbClr val="FDEFE3"/>
          </a:solidFill>
          <a:ln w="15875">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251960" y="1600200"/>
            <a:ext cx="3840480" cy="457200"/>
          </a:xfrm>
          <a:prstGeom prst="rect">
            <a:avLst/>
          </a:prstGeom>
          <a:noFill/>
        </p:spPr>
        <p:txBody>
          <a:bodyPr wrap="square" anchor="t" lIns="45720" rIns="45720" tIns="27432" bIns="27432">
            <a:spAutoFit/>
          </a:bodyPr>
          <a:lstStyle/>
          <a:p>
            <a:pPr algn="l">
              <a:spcAft>
                <a:spcPts val="600"/>
              </a:spcAft>
            </a:pPr>
            <a:r>
              <a:rPr sz="1800" b="1" i="0">
                <a:solidFill>
                  <a:srgbClr val="E07A1F"/>
                </a:solidFill>
                <a:latin typeface="Segoe UI"/>
              </a:rPr>
              <a:t>TopDesk MCP server (ours)</a:t>
            </a:r>
          </a:p>
        </p:txBody>
      </p:sp>
      <p:sp>
        <p:nvSpPr>
          <p:cNvPr id="12" name="Rounded Rectangle 11"/>
          <p:cNvSpPr/>
          <p:nvPr/>
        </p:nvSpPr>
        <p:spPr>
          <a:xfrm>
            <a:off x="4251960" y="2103120"/>
            <a:ext cx="3840480" cy="65836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389120" y="2148839"/>
            <a:ext cx="1188720" cy="566928"/>
          </a:xfrm>
          <a:prstGeom prst="rect">
            <a:avLst/>
          </a:prstGeom>
          <a:noFill/>
        </p:spPr>
        <p:txBody>
          <a:bodyPr wrap="square" anchor="ctr" lIns="45720" rIns="45720" tIns="27432" bIns="27432">
            <a:spAutoFit/>
          </a:bodyPr>
          <a:lstStyle/>
          <a:p>
            <a:pPr algn="l">
              <a:spcAft>
                <a:spcPts val="600"/>
              </a:spcAft>
            </a:pPr>
            <a:r>
              <a:rPr sz="1400" b="1" i="0">
                <a:solidFill>
                  <a:srgbClr val="1F2A44"/>
                </a:solidFill>
                <a:latin typeface="Segoe UI"/>
              </a:rPr>
              <a:t>Tools</a:t>
            </a:r>
          </a:p>
        </p:txBody>
      </p:sp>
      <p:sp>
        <p:nvSpPr>
          <p:cNvPr id="14" name="TextBox 13"/>
          <p:cNvSpPr txBox="1"/>
          <p:nvPr/>
        </p:nvSpPr>
        <p:spPr>
          <a:xfrm>
            <a:off x="5532120" y="2148839"/>
            <a:ext cx="2514600" cy="566928"/>
          </a:xfrm>
          <a:prstGeom prst="rect">
            <a:avLst/>
          </a:prstGeom>
          <a:noFill/>
        </p:spPr>
        <p:txBody>
          <a:bodyPr wrap="square" anchor="ctr" lIns="45720" rIns="45720" tIns="27432" bIns="27432">
            <a:spAutoFit/>
          </a:bodyPr>
          <a:lstStyle/>
          <a:p>
            <a:pPr algn="l">
              <a:spcAft>
                <a:spcPts val="600"/>
              </a:spcAft>
            </a:pPr>
            <a:r>
              <a:rPr sz="1200" b="0" i="0">
                <a:solidFill>
                  <a:srgbClr val="202124"/>
                </a:solidFill>
                <a:latin typeface="Segoe UI"/>
              </a:rPr>
              <a:t>get_incident, add_action, create_problem …</a:t>
            </a:r>
          </a:p>
        </p:txBody>
      </p:sp>
      <p:sp>
        <p:nvSpPr>
          <p:cNvPr id="15" name="Rounded Rectangle 14"/>
          <p:cNvSpPr/>
          <p:nvPr/>
        </p:nvSpPr>
        <p:spPr>
          <a:xfrm>
            <a:off x="4251960" y="2834639"/>
            <a:ext cx="3840480" cy="65836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389120" y="2880359"/>
            <a:ext cx="1188720" cy="566928"/>
          </a:xfrm>
          <a:prstGeom prst="rect">
            <a:avLst/>
          </a:prstGeom>
          <a:noFill/>
        </p:spPr>
        <p:txBody>
          <a:bodyPr wrap="square" anchor="ctr" lIns="45720" rIns="45720" tIns="27432" bIns="27432">
            <a:spAutoFit/>
          </a:bodyPr>
          <a:lstStyle/>
          <a:p>
            <a:pPr algn="l">
              <a:spcAft>
                <a:spcPts val="600"/>
              </a:spcAft>
            </a:pPr>
            <a:r>
              <a:rPr sz="1400" b="1" i="0">
                <a:solidFill>
                  <a:srgbClr val="1F2A44"/>
                </a:solidFill>
                <a:latin typeface="Segoe UI"/>
              </a:rPr>
              <a:t>Identity</a:t>
            </a:r>
          </a:p>
        </p:txBody>
      </p:sp>
      <p:sp>
        <p:nvSpPr>
          <p:cNvPr id="17" name="TextBox 16"/>
          <p:cNvSpPr txBox="1"/>
          <p:nvPr/>
        </p:nvSpPr>
        <p:spPr>
          <a:xfrm>
            <a:off x="5532120" y="2880359"/>
            <a:ext cx="2514600" cy="566928"/>
          </a:xfrm>
          <a:prstGeom prst="rect">
            <a:avLst/>
          </a:prstGeom>
          <a:noFill/>
        </p:spPr>
        <p:txBody>
          <a:bodyPr wrap="square" anchor="ctr" lIns="45720" rIns="45720" tIns="27432" bIns="27432">
            <a:spAutoFit/>
          </a:bodyPr>
          <a:lstStyle/>
          <a:p>
            <a:pPr algn="l">
              <a:spcAft>
                <a:spcPts val="600"/>
              </a:spcAft>
            </a:pPr>
            <a:r>
              <a:rPr sz="1200" b="0" i="0">
                <a:solidFill>
                  <a:srgbClr val="202124"/>
                </a:solidFill>
                <a:latin typeface="Segoe UI"/>
              </a:rPr>
              <a:t>acts as the engineer: their own TopDesk rights</a:t>
            </a:r>
          </a:p>
        </p:txBody>
      </p:sp>
      <p:sp>
        <p:nvSpPr>
          <p:cNvPr id="18" name="Rounded Rectangle 17"/>
          <p:cNvSpPr/>
          <p:nvPr/>
        </p:nvSpPr>
        <p:spPr>
          <a:xfrm>
            <a:off x="4251960" y="3566159"/>
            <a:ext cx="3840480" cy="65836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389120" y="3611879"/>
            <a:ext cx="1188720" cy="566928"/>
          </a:xfrm>
          <a:prstGeom prst="rect">
            <a:avLst/>
          </a:prstGeom>
          <a:noFill/>
        </p:spPr>
        <p:txBody>
          <a:bodyPr wrap="square" anchor="ctr" lIns="45720" rIns="45720" tIns="27432" bIns="27432">
            <a:spAutoFit/>
          </a:bodyPr>
          <a:lstStyle/>
          <a:p>
            <a:pPr algn="l">
              <a:spcAft>
                <a:spcPts val="600"/>
              </a:spcAft>
            </a:pPr>
            <a:r>
              <a:rPr sz="1400" b="1" i="0">
                <a:solidFill>
                  <a:srgbClr val="1F2A44"/>
                </a:solidFill>
                <a:latin typeface="Segoe UI"/>
              </a:rPr>
              <a:t>Guardrails</a:t>
            </a:r>
          </a:p>
        </p:txBody>
      </p:sp>
      <p:sp>
        <p:nvSpPr>
          <p:cNvPr id="20" name="TextBox 19"/>
          <p:cNvSpPr txBox="1"/>
          <p:nvPr/>
        </p:nvSpPr>
        <p:spPr>
          <a:xfrm>
            <a:off x="5532120" y="3611879"/>
            <a:ext cx="2514600" cy="566928"/>
          </a:xfrm>
          <a:prstGeom prst="rect">
            <a:avLst/>
          </a:prstGeom>
          <a:noFill/>
        </p:spPr>
        <p:txBody>
          <a:bodyPr wrap="square" anchor="ctr" lIns="45720" rIns="45720" tIns="27432" bIns="27432">
            <a:spAutoFit/>
          </a:bodyPr>
          <a:lstStyle/>
          <a:p>
            <a:pPr algn="l">
              <a:spcAft>
                <a:spcPts val="600"/>
              </a:spcAft>
            </a:pPr>
            <a:r>
              <a:rPr sz="1200" b="0" i="0">
                <a:solidFill>
                  <a:srgbClr val="202124"/>
                </a:solidFill>
                <a:latin typeface="Segoe UI"/>
              </a:rPr>
              <a:t>read by default; writes need confirmation</a:t>
            </a:r>
          </a:p>
        </p:txBody>
      </p:sp>
      <p:sp>
        <p:nvSpPr>
          <p:cNvPr id="21" name="Rounded Rectangle 20"/>
          <p:cNvSpPr/>
          <p:nvPr/>
        </p:nvSpPr>
        <p:spPr>
          <a:xfrm>
            <a:off x="4251960" y="4297679"/>
            <a:ext cx="3840480" cy="65836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389120" y="4343399"/>
            <a:ext cx="1188720" cy="566928"/>
          </a:xfrm>
          <a:prstGeom prst="rect">
            <a:avLst/>
          </a:prstGeom>
          <a:noFill/>
        </p:spPr>
        <p:txBody>
          <a:bodyPr wrap="square" anchor="ctr" lIns="45720" rIns="45720" tIns="27432" bIns="27432">
            <a:spAutoFit/>
          </a:bodyPr>
          <a:lstStyle/>
          <a:p>
            <a:pPr algn="l">
              <a:spcAft>
                <a:spcPts val="600"/>
              </a:spcAft>
            </a:pPr>
            <a:r>
              <a:rPr sz="1400" b="1" i="0">
                <a:solidFill>
                  <a:srgbClr val="1F2A44"/>
                </a:solidFill>
                <a:latin typeface="Segoe UI"/>
              </a:rPr>
              <a:t>Privacy</a:t>
            </a:r>
          </a:p>
        </p:txBody>
      </p:sp>
      <p:sp>
        <p:nvSpPr>
          <p:cNvPr id="23" name="TextBox 22"/>
          <p:cNvSpPr txBox="1"/>
          <p:nvPr/>
        </p:nvSpPr>
        <p:spPr>
          <a:xfrm>
            <a:off x="5532120" y="4343399"/>
            <a:ext cx="2514600" cy="566928"/>
          </a:xfrm>
          <a:prstGeom prst="rect">
            <a:avLst/>
          </a:prstGeom>
          <a:noFill/>
        </p:spPr>
        <p:txBody>
          <a:bodyPr wrap="square" anchor="ctr" lIns="45720" rIns="45720" tIns="27432" bIns="27432">
            <a:spAutoFit/>
          </a:bodyPr>
          <a:lstStyle/>
          <a:p>
            <a:pPr algn="l">
              <a:spcAft>
                <a:spcPts val="600"/>
              </a:spcAft>
            </a:pPr>
            <a:r>
              <a:rPr sz="1200" b="0" i="0">
                <a:solidFill>
                  <a:srgbClr val="202124"/>
                </a:solidFill>
                <a:latin typeface="Segoe UI"/>
              </a:rPr>
              <a:t>mask personal data before it reaches the AI</a:t>
            </a:r>
          </a:p>
        </p:txBody>
      </p:sp>
      <p:sp>
        <p:nvSpPr>
          <p:cNvPr id="24" name="Rounded Rectangle 23"/>
          <p:cNvSpPr/>
          <p:nvPr/>
        </p:nvSpPr>
        <p:spPr>
          <a:xfrm>
            <a:off x="4251960" y="5029199"/>
            <a:ext cx="3840480" cy="65836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389120" y="5074919"/>
            <a:ext cx="1188720" cy="566928"/>
          </a:xfrm>
          <a:prstGeom prst="rect">
            <a:avLst/>
          </a:prstGeom>
          <a:noFill/>
        </p:spPr>
        <p:txBody>
          <a:bodyPr wrap="square" anchor="ctr" lIns="45720" rIns="45720" tIns="27432" bIns="27432">
            <a:spAutoFit/>
          </a:bodyPr>
          <a:lstStyle/>
          <a:p>
            <a:pPr algn="l">
              <a:spcAft>
                <a:spcPts val="600"/>
              </a:spcAft>
            </a:pPr>
            <a:r>
              <a:rPr sz="1400" b="1" i="0">
                <a:solidFill>
                  <a:srgbClr val="1F2A44"/>
                </a:solidFill>
                <a:latin typeface="Segoe UI"/>
              </a:rPr>
              <a:t>Audit log</a:t>
            </a:r>
          </a:p>
        </p:txBody>
      </p:sp>
      <p:sp>
        <p:nvSpPr>
          <p:cNvPr id="26" name="TextBox 25"/>
          <p:cNvSpPr txBox="1"/>
          <p:nvPr/>
        </p:nvSpPr>
        <p:spPr>
          <a:xfrm>
            <a:off x="5532120" y="5074919"/>
            <a:ext cx="2514600" cy="566928"/>
          </a:xfrm>
          <a:prstGeom prst="rect">
            <a:avLst/>
          </a:prstGeom>
          <a:noFill/>
        </p:spPr>
        <p:txBody>
          <a:bodyPr wrap="square" anchor="ctr" lIns="45720" rIns="45720" tIns="27432" bIns="27432">
            <a:spAutoFit/>
          </a:bodyPr>
          <a:lstStyle/>
          <a:p>
            <a:pPr algn="l">
              <a:spcAft>
                <a:spcPts val="600"/>
              </a:spcAft>
            </a:pPr>
            <a:r>
              <a:rPr sz="1200" b="0" i="0">
                <a:solidFill>
                  <a:srgbClr val="202124"/>
                </a:solidFill>
                <a:latin typeface="Segoe UI"/>
              </a:rPr>
              <a:t>who asked what, which records were changed</a:t>
            </a:r>
          </a:p>
        </p:txBody>
      </p:sp>
      <p:sp>
        <p:nvSpPr>
          <p:cNvPr id="27" name="Right Arrow 26"/>
          <p:cNvSpPr/>
          <p:nvPr/>
        </p:nvSpPr>
        <p:spPr>
          <a:xfrm>
            <a:off x="8366760" y="2971800"/>
            <a:ext cx="914400" cy="457200"/>
          </a:xfrm>
          <a:prstGeom prst="rightArrow">
            <a:avLst/>
          </a:prstGeom>
          <a:solidFill>
            <a:srgbClr val="5F63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0" y="3474720"/>
            <a:ext cx="1188720" cy="365760"/>
          </a:xfrm>
          <a:prstGeom prst="rect">
            <a:avLst/>
          </a:prstGeom>
          <a:noFill/>
        </p:spPr>
        <p:txBody>
          <a:bodyPr wrap="square" anchor="t" lIns="45720" rIns="45720" tIns="27432" bIns="27432">
            <a:spAutoFit/>
          </a:bodyPr>
          <a:lstStyle/>
          <a:p>
            <a:pPr algn="ctr">
              <a:spcAft>
                <a:spcPts val="600"/>
              </a:spcAft>
            </a:pPr>
            <a:r>
              <a:rPr sz="1300" b="1" i="0">
                <a:solidFill>
                  <a:srgbClr val="5F6368"/>
                </a:solidFill>
                <a:latin typeface="Segoe UI"/>
              </a:rPr>
              <a:t>REST API</a:t>
            </a:r>
          </a:p>
        </p:txBody>
      </p:sp>
      <p:sp>
        <p:nvSpPr>
          <p:cNvPr id="29" name="Rounded Rectangle 28"/>
          <p:cNvSpPr/>
          <p:nvPr/>
        </p:nvSpPr>
        <p:spPr>
          <a:xfrm>
            <a:off x="9372600" y="2194560"/>
            <a:ext cx="2286000" cy="2011680"/>
          </a:xfrm>
          <a:prstGeom prst="roundRect">
            <a:avLst>
              <a:gd name="adj" fmla="val 8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FFFFFF"/>
                </a:solidFill>
                <a:latin typeface="Segoe UI"/>
              </a:rPr>
              <a:t>TOPdesk</a:t>
            </a:r>
          </a:p>
          <a:p>
            <a:pPr algn="ctr"/>
            <a:r>
              <a:rPr sz="1300" b="0" i="0">
                <a:solidFill>
                  <a:srgbClr val="FFFFFF"/>
                </a:solidFill>
                <a:latin typeface="Segoe UI"/>
              </a:rPr>
              <a:t>incidents · problems</a:t>
            </a:r>
          </a:p>
          <a:p>
            <a:pPr algn="ctr"/>
            <a:r>
              <a:rPr sz="1300" b="0" i="0">
                <a:solidFill>
                  <a:srgbClr val="FFFFFF"/>
                </a:solidFill>
                <a:latin typeface="Segoe UI"/>
              </a:rPr>
              <a:t>changes · known errors</a:t>
            </a:r>
          </a:p>
        </p:txBody>
      </p:sp>
      <p:sp>
        <p:nvSpPr>
          <p:cNvPr id="30" name="TextBox 29"/>
          <p:cNvSpPr txBox="1"/>
          <p:nvPr/>
        </p:nvSpPr>
        <p:spPr>
          <a:xfrm>
            <a:off x="548640" y="5897880"/>
            <a:ext cx="11155680" cy="457200"/>
          </a:xfrm>
          <a:prstGeom prst="rect">
            <a:avLst/>
          </a:prstGeom>
          <a:noFill/>
        </p:spPr>
        <p:txBody>
          <a:bodyPr wrap="square" anchor="t" lIns="45720" rIns="45720" tIns="27432" bIns="27432">
            <a:spAutoFit/>
          </a:bodyPr>
          <a:lstStyle/>
          <a:p>
            <a:pPr algn="l">
              <a:spcAft>
                <a:spcPts val="600"/>
              </a:spcAft>
            </a:pPr>
            <a:r>
              <a:rPr sz="1500" b="1" i="0">
                <a:solidFill>
                  <a:srgbClr val="5F6368"/>
                </a:solidFill>
                <a:latin typeface="Segoe UI"/>
              </a:rPr>
              <a:t>A thin layer that we host and control. TopDesk itself doesn't change.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08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274320"/>
            <a:ext cx="10972800" cy="320040"/>
          </a:xfrm>
          <a:prstGeom prst="rect">
            <a:avLst/>
          </a:prstGeom>
          <a:noFill/>
        </p:spPr>
        <p:txBody>
          <a:bodyPr wrap="square" anchor="t" lIns="45720" rIns="45720" tIns="27432" bIns="27432">
            <a:spAutoFit/>
          </a:bodyPr>
          <a:lstStyle/>
          <a:p>
            <a:pPr algn="l">
              <a:spcAft>
                <a:spcPts val="600"/>
              </a:spcAft>
            </a:pPr>
            <a:r>
              <a:rPr sz="1200" b="1" i="0">
                <a:solidFill>
                  <a:srgbClr val="008C8A"/>
                </a:solidFill>
                <a:latin typeface="Segoe UI"/>
              </a:rPr>
              <a:t>DESIGN</a:t>
            </a:r>
          </a:p>
        </p:txBody>
      </p:sp>
      <p:sp>
        <p:nvSpPr>
          <p:cNvPr id="4" name="TextBox 3"/>
          <p:cNvSpPr txBox="1"/>
          <p:nvPr/>
        </p:nvSpPr>
        <p:spPr>
          <a:xfrm>
            <a:off x="457200" y="530352"/>
            <a:ext cx="11247120" cy="731520"/>
          </a:xfrm>
          <a:prstGeom prst="rect">
            <a:avLst/>
          </a:prstGeom>
          <a:noFill/>
        </p:spPr>
        <p:txBody>
          <a:bodyPr wrap="square" anchor="t" lIns="45720" rIns="45720" tIns="27432" bIns="27432">
            <a:spAutoFit/>
          </a:bodyPr>
          <a:lstStyle/>
          <a:p>
            <a:pPr algn="l">
              <a:spcAft>
                <a:spcPts val="600"/>
              </a:spcAft>
            </a:pPr>
            <a:r>
              <a:rPr sz="3000" b="1" i="0">
                <a:solidFill>
                  <a:srgbClr val="1F2A44"/>
                </a:solidFill>
                <a:latin typeface="Segoe UI"/>
              </a:rPr>
              <a:t>Which tools would we expose?</a:t>
            </a:r>
          </a:p>
        </p:txBody>
      </p:sp>
      <p:sp>
        <p:nvSpPr>
          <p:cNvPr id="5" name="TextBox 4"/>
          <p:cNvSpPr txBox="1"/>
          <p:nvPr/>
        </p:nvSpPr>
        <p:spPr>
          <a:xfrm>
            <a:off x="457200" y="6446520"/>
            <a:ext cx="7315200" cy="274320"/>
          </a:xfrm>
          <a:prstGeom prst="rect">
            <a:avLst/>
          </a:prstGeom>
          <a:noFill/>
        </p:spPr>
        <p:txBody>
          <a:bodyPr wrap="square" anchor="t" lIns="45720" rIns="45720" tIns="27432" bIns="27432">
            <a:spAutoFit/>
          </a:bodyPr>
          <a:lstStyle/>
          <a:p>
            <a:pPr algn="l">
              <a:spcAft>
                <a:spcPts val="600"/>
              </a:spcAft>
            </a:pPr>
            <a:r>
              <a:rPr sz="1000" b="0" i="0">
                <a:solidFill>
                  <a:srgbClr val="5F6368"/>
                </a:solidFill>
                <a:latin typeface="Segoe UI"/>
              </a:rPr>
              <a:t>AI in service management  |  ShopFast workshop</a:t>
            </a:r>
          </a:p>
        </p:txBody>
      </p:sp>
      <p:sp>
        <p:nvSpPr>
          <p:cNvPr id="6" name="TextBox 5"/>
          <p:cNvSpPr txBox="1"/>
          <p:nvPr/>
        </p:nvSpPr>
        <p:spPr>
          <a:xfrm>
            <a:off x="10972800" y="6446520"/>
            <a:ext cx="777240" cy="274320"/>
          </a:xfrm>
          <a:prstGeom prst="rect">
            <a:avLst/>
          </a:prstGeom>
          <a:noFill/>
        </p:spPr>
        <p:txBody>
          <a:bodyPr wrap="square" anchor="t" lIns="45720" rIns="45720" tIns="27432" bIns="27432">
            <a:spAutoFit/>
          </a:bodyPr>
          <a:lstStyle/>
          <a:p>
            <a:pPr algn="r">
              <a:spcAft>
                <a:spcPts val="600"/>
              </a:spcAft>
            </a:pPr>
            <a:r>
              <a:rPr sz="1000" b="0" i="0">
                <a:solidFill>
                  <a:srgbClr val="5F6368"/>
                </a:solidFill>
                <a:latin typeface="Segoe UI"/>
              </a:rPr>
              <a:t>20</a:t>
            </a:r>
          </a:p>
        </p:txBody>
      </p:sp>
      <p:sp>
        <p:nvSpPr>
          <p:cNvPr id="7" name="Rounded Rectangle 6"/>
          <p:cNvSpPr/>
          <p:nvPr/>
        </p:nvSpPr>
        <p:spPr>
          <a:xfrm>
            <a:off x="731520" y="1554480"/>
            <a:ext cx="5257800" cy="3474720"/>
          </a:xfrm>
          <a:prstGeom prst="roundRect">
            <a:avLst>
              <a:gd name="adj" fmla="val 8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731520" y="1554480"/>
            <a:ext cx="5257800" cy="502920"/>
          </a:xfrm>
          <a:prstGeom prst="roundRect">
            <a:avLst>
              <a:gd name="adj" fmla="val 15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i="0">
                <a:solidFill>
                  <a:srgbClr val="FFFFFF"/>
                </a:solidFill>
                <a:latin typeface="Segoe UI"/>
              </a:rPr>
              <a:t>Read  (low risk, start here)</a:t>
            </a:r>
          </a:p>
        </p:txBody>
      </p:sp>
      <p:sp>
        <p:nvSpPr>
          <p:cNvPr id="9" name="TextBox 8"/>
          <p:cNvSpPr txBox="1"/>
          <p:nvPr/>
        </p:nvSpPr>
        <p:spPr>
          <a:xfrm>
            <a:off x="868680" y="2167128"/>
            <a:ext cx="4983480" cy="2788920"/>
          </a:xfrm>
          <a:prstGeom prst="rect">
            <a:avLst/>
          </a:prstGeom>
          <a:noFill/>
        </p:spPr>
        <p:txBody>
          <a:bodyPr wrap="square" anchor="t" lIns="45720" rIns="45720" tIns="27432" bIns="27432">
            <a:spAutoFit/>
          </a:bodyPr>
          <a:lstStyle/>
          <a:p>
            <a:pPr algn="l">
              <a:spcAft>
                <a:spcPts val="600"/>
              </a:spcAft>
            </a:pPr>
            <a:r>
              <a:rPr sz="1700" b="1" i="0">
                <a:solidFill>
                  <a:srgbClr val="1F2A44"/>
                </a:solidFill>
                <a:latin typeface="Consolas"/>
              </a:rPr>
              <a:t>get_incident</a:t>
            </a:r>
            <a:r>
              <a:rPr sz="1700" b="0" i="0">
                <a:solidFill>
                  <a:srgbClr val="202124"/>
                </a:solidFill>
                <a:latin typeface="Segoe UI"/>
              </a:rPr>
              <a:t>  details, actions, history</a:t>
            </a:r>
          </a:p>
          <a:p>
            <a:pPr algn="l">
              <a:spcAft>
                <a:spcPts val="600"/>
              </a:spcAft>
            </a:pPr>
            <a:r>
              <a:rPr sz="1700" b="1" i="0">
                <a:solidFill>
                  <a:srgbClr val="1F2A44"/>
                </a:solidFill>
                <a:latin typeface="Consolas"/>
              </a:rPr>
              <a:t>search_incidents</a:t>
            </a:r>
            <a:r>
              <a:rPr sz="1700" b="0" i="0">
                <a:solidFill>
                  <a:srgbClr val="202124"/>
                </a:solidFill>
                <a:latin typeface="Segoe UI"/>
              </a:rPr>
              <a:t>  by service, period, status</a:t>
            </a:r>
          </a:p>
          <a:p>
            <a:pPr algn="l">
              <a:spcAft>
                <a:spcPts val="600"/>
              </a:spcAft>
            </a:pPr>
            <a:r>
              <a:rPr sz="1700" b="1" i="0">
                <a:solidFill>
                  <a:srgbClr val="1F2A44"/>
                </a:solidFill>
                <a:latin typeface="Consolas"/>
              </a:rPr>
              <a:t>get_problem</a:t>
            </a:r>
            <a:r>
              <a:rPr sz="1700" b="0" i="0">
                <a:solidFill>
                  <a:srgbClr val="202124"/>
                </a:solidFill>
                <a:latin typeface="Segoe UI"/>
              </a:rPr>
              <a:t>  incl. linked incidents</a:t>
            </a:r>
          </a:p>
          <a:p>
            <a:pPr algn="l">
              <a:spcAft>
                <a:spcPts val="600"/>
              </a:spcAft>
            </a:pPr>
            <a:r>
              <a:rPr sz="1700" b="1" i="0">
                <a:solidFill>
                  <a:srgbClr val="1F2A44"/>
                </a:solidFill>
                <a:latin typeface="Consolas"/>
              </a:rPr>
              <a:t>search_known_errors</a:t>
            </a:r>
            <a:r>
              <a:rPr sz="1700" b="0" i="0">
                <a:solidFill>
                  <a:srgbClr val="202124"/>
                </a:solidFill>
                <a:latin typeface="Segoe UI"/>
              </a:rPr>
              <a:t>  workarounds that worked before</a:t>
            </a:r>
          </a:p>
          <a:p>
            <a:pPr algn="l">
              <a:spcAft>
                <a:spcPts val="600"/>
              </a:spcAft>
            </a:pPr>
            <a:r>
              <a:rPr sz="1700" b="1" i="0">
                <a:solidFill>
                  <a:srgbClr val="1F2A44"/>
                </a:solidFill>
                <a:latin typeface="Consolas"/>
              </a:rPr>
              <a:t>get_change</a:t>
            </a:r>
            <a:r>
              <a:rPr sz="1700" b="0" i="0">
                <a:solidFill>
                  <a:srgbClr val="202124"/>
                </a:solidFill>
                <a:latin typeface="Segoe UI"/>
              </a:rPr>
              <a:t>  status, planning, CAB decision</a:t>
            </a:r>
          </a:p>
        </p:txBody>
      </p:sp>
      <p:sp>
        <p:nvSpPr>
          <p:cNvPr id="10" name="Rounded Rectangle 9"/>
          <p:cNvSpPr/>
          <p:nvPr/>
        </p:nvSpPr>
        <p:spPr>
          <a:xfrm>
            <a:off x="6217920" y="1554480"/>
            <a:ext cx="5257800" cy="3474720"/>
          </a:xfrm>
          <a:prstGeom prst="roundRect">
            <a:avLst>
              <a:gd name="adj" fmla="val 8000"/>
            </a:avLst>
          </a:prstGeom>
          <a:solidFill>
            <a:srgbClr val="FDE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6217920" y="1554480"/>
            <a:ext cx="5257800" cy="502920"/>
          </a:xfrm>
          <a:prstGeom prst="roundRect">
            <a:avLst>
              <a:gd name="adj" fmla="val 15000"/>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i="0">
                <a:solidFill>
                  <a:srgbClr val="FFFFFF"/>
                </a:solidFill>
                <a:latin typeface="Segoe UI"/>
              </a:rPr>
              <a:t>Write  (always with confirmation)</a:t>
            </a:r>
          </a:p>
        </p:txBody>
      </p:sp>
      <p:sp>
        <p:nvSpPr>
          <p:cNvPr id="12" name="TextBox 11"/>
          <p:cNvSpPr txBox="1"/>
          <p:nvPr/>
        </p:nvSpPr>
        <p:spPr>
          <a:xfrm>
            <a:off x="6355080" y="2167128"/>
            <a:ext cx="4983480" cy="2788920"/>
          </a:xfrm>
          <a:prstGeom prst="rect">
            <a:avLst/>
          </a:prstGeom>
          <a:noFill/>
        </p:spPr>
        <p:txBody>
          <a:bodyPr wrap="square" anchor="t" lIns="45720" rIns="45720" tIns="27432" bIns="27432">
            <a:spAutoFit/>
          </a:bodyPr>
          <a:lstStyle/>
          <a:p>
            <a:pPr algn="l">
              <a:spcAft>
                <a:spcPts val="600"/>
              </a:spcAft>
            </a:pPr>
            <a:r>
              <a:rPr sz="1700" b="1" i="0">
                <a:solidFill>
                  <a:srgbClr val="1F2A44"/>
                </a:solidFill>
                <a:latin typeface="Consolas"/>
              </a:rPr>
              <a:t>add_action</a:t>
            </a:r>
            <a:r>
              <a:rPr sz="1700" b="0" i="0">
                <a:solidFill>
                  <a:srgbClr val="202124"/>
                </a:solidFill>
                <a:latin typeface="Segoe UI"/>
              </a:rPr>
              <a:t>  log an action on an incident</a:t>
            </a:r>
          </a:p>
          <a:p>
            <a:pPr algn="l">
              <a:spcAft>
                <a:spcPts val="600"/>
              </a:spcAft>
            </a:pPr>
            <a:r>
              <a:rPr sz="1700" b="1" i="0">
                <a:solidFill>
                  <a:srgbClr val="1F2A44"/>
                </a:solidFill>
                <a:latin typeface="Consolas"/>
              </a:rPr>
              <a:t>resolve_incident</a:t>
            </a:r>
            <a:r>
              <a:rPr sz="1700" b="0" i="0">
                <a:solidFill>
                  <a:srgbClr val="202124"/>
                </a:solidFill>
                <a:latin typeface="Segoe UI"/>
              </a:rPr>
              <a:t>  solution + closure code</a:t>
            </a:r>
          </a:p>
          <a:p>
            <a:pPr algn="l">
              <a:spcAft>
                <a:spcPts val="600"/>
              </a:spcAft>
            </a:pPr>
            <a:r>
              <a:rPr sz="1700" b="1" i="0">
                <a:solidFill>
                  <a:srgbClr val="1F2A44"/>
                </a:solidFill>
                <a:latin typeface="Consolas"/>
              </a:rPr>
              <a:t>create_problem</a:t>
            </a:r>
            <a:r>
              <a:rPr sz="1700" b="0" i="0">
                <a:solidFill>
                  <a:srgbClr val="202124"/>
                </a:solidFill>
                <a:latin typeface="Segoe UI"/>
              </a:rPr>
              <a:t>  from a workaround incident</a:t>
            </a:r>
          </a:p>
          <a:p>
            <a:pPr algn="l">
              <a:spcAft>
                <a:spcPts val="600"/>
              </a:spcAft>
            </a:pPr>
            <a:r>
              <a:rPr sz="1700" b="1" i="0">
                <a:solidFill>
                  <a:srgbClr val="1F2A44"/>
                </a:solidFill>
                <a:latin typeface="Consolas"/>
              </a:rPr>
              <a:t>link_incident</a:t>
            </a:r>
            <a:r>
              <a:rPr sz="1700" b="0" i="0">
                <a:solidFill>
                  <a:srgbClr val="202124"/>
                </a:solidFill>
                <a:latin typeface="Segoe UI"/>
              </a:rPr>
              <a:t>  incident ↔ problem</a:t>
            </a:r>
          </a:p>
          <a:p>
            <a:pPr algn="l">
              <a:spcAft>
                <a:spcPts val="600"/>
              </a:spcAft>
            </a:pPr>
            <a:r>
              <a:rPr sz="1700" b="1" i="0">
                <a:solidFill>
                  <a:srgbClr val="1F2A44"/>
                </a:solidFill>
                <a:latin typeface="Consolas"/>
              </a:rPr>
              <a:t>create_change</a:t>
            </a:r>
            <a:r>
              <a:rPr sz="1700" b="0" i="0">
                <a:solidFill>
                  <a:srgbClr val="202124"/>
                </a:solidFill>
                <a:latin typeface="Segoe UI"/>
              </a:rPr>
              <a:t>  RFC fields + attachment</a:t>
            </a:r>
          </a:p>
        </p:txBody>
      </p:sp>
      <p:sp>
        <p:nvSpPr>
          <p:cNvPr id="13" name="TextBox 12"/>
          <p:cNvSpPr txBox="1"/>
          <p:nvPr/>
        </p:nvSpPr>
        <p:spPr>
          <a:xfrm>
            <a:off x="731520" y="5257800"/>
            <a:ext cx="10789920" cy="457200"/>
          </a:xfrm>
          <a:prstGeom prst="rect">
            <a:avLst/>
          </a:prstGeom>
          <a:noFill/>
        </p:spPr>
        <p:txBody>
          <a:bodyPr wrap="square" anchor="t" lIns="45720" rIns="45720" tIns="27432" bIns="27432">
            <a:spAutoFit/>
          </a:bodyPr>
          <a:lstStyle/>
          <a:p>
            <a:pPr algn="l">
              <a:spcAft>
                <a:spcPts val="600"/>
              </a:spcAft>
            </a:pPr>
            <a:r>
              <a:rPr sz="1500" b="1" i="0">
                <a:solidFill>
                  <a:srgbClr val="5F6368"/>
                </a:solidFill>
                <a:latin typeface="Segoe UI"/>
              </a:rPr>
              <a:t>Each tool = a name, a description the AI can read, typed parameters, and one call to the TopDesk API.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08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274320"/>
            <a:ext cx="10972800" cy="320040"/>
          </a:xfrm>
          <a:prstGeom prst="rect">
            <a:avLst/>
          </a:prstGeom>
          <a:noFill/>
        </p:spPr>
        <p:txBody>
          <a:bodyPr wrap="square" anchor="t" lIns="45720" rIns="45720" tIns="27432" bIns="27432">
            <a:spAutoFit/>
          </a:bodyPr>
          <a:lstStyle/>
          <a:p>
            <a:pPr algn="l">
              <a:spcAft>
                <a:spcPts val="600"/>
              </a:spcAft>
            </a:pPr>
            <a:r>
              <a:rPr sz="1200" b="1" i="0">
                <a:solidFill>
                  <a:srgbClr val="008C8A"/>
                </a:solidFill>
                <a:latin typeface="Segoe UI"/>
              </a:rPr>
              <a:t>ILLUSTRATIVE EXAMPLE</a:t>
            </a:r>
          </a:p>
        </p:txBody>
      </p:sp>
      <p:sp>
        <p:nvSpPr>
          <p:cNvPr id="4" name="TextBox 3"/>
          <p:cNvSpPr txBox="1"/>
          <p:nvPr/>
        </p:nvSpPr>
        <p:spPr>
          <a:xfrm>
            <a:off x="457200" y="530352"/>
            <a:ext cx="11247120" cy="731520"/>
          </a:xfrm>
          <a:prstGeom prst="rect">
            <a:avLst/>
          </a:prstGeom>
          <a:noFill/>
        </p:spPr>
        <p:txBody>
          <a:bodyPr wrap="square" anchor="t" lIns="45720" rIns="45720" tIns="27432" bIns="27432">
            <a:spAutoFit/>
          </a:bodyPr>
          <a:lstStyle/>
          <a:p>
            <a:pPr algn="l">
              <a:spcAft>
                <a:spcPts val="600"/>
              </a:spcAft>
            </a:pPr>
            <a:r>
              <a:rPr sz="3000" b="1" i="0">
                <a:solidFill>
                  <a:srgbClr val="1F2A44"/>
                </a:solidFill>
                <a:latin typeface="Segoe UI"/>
              </a:rPr>
              <a:t>How much code is that? Not much</a:t>
            </a:r>
          </a:p>
        </p:txBody>
      </p:sp>
      <p:sp>
        <p:nvSpPr>
          <p:cNvPr id="5" name="TextBox 4"/>
          <p:cNvSpPr txBox="1"/>
          <p:nvPr/>
        </p:nvSpPr>
        <p:spPr>
          <a:xfrm>
            <a:off x="457200" y="6446520"/>
            <a:ext cx="7315200" cy="274320"/>
          </a:xfrm>
          <a:prstGeom prst="rect">
            <a:avLst/>
          </a:prstGeom>
          <a:noFill/>
        </p:spPr>
        <p:txBody>
          <a:bodyPr wrap="square" anchor="t" lIns="45720" rIns="45720" tIns="27432" bIns="27432">
            <a:spAutoFit/>
          </a:bodyPr>
          <a:lstStyle/>
          <a:p>
            <a:pPr algn="l">
              <a:spcAft>
                <a:spcPts val="600"/>
              </a:spcAft>
            </a:pPr>
            <a:r>
              <a:rPr sz="1000" b="0" i="0">
                <a:solidFill>
                  <a:srgbClr val="5F6368"/>
                </a:solidFill>
                <a:latin typeface="Segoe UI"/>
              </a:rPr>
              <a:t>AI in service management  |  ShopFast workshop</a:t>
            </a:r>
          </a:p>
        </p:txBody>
      </p:sp>
      <p:sp>
        <p:nvSpPr>
          <p:cNvPr id="6" name="TextBox 5"/>
          <p:cNvSpPr txBox="1"/>
          <p:nvPr/>
        </p:nvSpPr>
        <p:spPr>
          <a:xfrm>
            <a:off x="10972800" y="6446520"/>
            <a:ext cx="777240" cy="274320"/>
          </a:xfrm>
          <a:prstGeom prst="rect">
            <a:avLst/>
          </a:prstGeom>
          <a:noFill/>
        </p:spPr>
        <p:txBody>
          <a:bodyPr wrap="square" anchor="t" lIns="45720" rIns="45720" tIns="27432" bIns="27432">
            <a:spAutoFit/>
          </a:bodyPr>
          <a:lstStyle/>
          <a:p>
            <a:pPr algn="r">
              <a:spcAft>
                <a:spcPts val="600"/>
              </a:spcAft>
            </a:pPr>
            <a:r>
              <a:rPr sz="1000" b="0" i="0">
                <a:solidFill>
                  <a:srgbClr val="5F6368"/>
                </a:solidFill>
                <a:latin typeface="Segoe UI"/>
              </a:rPr>
              <a:t>21</a:t>
            </a:r>
          </a:p>
        </p:txBody>
      </p:sp>
      <p:sp>
        <p:nvSpPr>
          <p:cNvPr id="7" name="Rounded Rectangle 6"/>
          <p:cNvSpPr/>
          <p:nvPr/>
        </p:nvSpPr>
        <p:spPr>
          <a:xfrm>
            <a:off x="731520" y="1463040"/>
            <a:ext cx="7223760" cy="4800600"/>
          </a:xfrm>
          <a:prstGeom prst="roundRect">
            <a:avLst>
              <a:gd name="adj" fmla="val 3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14400" y="1572768"/>
            <a:ext cx="6949440" cy="4617720"/>
          </a:xfrm>
          <a:prstGeom prst="rect">
            <a:avLst/>
          </a:prstGeom>
          <a:noFill/>
        </p:spPr>
        <p:txBody>
          <a:bodyPr wrap="square" anchor="t" lIns="45720" rIns="45720" tIns="27432" bIns="27432">
            <a:spAutoFit/>
          </a:bodyPr>
          <a:lstStyle/>
          <a:p>
            <a:pPr algn="l">
              <a:spcAft>
                <a:spcPts val="0"/>
              </a:spcAft>
            </a:pPr>
            <a:r>
              <a:rPr sz="1200" b="0" i="0">
                <a:solidFill>
                  <a:srgbClr val="D4D4D4"/>
                </a:solidFill>
                <a:latin typeface="Consolas"/>
              </a:rPr>
              <a:t>from mcp.server.fastmcp import FastMCP</a:t>
            </a:r>
          </a:p>
          <a:p>
            <a:pPr algn="l">
              <a:spcAft>
                <a:spcPts val="0"/>
              </a:spcAft>
            </a:pPr>
            <a:r>
              <a:rPr sz="1200" b="0" i="0">
                <a:solidFill>
                  <a:srgbClr val="D4D4D4"/>
                </a:solidFill>
                <a:latin typeface="Consolas"/>
              </a:rPr>
              <a:t>import httpx, os</a:t>
            </a:r>
          </a:p>
          <a:p>
            <a:pPr algn="l">
              <a:spcAft>
                <a:spcPts val="0"/>
              </a:spcAft>
            </a:pPr>
            <a:r>
              <a:rPr sz="1200" b="0" i="0">
                <a:solidFill>
                  <a:srgbClr val="D4D4D4"/>
                </a:solidFill>
                <a:latin typeface="Consolas"/>
              </a:rPr>
              <a:t>from urllib.parse import quote</a:t>
            </a:r>
          </a:p>
          <a:p>
            <a:pPr algn="l">
              <a:spcAft>
                <a:spcPts val="0"/>
              </a:spcAft>
            </a:pPr>
            <a:r>
              <a:rPr sz="1200" b="0" i="0">
                <a:solidFill>
                  <a:srgbClr val="D4D4D4"/>
                </a:solidFill>
                <a:latin typeface="Consolas"/>
              </a:rPr>
              <a:t/>
            </a:r>
          </a:p>
          <a:p>
            <a:pPr algn="l">
              <a:spcAft>
                <a:spcPts val="0"/>
              </a:spcAft>
            </a:pPr>
            <a:r>
              <a:rPr sz="1200" b="0" i="0">
                <a:solidFill>
                  <a:srgbClr val="D4D4D4"/>
                </a:solidFill>
                <a:latin typeface="Consolas"/>
              </a:rPr>
              <a:t>mcp = FastMCP("topdesk")</a:t>
            </a:r>
          </a:p>
          <a:p>
            <a:pPr algn="l">
              <a:spcAft>
                <a:spcPts val="0"/>
              </a:spcAft>
            </a:pPr>
            <a:r>
              <a:rPr sz="1200" b="0" i="0">
                <a:solidFill>
                  <a:srgbClr val="D4D4D4"/>
                </a:solidFill>
                <a:latin typeface="Consolas"/>
              </a:rPr>
              <a:t>API = os.environ["TOPDESK_URL"] + "/tas/api"</a:t>
            </a:r>
          </a:p>
          <a:p>
            <a:pPr algn="l">
              <a:spcAft>
                <a:spcPts val="0"/>
              </a:spcAft>
            </a:pPr>
            <a:r>
              <a:rPr sz="1200" b="0" i="0">
                <a:solidFill>
                  <a:srgbClr val="D4D4D4"/>
                </a:solidFill>
                <a:latin typeface="Consolas"/>
              </a:rPr>
              <a:t>AUTH = (os.environ["TOPDESK_USER"], os.environ["TOPDESK_APP_PASSWORD"])</a:t>
            </a:r>
          </a:p>
          <a:p>
            <a:pPr algn="l">
              <a:spcAft>
                <a:spcPts val="0"/>
              </a:spcAft>
            </a:pPr>
            <a:r>
              <a:rPr sz="1200" b="0" i="0">
                <a:solidFill>
                  <a:srgbClr val="D4D4D4"/>
                </a:solidFill>
                <a:latin typeface="Consolas"/>
              </a:rPr>
              <a:t/>
            </a:r>
          </a:p>
          <a:p>
            <a:pPr algn="l">
              <a:spcAft>
                <a:spcPts val="0"/>
              </a:spcAft>
            </a:pPr>
            <a:r>
              <a:rPr sz="1200" b="0" i="0">
                <a:solidFill>
                  <a:srgbClr val="D4D4D4"/>
                </a:solidFill>
                <a:latin typeface="Consolas"/>
              </a:rPr>
              <a:t>@mcp.tool()</a:t>
            </a:r>
          </a:p>
          <a:p>
            <a:pPr algn="l">
              <a:spcAft>
                <a:spcPts val="0"/>
              </a:spcAft>
            </a:pPr>
            <a:r>
              <a:rPr sz="1200" b="0" i="0">
                <a:solidFill>
                  <a:srgbClr val="D4D4D4"/>
                </a:solidFill>
                <a:latin typeface="Consolas"/>
              </a:rPr>
              <a:t>def get_incident(number: str) -&gt; dict:</a:t>
            </a:r>
          </a:p>
          <a:p>
            <a:pPr algn="l">
              <a:spcAft>
                <a:spcPts val="0"/>
              </a:spcAft>
            </a:pPr>
            <a:r>
              <a:rPr sz="1200" b="0" i="0">
                <a:solidFill>
                  <a:srgbClr val="D4D4D4"/>
                </a:solidFill>
                <a:latin typeface="Consolas"/>
              </a:rPr>
              <a:t>    """Get a TopDesk incident by its number, e.g. 'I 2607 041'."""</a:t>
            </a:r>
          </a:p>
          <a:p>
            <a:pPr algn="l">
              <a:spcAft>
                <a:spcPts val="0"/>
              </a:spcAft>
            </a:pPr>
            <a:r>
              <a:rPr sz="1200" b="0" i="0">
                <a:solidFill>
                  <a:srgbClr val="D4D4D4"/>
                </a:solidFill>
                <a:latin typeface="Consolas"/>
              </a:rPr>
              <a:t>    r = httpx.get(f"{API}/incidents/number/{quote(number)}", auth=AUTH)</a:t>
            </a:r>
          </a:p>
          <a:p>
            <a:pPr algn="l">
              <a:spcAft>
                <a:spcPts val="0"/>
              </a:spcAft>
            </a:pPr>
            <a:r>
              <a:rPr sz="1200" b="0" i="0">
                <a:solidFill>
                  <a:srgbClr val="D4D4D4"/>
                </a:solidFill>
                <a:latin typeface="Consolas"/>
              </a:rPr>
              <a:t>    r.raise_for_status()</a:t>
            </a:r>
          </a:p>
          <a:p>
            <a:pPr algn="l">
              <a:spcAft>
                <a:spcPts val="0"/>
              </a:spcAft>
            </a:pPr>
            <a:r>
              <a:rPr sz="1200" b="0" i="0">
                <a:solidFill>
                  <a:srgbClr val="D4D4D4"/>
                </a:solidFill>
                <a:latin typeface="Consolas"/>
              </a:rPr>
              <a:t>    return r.json()</a:t>
            </a:r>
          </a:p>
          <a:p>
            <a:pPr algn="l">
              <a:spcAft>
                <a:spcPts val="0"/>
              </a:spcAft>
            </a:pPr>
            <a:r>
              <a:rPr sz="1200" b="0" i="0">
                <a:solidFill>
                  <a:srgbClr val="D4D4D4"/>
                </a:solidFill>
                <a:latin typeface="Consolas"/>
              </a:rPr>
              <a:t/>
            </a:r>
          </a:p>
          <a:p>
            <a:pPr algn="l">
              <a:spcAft>
                <a:spcPts val="0"/>
              </a:spcAft>
            </a:pPr>
            <a:r>
              <a:rPr sz="1200" b="0" i="0">
                <a:solidFill>
                  <a:srgbClr val="D4D4D4"/>
                </a:solidFill>
                <a:latin typeface="Consolas"/>
              </a:rPr>
              <a:t>@mcp.tool()</a:t>
            </a:r>
          </a:p>
          <a:p>
            <a:pPr algn="l">
              <a:spcAft>
                <a:spcPts val="0"/>
              </a:spcAft>
            </a:pPr>
            <a:r>
              <a:rPr sz="1200" b="0" i="0">
                <a:solidFill>
                  <a:srgbClr val="D4D4D4"/>
                </a:solidFill>
                <a:latin typeface="Consolas"/>
              </a:rPr>
              <a:t>def add_action(number: str, text: str) -&gt; str:</a:t>
            </a:r>
          </a:p>
          <a:p>
            <a:pPr algn="l">
              <a:spcAft>
                <a:spcPts val="0"/>
              </a:spcAft>
            </a:pPr>
            <a:r>
              <a:rPr sz="1200" b="0" i="0">
                <a:solidFill>
                  <a:srgbClr val="D4D4D4"/>
                </a:solidFill>
                <a:latin typeface="Consolas"/>
              </a:rPr>
              <a:t>    """Add an action (log entry) to a TopDesk incident."""</a:t>
            </a:r>
          </a:p>
          <a:p>
            <a:pPr algn="l">
              <a:spcAft>
                <a:spcPts val="0"/>
              </a:spcAft>
            </a:pPr>
            <a:r>
              <a:rPr sz="1200" b="0" i="0">
                <a:solidFill>
                  <a:srgbClr val="D4D4D4"/>
                </a:solidFill>
                <a:latin typeface="Consolas"/>
              </a:rPr>
              <a:t>    r = httpx.patch(f"{API}/incidents/number/{quote(number)}",</a:t>
            </a:r>
          </a:p>
          <a:p>
            <a:pPr algn="l">
              <a:spcAft>
                <a:spcPts val="0"/>
              </a:spcAft>
            </a:pPr>
            <a:r>
              <a:rPr sz="1200" b="0" i="0">
                <a:solidFill>
                  <a:srgbClr val="D4D4D4"/>
                </a:solidFill>
                <a:latin typeface="Consolas"/>
              </a:rPr>
              <a:t>                    json={"action": text}, auth=AUTH)</a:t>
            </a:r>
          </a:p>
          <a:p>
            <a:pPr algn="l">
              <a:spcAft>
                <a:spcPts val="0"/>
              </a:spcAft>
            </a:pPr>
            <a:r>
              <a:rPr sz="1200" b="0" i="0">
                <a:solidFill>
                  <a:srgbClr val="D4D4D4"/>
                </a:solidFill>
                <a:latin typeface="Consolas"/>
              </a:rPr>
              <a:t>    r.raise_for_status()</a:t>
            </a:r>
          </a:p>
          <a:p>
            <a:pPr algn="l">
              <a:spcAft>
                <a:spcPts val="0"/>
              </a:spcAft>
            </a:pPr>
            <a:r>
              <a:rPr sz="1200" b="0" i="0">
                <a:solidFill>
                  <a:srgbClr val="D4D4D4"/>
                </a:solidFill>
                <a:latin typeface="Consolas"/>
              </a:rPr>
              <a:t>    return f"Action added to {number}"</a:t>
            </a:r>
          </a:p>
          <a:p>
            <a:pPr algn="l">
              <a:spcAft>
                <a:spcPts val="0"/>
              </a:spcAft>
            </a:pPr>
            <a:r>
              <a:rPr sz="1200" b="0" i="0">
                <a:solidFill>
                  <a:srgbClr val="D4D4D4"/>
                </a:solidFill>
                <a:latin typeface="Consolas"/>
              </a:rPr>
              <a:t/>
            </a:r>
          </a:p>
          <a:p>
            <a:pPr algn="l">
              <a:spcAft>
                <a:spcPts val="0"/>
              </a:spcAft>
            </a:pPr>
            <a:r>
              <a:rPr sz="1200" b="0" i="0">
                <a:solidFill>
                  <a:srgbClr val="D4D4D4"/>
                </a:solidFill>
                <a:latin typeface="Consolas"/>
              </a:rPr>
              <a:t>mcp.run()</a:t>
            </a:r>
          </a:p>
        </p:txBody>
      </p:sp>
      <p:sp>
        <p:nvSpPr>
          <p:cNvPr id="9" name="TextBox 8"/>
          <p:cNvSpPr txBox="1"/>
          <p:nvPr/>
        </p:nvSpPr>
        <p:spPr>
          <a:xfrm>
            <a:off x="8229600" y="1463040"/>
            <a:ext cx="3291840" cy="4754880"/>
          </a:xfrm>
          <a:prstGeom prst="rect">
            <a:avLst/>
          </a:prstGeom>
          <a:noFill/>
        </p:spPr>
        <p:txBody>
          <a:bodyPr wrap="square" anchor="t" lIns="45720" rIns="45720" tIns="27432" bIns="27432">
            <a:spAutoFit/>
          </a:bodyPr>
          <a:lstStyle/>
          <a:p>
            <a:pPr algn="l">
              <a:spcAft>
                <a:spcPts val="1200"/>
              </a:spcAft>
            </a:pPr>
            <a:r>
              <a:rPr sz="1500" b="0" i="0">
                <a:solidFill>
                  <a:srgbClr val="202124"/>
                </a:solidFill>
                <a:latin typeface="Segoe UI"/>
              </a:rPr>
              <a:t>• About 25 lines of Python with the official MCP SDK</a:t>
            </a:r>
          </a:p>
          <a:p>
            <a:pPr algn="l">
              <a:spcAft>
                <a:spcPts val="1200"/>
              </a:spcAft>
            </a:pPr>
            <a:r>
              <a:rPr sz="1500" b="0" i="0">
                <a:solidFill>
                  <a:srgbClr val="202124"/>
                </a:solidFill>
                <a:latin typeface="Segoe UI"/>
              </a:rPr>
              <a:t>• The docstring is what the AI reads to decide when to use the tool</a:t>
            </a:r>
          </a:p>
          <a:p>
            <a:pPr algn="l">
              <a:spcAft>
                <a:spcPts val="1200"/>
              </a:spcAft>
            </a:pPr>
            <a:r>
              <a:rPr sz="1500" b="0" i="0">
                <a:solidFill>
                  <a:srgbClr val="202124"/>
                </a:solidFill>
                <a:latin typeface="Segoe UI"/>
              </a:rPr>
              <a:t>• Also possible in C#, TypeScript, Java…</a:t>
            </a:r>
          </a:p>
          <a:p>
            <a:pPr algn="l">
              <a:spcAft>
                <a:spcPts val="1200"/>
              </a:spcAft>
            </a:pPr>
            <a:r>
              <a:rPr sz="1500" b="0" i="0">
                <a:solidFill>
                  <a:srgbClr val="202124"/>
                </a:solidFill>
                <a:latin typeface="Segoe UI"/>
              </a:rPr>
              <a:t>• The real work is in guardrails, identity and privacy, not in the code</a:t>
            </a:r>
          </a:p>
          <a:p>
            <a:pPr algn="l">
              <a:spcAft>
                <a:spcPts val="1200"/>
              </a:spcAft>
            </a:pPr>
            <a:r>
              <a:rPr sz="1500" b="0" i="0">
                <a:solidFill>
                  <a:srgbClr val="E07A1F"/>
                </a:solidFill>
                <a:latin typeface="Segoe UI"/>
              </a:rPr>
              <a:t>• Simplified: no error handling, user identity or data masking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08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274320"/>
            <a:ext cx="10972800" cy="320040"/>
          </a:xfrm>
          <a:prstGeom prst="rect">
            <a:avLst/>
          </a:prstGeom>
          <a:noFill/>
        </p:spPr>
        <p:txBody>
          <a:bodyPr wrap="square" anchor="t" lIns="45720" rIns="45720" tIns="27432" bIns="27432">
            <a:spAutoFit/>
          </a:bodyPr>
          <a:lstStyle/>
          <a:p>
            <a:pPr algn="l">
              <a:spcAft>
                <a:spcPts val="600"/>
              </a:spcAft>
            </a:pPr>
            <a:r>
              <a:rPr sz="1200" b="1" i="0">
                <a:solidFill>
                  <a:srgbClr val="008C8A"/>
                </a:solidFill>
                <a:latin typeface="Segoe UI"/>
              </a:rPr>
              <a:t>WHAT WOULD CHANGE?</a:t>
            </a:r>
          </a:p>
        </p:txBody>
      </p:sp>
      <p:sp>
        <p:nvSpPr>
          <p:cNvPr id="4" name="TextBox 3"/>
          <p:cNvSpPr txBox="1"/>
          <p:nvPr/>
        </p:nvSpPr>
        <p:spPr>
          <a:xfrm>
            <a:off x="457200" y="530352"/>
            <a:ext cx="11247120" cy="731520"/>
          </a:xfrm>
          <a:prstGeom prst="rect">
            <a:avLst/>
          </a:prstGeom>
          <a:noFill/>
        </p:spPr>
        <p:txBody>
          <a:bodyPr wrap="square" anchor="t" lIns="45720" rIns="45720" tIns="27432" bIns="27432">
            <a:spAutoFit/>
          </a:bodyPr>
          <a:lstStyle/>
          <a:p>
            <a:pPr algn="l">
              <a:spcAft>
                <a:spcPts val="600"/>
              </a:spcAft>
            </a:pPr>
            <a:r>
              <a:rPr sz="3000" b="1" i="0">
                <a:solidFill>
                  <a:srgbClr val="1F2A44"/>
                </a:solidFill>
                <a:latin typeface="Segoe UI"/>
              </a:rPr>
              <a:t>The workshop, connected</a:t>
            </a:r>
          </a:p>
        </p:txBody>
      </p:sp>
      <p:sp>
        <p:nvSpPr>
          <p:cNvPr id="5" name="TextBox 4"/>
          <p:cNvSpPr txBox="1"/>
          <p:nvPr/>
        </p:nvSpPr>
        <p:spPr>
          <a:xfrm>
            <a:off x="457200" y="6446520"/>
            <a:ext cx="7315200" cy="274320"/>
          </a:xfrm>
          <a:prstGeom prst="rect">
            <a:avLst/>
          </a:prstGeom>
          <a:noFill/>
        </p:spPr>
        <p:txBody>
          <a:bodyPr wrap="square" anchor="t" lIns="45720" rIns="45720" tIns="27432" bIns="27432">
            <a:spAutoFit/>
          </a:bodyPr>
          <a:lstStyle/>
          <a:p>
            <a:pPr algn="l">
              <a:spcAft>
                <a:spcPts val="600"/>
              </a:spcAft>
            </a:pPr>
            <a:r>
              <a:rPr sz="1000" b="0" i="0">
                <a:solidFill>
                  <a:srgbClr val="5F6368"/>
                </a:solidFill>
                <a:latin typeface="Segoe UI"/>
              </a:rPr>
              <a:t>AI in service management  |  ShopFast workshop</a:t>
            </a:r>
          </a:p>
        </p:txBody>
      </p:sp>
      <p:sp>
        <p:nvSpPr>
          <p:cNvPr id="6" name="TextBox 5"/>
          <p:cNvSpPr txBox="1"/>
          <p:nvPr/>
        </p:nvSpPr>
        <p:spPr>
          <a:xfrm>
            <a:off x="10972800" y="6446520"/>
            <a:ext cx="777240" cy="274320"/>
          </a:xfrm>
          <a:prstGeom prst="rect">
            <a:avLst/>
          </a:prstGeom>
          <a:noFill/>
        </p:spPr>
        <p:txBody>
          <a:bodyPr wrap="square" anchor="t" lIns="45720" rIns="45720" tIns="27432" bIns="27432">
            <a:spAutoFit/>
          </a:bodyPr>
          <a:lstStyle/>
          <a:p>
            <a:pPr algn="r">
              <a:spcAft>
                <a:spcPts val="600"/>
              </a:spcAft>
            </a:pPr>
            <a:r>
              <a:rPr sz="1000" b="0" i="0">
                <a:solidFill>
                  <a:srgbClr val="5F6368"/>
                </a:solidFill>
                <a:latin typeface="Segoe UI"/>
              </a:rPr>
              <a:t>22</a:t>
            </a:r>
          </a:p>
        </p:txBody>
      </p:sp>
      <p:sp>
        <p:nvSpPr>
          <p:cNvPr id="7" name="Rectangle 6"/>
          <p:cNvSpPr/>
          <p:nvPr/>
        </p:nvSpPr>
        <p:spPr>
          <a:xfrm>
            <a:off x="731520" y="1508760"/>
            <a:ext cx="1664207" cy="5029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500" b="1" i="0">
                <a:solidFill>
                  <a:srgbClr val="FFFFFF"/>
                </a:solidFill>
                <a:latin typeface="Segoe UI"/>
              </a:rPr>
              <a:t>Exercise</a:t>
            </a:r>
          </a:p>
        </p:txBody>
      </p:sp>
      <p:sp>
        <p:nvSpPr>
          <p:cNvPr id="8" name="Rectangle 7"/>
          <p:cNvSpPr/>
          <p:nvPr/>
        </p:nvSpPr>
        <p:spPr>
          <a:xfrm>
            <a:off x="2468880" y="1508760"/>
            <a:ext cx="3218688" cy="5029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500" b="1" i="0">
                <a:solidFill>
                  <a:srgbClr val="FFFFFF"/>
                </a:solidFill>
                <a:latin typeface="Segoe UI"/>
              </a:rPr>
              <a:t>Today</a:t>
            </a:r>
          </a:p>
        </p:txBody>
      </p:sp>
      <p:sp>
        <p:nvSpPr>
          <p:cNvPr id="9" name="Rectangle 8"/>
          <p:cNvSpPr/>
          <p:nvPr/>
        </p:nvSpPr>
        <p:spPr>
          <a:xfrm>
            <a:off x="5760720" y="1508760"/>
            <a:ext cx="5687568" cy="5029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500" b="1" i="0">
                <a:solidFill>
                  <a:srgbClr val="FFFFFF"/>
                </a:solidFill>
                <a:latin typeface="Segoe UI"/>
              </a:rPr>
              <a:t>With a TopDesk MCP server</a:t>
            </a:r>
          </a:p>
        </p:txBody>
      </p:sp>
      <p:sp>
        <p:nvSpPr>
          <p:cNvPr id="10" name="Rectangle 9"/>
          <p:cNvSpPr/>
          <p:nvPr/>
        </p:nvSpPr>
        <p:spPr>
          <a:xfrm>
            <a:off x="731520" y="2084831"/>
            <a:ext cx="10716768" cy="749808"/>
          </a:xfrm>
          <a:prstGeom prst="rect">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2960" y="2084831"/>
            <a:ext cx="1600200" cy="749808"/>
          </a:xfrm>
          <a:prstGeom prst="rect">
            <a:avLst/>
          </a:prstGeom>
          <a:noFill/>
        </p:spPr>
        <p:txBody>
          <a:bodyPr wrap="square" anchor="ctr" lIns="45720" rIns="45720" tIns="27432" bIns="27432">
            <a:spAutoFit/>
          </a:bodyPr>
          <a:lstStyle/>
          <a:p>
            <a:pPr algn="l">
              <a:spcAft>
                <a:spcPts val="600"/>
              </a:spcAft>
            </a:pPr>
            <a:r>
              <a:rPr sz="1400" b="1" i="0">
                <a:solidFill>
                  <a:srgbClr val="1F2A44"/>
                </a:solidFill>
                <a:latin typeface="Segoe UI"/>
              </a:rPr>
              <a:t>1 Triage</a:t>
            </a:r>
          </a:p>
        </p:txBody>
      </p:sp>
      <p:sp>
        <p:nvSpPr>
          <p:cNvPr id="12" name="TextBox 11"/>
          <p:cNvSpPr txBox="1"/>
          <p:nvPr/>
        </p:nvSpPr>
        <p:spPr>
          <a:xfrm>
            <a:off x="2468880" y="2084831"/>
            <a:ext cx="3154680" cy="749808"/>
          </a:xfrm>
          <a:prstGeom prst="rect">
            <a:avLst/>
          </a:prstGeom>
          <a:noFill/>
        </p:spPr>
        <p:txBody>
          <a:bodyPr wrap="square" anchor="ctr" lIns="45720" rIns="45720" tIns="27432" bIns="27432">
            <a:spAutoFit/>
          </a:bodyPr>
          <a:lstStyle/>
          <a:p>
            <a:pPr algn="l">
              <a:spcAft>
                <a:spcPts val="600"/>
              </a:spcAft>
            </a:pPr>
            <a:r>
              <a:rPr sz="1400" b="0" i="0">
                <a:solidFill>
                  <a:srgbClr val="5F6368"/>
                </a:solidFill>
                <a:latin typeface="Segoe UI"/>
              </a:rPr>
              <a:t>Copy the ticket into the chat</a:t>
            </a:r>
          </a:p>
        </p:txBody>
      </p:sp>
      <p:sp>
        <p:nvSpPr>
          <p:cNvPr id="13" name="TextBox 12"/>
          <p:cNvSpPr txBox="1"/>
          <p:nvPr/>
        </p:nvSpPr>
        <p:spPr>
          <a:xfrm>
            <a:off x="5760720" y="2084831"/>
            <a:ext cx="5669280" cy="749808"/>
          </a:xfrm>
          <a:prstGeom prst="rect">
            <a:avLst/>
          </a:prstGeom>
          <a:noFill/>
        </p:spPr>
        <p:txBody>
          <a:bodyPr wrap="square" anchor="ctr" lIns="45720" rIns="45720" tIns="27432" bIns="27432">
            <a:spAutoFit/>
          </a:bodyPr>
          <a:lstStyle/>
          <a:p>
            <a:pPr algn="l">
              <a:spcAft>
                <a:spcPts val="600"/>
              </a:spcAft>
            </a:pPr>
            <a:r>
              <a:rPr sz="1400" b="0" i="0">
                <a:solidFill>
                  <a:srgbClr val="202124"/>
                </a:solidFill>
                <a:latin typeface="Segoe UI"/>
              </a:rPr>
              <a:t>“Summarise I 2607 041 and find similar incidents from the past 90 days.”</a:t>
            </a:r>
          </a:p>
        </p:txBody>
      </p:sp>
      <p:sp>
        <p:nvSpPr>
          <p:cNvPr id="14" name="Rectangle 13"/>
          <p:cNvSpPr/>
          <p:nvPr/>
        </p:nvSpPr>
        <p:spPr>
          <a:xfrm>
            <a:off x="731520" y="2871215"/>
            <a:ext cx="10716768"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22960" y="2871215"/>
            <a:ext cx="1600200" cy="749808"/>
          </a:xfrm>
          <a:prstGeom prst="rect">
            <a:avLst/>
          </a:prstGeom>
          <a:noFill/>
        </p:spPr>
        <p:txBody>
          <a:bodyPr wrap="square" anchor="ctr" lIns="45720" rIns="45720" tIns="27432" bIns="27432">
            <a:spAutoFit/>
          </a:bodyPr>
          <a:lstStyle/>
          <a:p>
            <a:pPr algn="l">
              <a:spcAft>
                <a:spcPts val="600"/>
              </a:spcAft>
            </a:pPr>
            <a:r>
              <a:rPr sz="1400" b="1" i="0">
                <a:solidFill>
                  <a:srgbClr val="1F2A44"/>
                </a:solidFill>
                <a:latin typeface="Segoe UI"/>
              </a:rPr>
              <a:t>2 Resolution</a:t>
            </a:r>
          </a:p>
        </p:txBody>
      </p:sp>
      <p:sp>
        <p:nvSpPr>
          <p:cNvPr id="16" name="TextBox 15"/>
          <p:cNvSpPr txBox="1"/>
          <p:nvPr/>
        </p:nvSpPr>
        <p:spPr>
          <a:xfrm>
            <a:off x="2468880" y="2871215"/>
            <a:ext cx="3154680" cy="749808"/>
          </a:xfrm>
          <a:prstGeom prst="rect">
            <a:avLst/>
          </a:prstGeom>
          <a:noFill/>
        </p:spPr>
        <p:txBody>
          <a:bodyPr wrap="square" anchor="ctr" lIns="45720" rIns="45720" tIns="27432" bIns="27432">
            <a:spAutoFit/>
          </a:bodyPr>
          <a:lstStyle/>
          <a:p>
            <a:pPr algn="l">
              <a:spcAft>
                <a:spcPts val="600"/>
              </a:spcAft>
            </a:pPr>
            <a:r>
              <a:rPr sz="1400" b="0" i="0">
                <a:solidFill>
                  <a:srgbClr val="5F6368"/>
                </a:solidFill>
                <a:latin typeface="Segoe UI"/>
              </a:rPr>
              <a:t>Retype actions and resolution</a:t>
            </a:r>
          </a:p>
        </p:txBody>
      </p:sp>
      <p:sp>
        <p:nvSpPr>
          <p:cNvPr id="17" name="TextBox 16"/>
          <p:cNvSpPr txBox="1"/>
          <p:nvPr/>
        </p:nvSpPr>
        <p:spPr>
          <a:xfrm>
            <a:off x="5760720" y="2871215"/>
            <a:ext cx="5669280" cy="749808"/>
          </a:xfrm>
          <a:prstGeom prst="rect">
            <a:avLst/>
          </a:prstGeom>
          <a:noFill/>
        </p:spPr>
        <p:txBody>
          <a:bodyPr wrap="square" anchor="ctr" lIns="45720" rIns="45720" tIns="27432" bIns="27432">
            <a:spAutoFit/>
          </a:bodyPr>
          <a:lstStyle/>
          <a:p>
            <a:pPr algn="l">
              <a:spcAft>
                <a:spcPts val="600"/>
              </a:spcAft>
            </a:pPr>
            <a:r>
              <a:rPr sz="1400" b="0" i="0">
                <a:solidFill>
                  <a:srgbClr val="202124"/>
                </a:solidFill>
                <a:latin typeface="Segoe UI"/>
              </a:rPr>
              <a:t>“Log the rollback as an action and resolve as Solved – workaround.”</a:t>
            </a:r>
          </a:p>
        </p:txBody>
      </p:sp>
      <p:sp>
        <p:nvSpPr>
          <p:cNvPr id="18" name="Rectangle 17"/>
          <p:cNvSpPr/>
          <p:nvPr/>
        </p:nvSpPr>
        <p:spPr>
          <a:xfrm>
            <a:off x="731520" y="3657599"/>
            <a:ext cx="10716768" cy="749808"/>
          </a:xfrm>
          <a:prstGeom prst="rect">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22960" y="3657599"/>
            <a:ext cx="1600200" cy="749808"/>
          </a:xfrm>
          <a:prstGeom prst="rect">
            <a:avLst/>
          </a:prstGeom>
          <a:noFill/>
        </p:spPr>
        <p:txBody>
          <a:bodyPr wrap="square" anchor="ctr" lIns="45720" rIns="45720" tIns="27432" bIns="27432">
            <a:spAutoFit/>
          </a:bodyPr>
          <a:lstStyle/>
          <a:p>
            <a:pPr algn="l">
              <a:spcAft>
                <a:spcPts val="600"/>
              </a:spcAft>
            </a:pPr>
            <a:r>
              <a:rPr sz="1400" b="1" i="0">
                <a:solidFill>
                  <a:srgbClr val="1F2A44"/>
                </a:solidFill>
                <a:latin typeface="Segoe UI"/>
              </a:rPr>
              <a:t>2 → 3</a:t>
            </a:r>
          </a:p>
        </p:txBody>
      </p:sp>
      <p:sp>
        <p:nvSpPr>
          <p:cNvPr id="20" name="TextBox 19"/>
          <p:cNvSpPr txBox="1"/>
          <p:nvPr/>
        </p:nvSpPr>
        <p:spPr>
          <a:xfrm>
            <a:off x="2468880" y="3657599"/>
            <a:ext cx="3154680" cy="749808"/>
          </a:xfrm>
          <a:prstGeom prst="rect">
            <a:avLst/>
          </a:prstGeom>
          <a:noFill/>
        </p:spPr>
        <p:txBody>
          <a:bodyPr wrap="square" anchor="ctr" lIns="45720" rIns="45720" tIns="27432" bIns="27432">
            <a:spAutoFit/>
          </a:bodyPr>
          <a:lstStyle/>
          <a:p>
            <a:pPr algn="l">
              <a:spcAft>
                <a:spcPts val="600"/>
              </a:spcAft>
            </a:pPr>
            <a:r>
              <a:rPr sz="1400" b="0" i="0">
                <a:solidFill>
                  <a:srgbClr val="5F6368"/>
                </a:solidFill>
                <a:latin typeface="Segoe UI"/>
              </a:rPr>
              <a:t>Register the problem by hand</a:t>
            </a:r>
          </a:p>
        </p:txBody>
      </p:sp>
      <p:sp>
        <p:nvSpPr>
          <p:cNvPr id="21" name="TextBox 20"/>
          <p:cNvSpPr txBox="1"/>
          <p:nvPr/>
        </p:nvSpPr>
        <p:spPr>
          <a:xfrm>
            <a:off x="5760720" y="3657599"/>
            <a:ext cx="5669280" cy="749808"/>
          </a:xfrm>
          <a:prstGeom prst="rect">
            <a:avLst/>
          </a:prstGeom>
          <a:noFill/>
        </p:spPr>
        <p:txBody>
          <a:bodyPr wrap="square" anchor="ctr" lIns="45720" rIns="45720" tIns="27432" bIns="27432">
            <a:spAutoFit/>
          </a:bodyPr>
          <a:lstStyle/>
          <a:p>
            <a:pPr algn="l">
              <a:spcAft>
                <a:spcPts val="600"/>
              </a:spcAft>
            </a:pPr>
            <a:r>
              <a:rPr sz="1400" b="0" i="0">
                <a:solidFill>
                  <a:srgbClr val="202124"/>
                </a:solidFill>
                <a:latin typeface="Segoe UI"/>
              </a:rPr>
              <a:t>“Create a problem from this incident and link them.”</a:t>
            </a:r>
          </a:p>
        </p:txBody>
      </p:sp>
      <p:sp>
        <p:nvSpPr>
          <p:cNvPr id="22" name="Rectangle 21"/>
          <p:cNvSpPr/>
          <p:nvPr/>
        </p:nvSpPr>
        <p:spPr>
          <a:xfrm>
            <a:off x="731520" y="4443983"/>
            <a:ext cx="10716768"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22960" y="4443983"/>
            <a:ext cx="1600200" cy="749808"/>
          </a:xfrm>
          <a:prstGeom prst="rect">
            <a:avLst/>
          </a:prstGeom>
          <a:noFill/>
        </p:spPr>
        <p:txBody>
          <a:bodyPr wrap="square" anchor="ctr" lIns="45720" rIns="45720" tIns="27432" bIns="27432">
            <a:spAutoFit/>
          </a:bodyPr>
          <a:lstStyle/>
          <a:p>
            <a:pPr algn="l">
              <a:spcAft>
                <a:spcPts val="600"/>
              </a:spcAft>
            </a:pPr>
            <a:r>
              <a:rPr sz="1400" b="1" i="0">
                <a:solidFill>
                  <a:srgbClr val="1F2A44"/>
                </a:solidFill>
                <a:latin typeface="Segoe UI"/>
              </a:rPr>
              <a:t>3 Problem</a:t>
            </a:r>
          </a:p>
        </p:txBody>
      </p:sp>
      <p:sp>
        <p:nvSpPr>
          <p:cNvPr id="24" name="TextBox 23"/>
          <p:cNvSpPr txBox="1"/>
          <p:nvPr/>
        </p:nvSpPr>
        <p:spPr>
          <a:xfrm>
            <a:off x="2468880" y="4443983"/>
            <a:ext cx="3154680" cy="749808"/>
          </a:xfrm>
          <a:prstGeom prst="rect">
            <a:avLst/>
          </a:prstGeom>
          <a:noFill/>
        </p:spPr>
        <p:txBody>
          <a:bodyPr wrap="square" anchor="ctr" lIns="45720" rIns="45720" tIns="27432" bIns="27432">
            <a:spAutoFit/>
          </a:bodyPr>
          <a:lstStyle/>
          <a:p>
            <a:pPr algn="l">
              <a:spcAft>
                <a:spcPts val="600"/>
              </a:spcAft>
            </a:pPr>
            <a:r>
              <a:rPr sz="1400" b="0" i="0">
                <a:solidFill>
                  <a:srgbClr val="5F6368"/>
                </a:solidFill>
                <a:latin typeface="Segoe UI"/>
              </a:rPr>
              <a:t>Search for known errors yourself</a:t>
            </a:r>
          </a:p>
        </p:txBody>
      </p:sp>
      <p:sp>
        <p:nvSpPr>
          <p:cNvPr id="25" name="TextBox 24"/>
          <p:cNvSpPr txBox="1"/>
          <p:nvPr/>
        </p:nvSpPr>
        <p:spPr>
          <a:xfrm>
            <a:off x="5760720" y="4443983"/>
            <a:ext cx="5669280" cy="749808"/>
          </a:xfrm>
          <a:prstGeom prst="rect">
            <a:avLst/>
          </a:prstGeom>
          <a:noFill/>
        </p:spPr>
        <p:txBody>
          <a:bodyPr wrap="square" anchor="ctr" lIns="45720" rIns="45720" tIns="27432" bIns="27432">
            <a:spAutoFit/>
          </a:bodyPr>
          <a:lstStyle/>
          <a:p>
            <a:pPr algn="l">
              <a:spcAft>
                <a:spcPts val="600"/>
              </a:spcAft>
            </a:pPr>
            <a:r>
              <a:rPr sz="1400" b="0" i="0">
                <a:solidFill>
                  <a:srgbClr val="202124"/>
                </a:solidFill>
                <a:latin typeface="Segoe UI"/>
              </a:rPr>
              <a:t>“Are there known errors or earlier problems for checkout-service?”</a:t>
            </a:r>
          </a:p>
        </p:txBody>
      </p:sp>
      <p:sp>
        <p:nvSpPr>
          <p:cNvPr id="26" name="Rectangle 25"/>
          <p:cNvSpPr/>
          <p:nvPr/>
        </p:nvSpPr>
        <p:spPr>
          <a:xfrm>
            <a:off x="731520" y="5230368"/>
            <a:ext cx="10716768" cy="749808"/>
          </a:xfrm>
          <a:prstGeom prst="rect">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22960" y="5230368"/>
            <a:ext cx="1600200" cy="749808"/>
          </a:xfrm>
          <a:prstGeom prst="rect">
            <a:avLst/>
          </a:prstGeom>
          <a:noFill/>
        </p:spPr>
        <p:txBody>
          <a:bodyPr wrap="square" anchor="ctr" lIns="45720" rIns="45720" tIns="27432" bIns="27432">
            <a:spAutoFit/>
          </a:bodyPr>
          <a:lstStyle/>
          <a:p>
            <a:pPr algn="l">
              <a:spcAft>
                <a:spcPts val="600"/>
              </a:spcAft>
            </a:pPr>
            <a:r>
              <a:rPr sz="1400" b="1" i="0">
                <a:solidFill>
                  <a:srgbClr val="1F2A44"/>
                </a:solidFill>
                <a:latin typeface="Segoe UI"/>
              </a:rPr>
              <a:t>4 Change</a:t>
            </a:r>
          </a:p>
        </p:txBody>
      </p:sp>
      <p:sp>
        <p:nvSpPr>
          <p:cNvPr id="28" name="TextBox 27"/>
          <p:cNvSpPr txBox="1"/>
          <p:nvPr/>
        </p:nvSpPr>
        <p:spPr>
          <a:xfrm>
            <a:off x="2468880" y="5230368"/>
            <a:ext cx="3154680" cy="749808"/>
          </a:xfrm>
          <a:prstGeom prst="rect">
            <a:avLst/>
          </a:prstGeom>
          <a:noFill/>
        </p:spPr>
        <p:txBody>
          <a:bodyPr wrap="square" anchor="ctr" lIns="45720" rIns="45720" tIns="27432" bIns="27432">
            <a:spAutoFit/>
          </a:bodyPr>
          <a:lstStyle/>
          <a:p>
            <a:pPr algn="l">
              <a:spcAft>
                <a:spcPts val="600"/>
              </a:spcAft>
            </a:pPr>
            <a:r>
              <a:rPr sz="1400" b="0" i="0">
                <a:solidFill>
                  <a:srgbClr val="5F6368"/>
                </a:solidFill>
                <a:latin typeface="Segoe UI"/>
              </a:rPr>
              <a:t>Copy RFC text into TopDesk</a:t>
            </a:r>
          </a:p>
        </p:txBody>
      </p:sp>
      <p:sp>
        <p:nvSpPr>
          <p:cNvPr id="29" name="TextBox 28"/>
          <p:cNvSpPr txBox="1"/>
          <p:nvPr/>
        </p:nvSpPr>
        <p:spPr>
          <a:xfrm>
            <a:off x="5760720" y="5230368"/>
            <a:ext cx="5669280" cy="749808"/>
          </a:xfrm>
          <a:prstGeom prst="rect">
            <a:avLst/>
          </a:prstGeom>
          <a:noFill/>
        </p:spPr>
        <p:txBody>
          <a:bodyPr wrap="square" anchor="ctr" lIns="45720" rIns="45720" tIns="27432" bIns="27432">
            <a:spAutoFit/>
          </a:bodyPr>
          <a:lstStyle/>
          <a:p>
            <a:pPr algn="l">
              <a:spcAft>
                <a:spcPts val="600"/>
              </a:spcAft>
            </a:pPr>
            <a:r>
              <a:rPr sz="1400" b="0" i="0">
                <a:solidFill>
                  <a:srgbClr val="202124"/>
                </a:solidFill>
                <a:latin typeface="Segoe UI"/>
              </a:rPr>
              <a:t>“Create a change from this RFC, link P 2607 007 and attach the document.”</a:t>
            </a:r>
          </a:p>
        </p:txBody>
      </p:sp>
      <p:sp>
        <p:nvSpPr>
          <p:cNvPr id="30" name="TextBox 29"/>
          <p:cNvSpPr txBox="1"/>
          <p:nvPr/>
        </p:nvSpPr>
        <p:spPr>
          <a:xfrm>
            <a:off x="731520" y="6080760"/>
            <a:ext cx="10789920" cy="365760"/>
          </a:xfrm>
          <a:prstGeom prst="rect">
            <a:avLst/>
          </a:prstGeom>
          <a:noFill/>
        </p:spPr>
        <p:txBody>
          <a:bodyPr wrap="square" anchor="t" lIns="45720" rIns="45720" tIns="27432" bIns="27432">
            <a:spAutoFit/>
          </a:bodyPr>
          <a:lstStyle/>
          <a:p>
            <a:pPr algn="l">
              <a:spcAft>
                <a:spcPts val="600"/>
              </a:spcAft>
            </a:pPr>
            <a:r>
              <a:rPr sz="1400" b="1" i="0">
                <a:solidFill>
                  <a:srgbClr val="5F6368"/>
                </a:solidFill>
                <a:latin typeface="Segoe UI"/>
              </a:rPr>
              <a:t>Every write still needs the engineer's confirmation in Copilot.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08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274320"/>
            <a:ext cx="10972800" cy="320040"/>
          </a:xfrm>
          <a:prstGeom prst="rect">
            <a:avLst/>
          </a:prstGeom>
          <a:noFill/>
        </p:spPr>
        <p:txBody>
          <a:bodyPr wrap="square" anchor="t" lIns="45720" rIns="45720" tIns="27432" bIns="27432">
            <a:spAutoFit/>
          </a:bodyPr>
          <a:lstStyle/>
          <a:p>
            <a:pPr algn="l">
              <a:spcAft>
                <a:spcPts val="600"/>
              </a:spcAft>
            </a:pPr>
            <a:r>
              <a:rPr sz="1200" b="1" i="0">
                <a:solidFill>
                  <a:srgbClr val="008C8A"/>
                </a:solidFill>
                <a:latin typeface="Segoe UI"/>
              </a:rPr>
              <a:t>EXAMPLE (MOCK-UP)</a:t>
            </a:r>
          </a:p>
        </p:txBody>
      </p:sp>
      <p:sp>
        <p:nvSpPr>
          <p:cNvPr id="4" name="TextBox 3"/>
          <p:cNvSpPr txBox="1"/>
          <p:nvPr/>
        </p:nvSpPr>
        <p:spPr>
          <a:xfrm>
            <a:off x="457200" y="530352"/>
            <a:ext cx="11247120" cy="731520"/>
          </a:xfrm>
          <a:prstGeom prst="rect">
            <a:avLst/>
          </a:prstGeom>
          <a:noFill/>
        </p:spPr>
        <p:txBody>
          <a:bodyPr wrap="square" anchor="t" lIns="45720" rIns="45720" tIns="27432" bIns="27432">
            <a:spAutoFit/>
          </a:bodyPr>
          <a:lstStyle/>
          <a:p>
            <a:pPr algn="l">
              <a:spcAft>
                <a:spcPts val="600"/>
              </a:spcAft>
            </a:pPr>
            <a:r>
              <a:rPr sz="3000" b="1" i="0">
                <a:solidFill>
                  <a:srgbClr val="1F2A44"/>
                </a:solidFill>
                <a:latin typeface="Segoe UI"/>
              </a:rPr>
              <a:t>What it could look like</a:t>
            </a:r>
          </a:p>
        </p:txBody>
      </p:sp>
      <p:sp>
        <p:nvSpPr>
          <p:cNvPr id="5" name="TextBox 4"/>
          <p:cNvSpPr txBox="1"/>
          <p:nvPr/>
        </p:nvSpPr>
        <p:spPr>
          <a:xfrm>
            <a:off x="457200" y="6446520"/>
            <a:ext cx="7315200" cy="274320"/>
          </a:xfrm>
          <a:prstGeom prst="rect">
            <a:avLst/>
          </a:prstGeom>
          <a:noFill/>
        </p:spPr>
        <p:txBody>
          <a:bodyPr wrap="square" anchor="t" lIns="45720" rIns="45720" tIns="27432" bIns="27432">
            <a:spAutoFit/>
          </a:bodyPr>
          <a:lstStyle/>
          <a:p>
            <a:pPr algn="l">
              <a:spcAft>
                <a:spcPts val="600"/>
              </a:spcAft>
            </a:pPr>
            <a:r>
              <a:rPr sz="1000" b="0" i="0">
                <a:solidFill>
                  <a:srgbClr val="5F6368"/>
                </a:solidFill>
                <a:latin typeface="Segoe UI"/>
              </a:rPr>
              <a:t>AI in service management  |  ShopFast workshop</a:t>
            </a:r>
          </a:p>
        </p:txBody>
      </p:sp>
      <p:sp>
        <p:nvSpPr>
          <p:cNvPr id="6" name="TextBox 5"/>
          <p:cNvSpPr txBox="1"/>
          <p:nvPr/>
        </p:nvSpPr>
        <p:spPr>
          <a:xfrm>
            <a:off x="10972800" y="6446520"/>
            <a:ext cx="777240" cy="274320"/>
          </a:xfrm>
          <a:prstGeom prst="rect">
            <a:avLst/>
          </a:prstGeom>
          <a:noFill/>
        </p:spPr>
        <p:txBody>
          <a:bodyPr wrap="square" anchor="t" lIns="45720" rIns="45720" tIns="27432" bIns="27432">
            <a:spAutoFit/>
          </a:bodyPr>
          <a:lstStyle/>
          <a:p>
            <a:pPr algn="r">
              <a:spcAft>
                <a:spcPts val="600"/>
              </a:spcAft>
            </a:pPr>
            <a:r>
              <a:rPr sz="1000" b="0" i="0">
                <a:solidFill>
                  <a:srgbClr val="5F6368"/>
                </a:solidFill>
                <a:latin typeface="Segoe UI"/>
              </a:rPr>
              <a:t>23</a:t>
            </a:r>
          </a:p>
        </p:txBody>
      </p:sp>
      <p:sp>
        <p:nvSpPr>
          <p:cNvPr id="7" name="Rounded Rectangle 6"/>
          <p:cNvSpPr/>
          <p:nvPr/>
        </p:nvSpPr>
        <p:spPr>
          <a:xfrm>
            <a:off x="731520" y="1463040"/>
            <a:ext cx="10789920" cy="4800600"/>
          </a:xfrm>
          <a:prstGeom prst="roundRect">
            <a:avLst>
              <a:gd name="adj" fmla="val 3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60120" y="1645920"/>
            <a:ext cx="10332720" cy="4572000"/>
          </a:xfrm>
          <a:prstGeom prst="rect">
            <a:avLst/>
          </a:prstGeom>
          <a:noFill/>
        </p:spPr>
        <p:txBody>
          <a:bodyPr wrap="square" anchor="t" lIns="45720" rIns="45720" tIns="27432" bIns="27432">
            <a:spAutoFit/>
          </a:bodyPr>
          <a:lstStyle/>
          <a:p>
            <a:pPr algn="l">
              <a:spcAft>
                <a:spcPts val="400"/>
              </a:spcAft>
            </a:pPr>
            <a:r>
              <a:rPr sz="1500" b="0" i="0">
                <a:solidFill>
                  <a:srgbClr val="7FD1CF"/>
                </a:solidFill>
                <a:latin typeface="Consolas"/>
              </a:rPr>
              <a:t>&gt; </a:t>
            </a:r>
            <a:r>
              <a:rPr sz="1500" b="1" i="0">
                <a:solidFill>
                  <a:srgbClr val="FFFFFF"/>
                </a:solidFill>
                <a:latin typeface="Consolas"/>
              </a:rPr>
              <a:t>I 2607 041 was solved with a rollback. Register a problem for the long-term fix and link the incident.</a:t>
            </a:r>
          </a:p>
          <a:p>
            <a:pPr algn="l">
              <a:spcAft>
                <a:spcPts val="400"/>
              </a:spcAft>
            </a:pPr>
            <a:r>
              <a:rPr sz="600" b="0" i="0">
                <a:solidFill>
                  <a:srgbClr val="202124"/>
                </a:solidFill>
                <a:latin typeface="Consolas"/>
              </a:rPr>
              <a:t/>
            </a:r>
          </a:p>
          <a:p>
            <a:pPr algn="l">
              <a:spcAft>
                <a:spcPts val="400"/>
              </a:spcAft>
            </a:pPr>
            <a:r>
              <a:rPr sz="1500" b="0" i="0">
                <a:solidFill>
                  <a:srgbClr val="7FD1CF"/>
                </a:solidFill>
                <a:latin typeface="Consolas"/>
              </a:rPr>
              <a:t>● </a:t>
            </a:r>
            <a:r>
              <a:rPr sz="1500" b="0" i="0">
                <a:solidFill>
                  <a:srgbClr val="DCDCAA"/>
                </a:solidFill>
                <a:latin typeface="Consolas"/>
              </a:rPr>
              <a:t>topdesk-get_incident </a:t>
            </a:r>
            <a:r>
              <a:rPr sz="1500" b="0" i="0">
                <a:solidFill>
                  <a:srgbClr val="9CA3AF"/>
                </a:solidFill>
                <a:latin typeface="Consolas"/>
              </a:rPr>
              <a:t>(number: "I 2607 041")</a:t>
            </a:r>
          </a:p>
          <a:p>
            <a:pPr algn="l">
              <a:spcAft>
                <a:spcPts val="400"/>
              </a:spcAft>
            </a:pPr>
            <a:r>
              <a:rPr sz="1500" b="0" i="0">
                <a:solidFill>
                  <a:srgbClr val="7FD1CF"/>
                </a:solidFill>
                <a:latin typeface="Consolas"/>
              </a:rPr>
              <a:t>● </a:t>
            </a:r>
            <a:r>
              <a:rPr sz="1500" b="0" i="0">
                <a:solidFill>
                  <a:srgbClr val="DCDCAA"/>
                </a:solidFill>
                <a:latin typeface="Consolas"/>
              </a:rPr>
              <a:t>topdesk-search_known_errors </a:t>
            </a:r>
            <a:r>
              <a:rPr sz="1500" b="0" i="0">
                <a:solidFill>
                  <a:srgbClr val="9CA3AF"/>
                </a:solidFill>
                <a:latin typeface="Consolas"/>
              </a:rPr>
              <a:t>(service: "checkout-service")  → none found</a:t>
            </a:r>
          </a:p>
          <a:p>
            <a:pPr algn="l">
              <a:spcAft>
                <a:spcPts val="400"/>
              </a:spcAft>
            </a:pPr>
            <a:r>
              <a:rPr sz="600" b="0" i="0">
                <a:solidFill>
                  <a:srgbClr val="202124"/>
                </a:solidFill>
                <a:latin typeface="Consolas"/>
              </a:rPr>
              <a:t/>
            </a:r>
          </a:p>
          <a:p>
            <a:pPr algn="l">
              <a:spcAft>
                <a:spcPts val="400"/>
              </a:spcAft>
            </a:pPr>
            <a:r>
              <a:rPr sz="1500" b="0" i="0">
                <a:solidFill>
                  <a:srgbClr val="D4D4D4"/>
                </a:solidFill>
                <a:latin typeface="Consolas"/>
              </a:rPr>
              <a:t>I'd like to create this problem:</a:t>
            </a:r>
          </a:p>
          <a:p>
            <a:pPr algn="l">
              <a:spcAft>
                <a:spcPts val="400"/>
              </a:spcAft>
            </a:pPr>
            <a:r>
              <a:rPr sz="1500" b="0" i="0">
                <a:solidFill>
                  <a:srgbClr val="9CA3AF"/>
                </a:solidFill>
                <a:latin typeface="Consolas"/>
              </a:rPr>
              <a:t>  Brief description: </a:t>
            </a:r>
            <a:r>
              <a:rPr sz="1500" b="0" i="0">
                <a:solidFill>
                  <a:srgbClr val="D4D4D4"/>
                </a:solidFill>
                <a:latin typeface="Consolas"/>
              </a:rPr>
              <a:t>Checkout failures after v2.14.0, DB connection pool exhausted</a:t>
            </a:r>
          </a:p>
          <a:p>
            <a:pPr algn="l">
              <a:spcAft>
                <a:spcPts val="400"/>
              </a:spcAft>
            </a:pPr>
            <a:r>
              <a:rPr sz="1500" b="0" i="0">
                <a:solidFill>
                  <a:srgbClr val="9CA3AF"/>
                </a:solidFill>
                <a:latin typeface="Consolas"/>
              </a:rPr>
              <a:t>  Category: </a:t>
            </a:r>
            <a:r>
              <a:rPr sz="1500" b="0" i="0">
                <a:solidFill>
                  <a:srgbClr val="D4D4D4"/>
                </a:solidFill>
                <a:latin typeface="Consolas"/>
              </a:rPr>
              <a:t>Application / checkout-service</a:t>
            </a:r>
            <a:r>
              <a:rPr sz="1500" b="0" i="0">
                <a:solidFill>
                  <a:srgbClr val="9CA3AF"/>
                </a:solidFill>
                <a:latin typeface="Consolas"/>
              </a:rPr>
              <a:t>    Impact: </a:t>
            </a:r>
            <a:r>
              <a:rPr sz="1500" b="0" i="0">
                <a:solidFill>
                  <a:srgbClr val="D4D4D4"/>
                </a:solidFill>
                <a:latin typeface="Consolas"/>
              </a:rPr>
              <a:t>High</a:t>
            </a:r>
          </a:p>
          <a:p>
            <a:pPr algn="l">
              <a:spcAft>
                <a:spcPts val="400"/>
              </a:spcAft>
            </a:pPr>
            <a:r>
              <a:rPr sz="1500" b="0" i="0">
                <a:solidFill>
                  <a:srgbClr val="9CA3AF"/>
                </a:solidFill>
                <a:latin typeface="Consolas"/>
              </a:rPr>
              <a:t>  Operator group: </a:t>
            </a:r>
            <a:r>
              <a:rPr sz="1500" b="0" i="0">
                <a:solidFill>
                  <a:srgbClr val="D4D4D4"/>
                </a:solidFill>
                <a:latin typeface="Consolas"/>
              </a:rPr>
              <a:t>SRE – Checkout Platform</a:t>
            </a:r>
            <a:r>
              <a:rPr sz="1500" b="0" i="0">
                <a:solidFill>
                  <a:srgbClr val="9CA3AF"/>
                </a:solidFill>
                <a:latin typeface="Consolas"/>
              </a:rPr>
              <a:t>    Linked incident: </a:t>
            </a:r>
            <a:r>
              <a:rPr sz="1500" b="0" i="0">
                <a:solidFill>
                  <a:srgbClr val="D4D4D4"/>
                </a:solidFill>
                <a:latin typeface="Consolas"/>
              </a:rPr>
              <a:t>I 2607 041</a:t>
            </a:r>
          </a:p>
          <a:p>
            <a:pPr algn="l">
              <a:spcAft>
                <a:spcPts val="400"/>
              </a:spcAft>
            </a:pPr>
            <a:r>
              <a:rPr sz="600" b="0" i="0">
                <a:solidFill>
                  <a:srgbClr val="202124"/>
                </a:solidFill>
                <a:latin typeface="Consolas"/>
              </a:rPr>
              <a:t/>
            </a:r>
          </a:p>
          <a:p>
            <a:pPr algn="l">
              <a:spcAft>
                <a:spcPts val="400"/>
              </a:spcAft>
            </a:pPr>
            <a:r>
              <a:rPr sz="1500" b="1" i="0">
                <a:solidFill>
                  <a:srgbClr val="F2B86B"/>
                </a:solidFill>
                <a:latin typeface="Consolas"/>
              </a:rPr>
              <a:t>? Allow tool topdesk-create_problem?   </a:t>
            </a:r>
            <a:r>
              <a:rPr sz="1500" b="1" i="0">
                <a:solidFill>
                  <a:srgbClr val="FFFFFF"/>
                </a:solidFill>
                <a:latin typeface="Consolas"/>
              </a:rPr>
              <a:t>[Yes]  [No]</a:t>
            </a:r>
          </a:p>
          <a:p>
            <a:pPr algn="l">
              <a:spcAft>
                <a:spcPts val="400"/>
              </a:spcAft>
            </a:pPr>
            <a:r>
              <a:rPr sz="600" b="0" i="0">
                <a:solidFill>
                  <a:srgbClr val="202124"/>
                </a:solidFill>
                <a:latin typeface="Consolas"/>
              </a:rPr>
              <a:t/>
            </a:r>
          </a:p>
          <a:p>
            <a:pPr algn="l">
              <a:spcAft>
                <a:spcPts val="400"/>
              </a:spcAft>
            </a:pPr>
            <a:r>
              <a:rPr sz="1500" b="0" i="0">
                <a:solidFill>
                  <a:srgbClr val="8BD58B"/>
                </a:solidFill>
                <a:latin typeface="Consolas"/>
              </a:rPr>
              <a:t>✔ Problem P 2607 007 created and linked to I 2607 041.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08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274320"/>
            <a:ext cx="10972800" cy="320040"/>
          </a:xfrm>
          <a:prstGeom prst="rect">
            <a:avLst/>
          </a:prstGeom>
          <a:noFill/>
        </p:spPr>
        <p:txBody>
          <a:bodyPr wrap="square" anchor="t" lIns="45720" rIns="45720" tIns="27432" bIns="27432">
            <a:spAutoFit/>
          </a:bodyPr>
          <a:lstStyle/>
          <a:p>
            <a:pPr algn="l">
              <a:spcAft>
                <a:spcPts val="600"/>
              </a:spcAft>
            </a:pPr>
            <a:r>
              <a:rPr sz="1200" b="1" i="0">
                <a:solidFill>
                  <a:srgbClr val="008C8A"/>
                </a:solidFill>
                <a:latin typeface="Segoe UI"/>
              </a:rPr>
              <a:t>INSIGHT</a:t>
            </a:r>
          </a:p>
        </p:txBody>
      </p:sp>
      <p:sp>
        <p:nvSpPr>
          <p:cNvPr id="4" name="TextBox 3"/>
          <p:cNvSpPr txBox="1"/>
          <p:nvPr/>
        </p:nvSpPr>
        <p:spPr>
          <a:xfrm>
            <a:off x="457200" y="530352"/>
            <a:ext cx="11247120" cy="731520"/>
          </a:xfrm>
          <a:prstGeom prst="rect">
            <a:avLst/>
          </a:prstGeom>
          <a:noFill/>
        </p:spPr>
        <p:txBody>
          <a:bodyPr wrap="square" anchor="t" lIns="45720" rIns="45720" tIns="27432" bIns="27432">
            <a:spAutoFit/>
          </a:bodyPr>
          <a:lstStyle/>
          <a:p>
            <a:pPr algn="l">
              <a:spcAft>
                <a:spcPts val="600"/>
              </a:spcAft>
            </a:pPr>
            <a:r>
              <a:rPr sz="3000" b="1" i="0">
                <a:solidFill>
                  <a:srgbClr val="1F2A44"/>
                </a:solidFill>
                <a:latin typeface="Segoe UI"/>
              </a:rPr>
              <a:t>For managers: ask TopDesk questions in plain language</a:t>
            </a:r>
          </a:p>
        </p:txBody>
      </p:sp>
      <p:sp>
        <p:nvSpPr>
          <p:cNvPr id="5" name="TextBox 4"/>
          <p:cNvSpPr txBox="1"/>
          <p:nvPr/>
        </p:nvSpPr>
        <p:spPr>
          <a:xfrm>
            <a:off x="457200" y="6446520"/>
            <a:ext cx="7315200" cy="274320"/>
          </a:xfrm>
          <a:prstGeom prst="rect">
            <a:avLst/>
          </a:prstGeom>
          <a:noFill/>
        </p:spPr>
        <p:txBody>
          <a:bodyPr wrap="square" anchor="t" lIns="45720" rIns="45720" tIns="27432" bIns="27432">
            <a:spAutoFit/>
          </a:bodyPr>
          <a:lstStyle/>
          <a:p>
            <a:pPr algn="l">
              <a:spcAft>
                <a:spcPts val="600"/>
              </a:spcAft>
            </a:pPr>
            <a:r>
              <a:rPr sz="1000" b="0" i="0">
                <a:solidFill>
                  <a:srgbClr val="5F6368"/>
                </a:solidFill>
                <a:latin typeface="Segoe UI"/>
              </a:rPr>
              <a:t>AI in service management  |  ShopFast workshop</a:t>
            </a:r>
          </a:p>
        </p:txBody>
      </p:sp>
      <p:sp>
        <p:nvSpPr>
          <p:cNvPr id="6" name="TextBox 5"/>
          <p:cNvSpPr txBox="1"/>
          <p:nvPr/>
        </p:nvSpPr>
        <p:spPr>
          <a:xfrm>
            <a:off x="10972800" y="6446520"/>
            <a:ext cx="777240" cy="274320"/>
          </a:xfrm>
          <a:prstGeom prst="rect">
            <a:avLst/>
          </a:prstGeom>
          <a:noFill/>
        </p:spPr>
        <p:txBody>
          <a:bodyPr wrap="square" anchor="t" lIns="45720" rIns="45720" tIns="27432" bIns="27432">
            <a:spAutoFit/>
          </a:bodyPr>
          <a:lstStyle/>
          <a:p>
            <a:pPr algn="r">
              <a:spcAft>
                <a:spcPts val="600"/>
              </a:spcAft>
            </a:pPr>
            <a:r>
              <a:rPr sz="1000" b="0" i="0">
                <a:solidFill>
                  <a:srgbClr val="5F6368"/>
                </a:solidFill>
                <a:latin typeface="Segoe UI"/>
              </a:rPr>
              <a:t>24</a:t>
            </a:r>
          </a:p>
        </p:txBody>
      </p:sp>
      <p:sp>
        <p:nvSpPr>
          <p:cNvPr id="7" name="Rectangle 6"/>
          <p:cNvSpPr/>
          <p:nvPr/>
        </p:nvSpPr>
        <p:spPr>
          <a:xfrm>
            <a:off x="731520" y="1508760"/>
            <a:ext cx="109728" cy="566928"/>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05840" y="1508760"/>
            <a:ext cx="6583680" cy="566928"/>
          </a:xfrm>
          <a:prstGeom prst="rect">
            <a:avLst/>
          </a:prstGeom>
          <a:noFill/>
        </p:spPr>
        <p:txBody>
          <a:bodyPr wrap="square" anchor="ctr" lIns="45720" rIns="45720" tIns="27432" bIns="27432">
            <a:spAutoFit/>
          </a:bodyPr>
          <a:lstStyle/>
          <a:p>
            <a:pPr algn="l">
              <a:spcAft>
                <a:spcPts val="600"/>
              </a:spcAft>
            </a:pPr>
            <a:r>
              <a:rPr sz="1600" b="0" i="0">
                <a:solidFill>
                  <a:srgbClr val="202124"/>
                </a:solidFill>
                <a:latin typeface="Segoe UI"/>
              </a:rPr>
              <a:t>“Which incidents were closed with a workaround, but have no problem registered?”</a:t>
            </a:r>
          </a:p>
        </p:txBody>
      </p:sp>
      <p:sp>
        <p:nvSpPr>
          <p:cNvPr id="9" name="Rectangle 8"/>
          <p:cNvSpPr/>
          <p:nvPr/>
        </p:nvSpPr>
        <p:spPr>
          <a:xfrm>
            <a:off x="731520" y="2240280"/>
            <a:ext cx="109728" cy="566928"/>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240280"/>
            <a:ext cx="6583680" cy="566928"/>
          </a:xfrm>
          <a:prstGeom prst="rect">
            <a:avLst/>
          </a:prstGeom>
          <a:noFill/>
        </p:spPr>
        <p:txBody>
          <a:bodyPr wrap="square" anchor="ctr" lIns="45720" rIns="45720" tIns="27432" bIns="27432">
            <a:spAutoFit/>
          </a:bodyPr>
          <a:lstStyle/>
          <a:p>
            <a:pPr algn="l">
              <a:spcAft>
                <a:spcPts val="600"/>
              </a:spcAft>
            </a:pPr>
            <a:r>
              <a:rPr sz="1600" b="0" i="0">
                <a:solidFill>
                  <a:srgbClr val="202124"/>
                </a:solidFill>
                <a:latin typeface="Segoe UI"/>
              </a:rPr>
              <a:t>“Which problems have been open for more than 60 days, and why?”</a:t>
            </a:r>
          </a:p>
        </p:txBody>
      </p:sp>
      <p:sp>
        <p:nvSpPr>
          <p:cNvPr id="11" name="Rectangle 10"/>
          <p:cNvSpPr/>
          <p:nvPr/>
        </p:nvSpPr>
        <p:spPr>
          <a:xfrm>
            <a:off x="731520" y="2971800"/>
            <a:ext cx="109728" cy="566928"/>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05840" y="2971800"/>
            <a:ext cx="6583680" cy="566928"/>
          </a:xfrm>
          <a:prstGeom prst="rect">
            <a:avLst/>
          </a:prstGeom>
          <a:noFill/>
        </p:spPr>
        <p:txBody>
          <a:bodyPr wrap="square" anchor="ctr" lIns="45720" rIns="45720" tIns="27432" bIns="27432">
            <a:spAutoFit/>
          </a:bodyPr>
          <a:lstStyle/>
          <a:p>
            <a:pPr algn="l">
              <a:spcAft>
                <a:spcPts val="600"/>
              </a:spcAft>
            </a:pPr>
            <a:r>
              <a:rPr sz="1600" b="0" i="0">
                <a:solidFill>
                  <a:srgbClr val="202124"/>
                </a:solidFill>
                <a:latin typeface="Segoe UI"/>
              </a:rPr>
              <a:t>“Which services had repeat incidents this quarter?”</a:t>
            </a:r>
          </a:p>
        </p:txBody>
      </p:sp>
      <p:sp>
        <p:nvSpPr>
          <p:cNvPr id="13" name="Rectangle 12"/>
          <p:cNvSpPr/>
          <p:nvPr/>
        </p:nvSpPr>
        <p:spPr>
          <a:xfrm>
            <a:off x="731520" y="3703320"/>
            <a:ext cx="109728" cy="566928"/>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05840" y="3703320"/>
            <a:ext cx="6583680" cy="566928"/>
          </a:xfrm>
          <a:prstGeom prst="rect">
            <a:avLst/>
          </a:prstGeom>
          <a:noFill/>
        </p:spPr>
        <p:txBody>
          <a:bodyPr wrap="square" anchor="ctr" lIns="45720" rIns="45720" tIns="27432" bIns="27432">
            <a:spAutoFit/>
          </a:bodyPr>
          <a:lstStyle/>
          <a:p>
            <a:pPr algn="l">
              <a:spcAft>
                <a:spcPts val="600"/>
              </a:spcAft>
            </a:pPr>
            <a:r>
              <a:rPr sz="1600" b="0" i="0">
                <a:solidFill>
                  <a:srgbClr val="202124"/>
                </a:solidFill>
                <a:latin typeface="Segoe UI"/>
              </a:rPr>
              <a:t>“How did resolution times and SLA compliance change over the past six months?”</a:t>
            </a:r>
          </a:p>
        </p:txBody>
      </p:sp>
      <p:sp>
        <p:nvSpPr>
          <p:cNvPr id="15" name="Rectangle 14"/>
          <p:cNvSpPr/>
          <p:nvPr/>
        </p:nvSpPr>
        <p:spPr>
          <a:xfrm>
            <a:off x="731520" y="4434840"/>
            <a:ext cx="109728" cy="566928"/>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005840" y="4434840"/>
            <a:ext cx="6583680" cy="566928"/>
          </a:xfrm>
          <a:prstGeom prst="rect">
            <a:avLst/>
          </a:prstGeom>
          <a:noFill/>
        </p:spPr>
        <p:txBody>
          <a:bodyPr wrap="square" anchor="ctr" lIns="45720" rIns="45720" tIns="27432" bIns="27432">
            <a:spAutoFit/>
          </a:bodyPr>
          <a:lstStyle/>
          <a:p>
            <a:pPr algn="l">
              <a:spcAft>
                <a:spcPts val="600"/>
              </a:spcAft>
            </a:pPr>
            <a:r>
              <a:rPr sz="1600" b="0" i="0">
                <a:solidFill>
                  <a:srgbClr val="202124"/>
                </a:solidFill>
                <a:latin typeface="Segoe UI"/>
              </a:rPr>
              <a:t>“Which changes caused an incident within 24 hours of implementation?”</a:t>
            </a:r>
          </a:p>
        </p:txBody>
      </p:sp>
      <p:sp>
        <p:nvSpPr>
          <p:cNvPr id="17" name="Rectangle 16"/>
          <p:cNvSpPr/>
          <p:nvPr/>
        </p:nvSpPr>
        <p:spPr>
          <a:xfrm>
            <a:off x="731520" y="5166359"/>
            <a:ext cx="109728" cy="566928"/>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05840" y="5166359"/>
            <a:ext cx="6583680" cy="566928"/>
          </a:xfrm>
          <a:prstGeom prst="rect">
            <a:avLst/>
          </a:prstGeom>
          <a:noFill/>
        </p:spPr>
        <p:txBody>
          <a:bodyPr wrap="square" anchor="ctr" lIns="45720" rIns="45720" tIns="27432" bIns="27432">
            <a:spAutoFit/>
          </a:bodyPr>
          <a:lstStyle/>
          <a:p>
            <a:pPr algn="l">
              <a:spcAft>
                <a:spcPts val="600"/>
              </a:spcAft>
            </a:pPr>
            <a:r>
              <a:rPr sz="1600" b="0" i="0">
                <a:solidFill>
                  <a:srgbClr val="202124"/>
                </a:solidFill>
                <a:latin typeface="Segoe UI"/>
              </a:rPr>
              <a:t>“Summarise last week's high priority incidents for the management team.”</a:t>
            </a:r>
          </a:p>
        </p:txBody>
      </p:sp>
      <p:sp>
        <p:nvSpPr>
          <p:cNvPr id="19" name="Rounded Rectangle 18"/>
          <p:cNvSpPr/>
          <p:nvPr/>
        </p:nvSpPr>
        <p:spPr>
          <a:xfrm>
            <a:off x="7955279" y="1508760"/>
            <a:ext cx="3566160" cy="4251960"/>
          </a:xfrm>
          <a:prstGeom prst="roundRect">
            <a:avLst>
              <a:gd name="adj" fmla="val 8000"/>
            </a:avLst>
          </a:prstGeom>
          <a:solidFill>
            <a:srgbClr val="E0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183879" y="1645920"/>
            <a:ext cx="3154680" cy="4023360"/>
          </a:xfrm>
          <a:prstGeom prst="rect">
            <a:avLst/>
          </a:prstGeom>
          <a:noFill/>
        </p:spPr>
        <p:txBody>
          <a:bodyPr wrap="square" anchor="t" lIns="45720" rIns="45720" tIns="27432" bIns="27432">
            <a:spAutoFit/>
          </a:bodyPr>
          <a:lstStyle/>
          <a:p>
            <a:pPr algn="l">
              <a:spcAft>
                <a:spcPts val="1000"/>
              </a:spcAft>
            </a:pPr>
            <a:r>
              <a:rPr sz="1900" b="1" i="0">
                <a:solidFill>
                  <a:srgbClr val="008C8A"/>
                </a:solidFill>
                <a:latin typeface="Segoe UI"/>
              </a:rPr>
              <a:t>Why this matters</a:t>
            </a:r>
          </a:p>
          <a:p>
            <a:pPr algn="l">
              <a:spcAft>
                <a:spcPts val="1000"/>
              </a:spcAft>
            </a:pPr>
            <a:r>
              <a:rPr sz="1500" b="0" i="0">
                <a:solidFill>
                  <a:srgbClr val="202124"/>
                </a:solidFill>
                <a:latin typeface="Segoe UI"/>
              </a:rPr>
              <a:t>• No custom report needed for every question</a:t>
            </a:r>
          </a:p>
          <a:p>
            <a:pPr algn="l">
              <a:spcAft>
                <a:spcPts val="1000"/>
              </a:spcAft>
            </a:pPr>
            <a:r>
              <a:rPr sz="1500" b="0" i="0">
                <a:solidFill>
                  <a:srgbClr val="202124"/>
                </a:solidFill>
                <a:latin typeface="Segoe UI"/>
              </a:rPr>
              <a:t>• Workarounds that are quietly forgotten become visible</a:t>
            </a:r>
          </a:p>
          <a:p>
            <a:pPr algn="l">
              <a:spcAft>
                <a:spcPts val="1000"/>
              </a:spcAft>
            </a:pPr>
            <a:r>
              <a:rPr sz="1500" b="0" i="0">
                <a:solidFill>
                  <a:srgbClr val="202124"/>
                </a:solidFill>
                <a:latin typeface="Segoe UI"/>
              </a:rPr>
              <a:t>• Trends and repeat issues surface earlier</a:t>
            </a:r>
          </a:p>
          <a:p>
            <a:pPr algn="l">
              <a:spcAft>
                <a:spcPts val="1000"/>
              </a:spcAft>
            </a:pPr>
            <a:r>
              <a:rPr sz="1500" b="1" i="0">
                <a:solidFill>
                  <a:srgbClr val="E07A1F"/>
                </a:solidFill>
                <a:latin typeface="Segoe UI"/>
              </a:rPr>
              <a:t>• Only as good as the data we register in TopDesk</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08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274320"/>
            <a:ext cx="10972800" cy="320040"/>
          </a:xfrm>
          <a:prstGeom prst="rect">
            <a:avLst/>
          </a:prstGeom>
          <a:noFill/>
        </p:spPr>
        <p:txBody>
          <a:bodyPr wrap="square" anchor="t" lIns="45720" rIns="45720" tIns="27432" bIns="27432">
            <a:spAutoFit/>
          </a:bodyPr>
          <a:lstStyle/>
          <a:p>
            <a:pPr algn="l">
              <a:spcAft>
                <a:spcPts val="600"/>
              </a:spcAft>
            </a:pPr>
            <a:r>
              <a:rPr sz="1200" b="1" i="0">
                <a:solidFill>
                  <a:srgbClr val="008C8A"/>
                </a:solidFill>
                <a:latin typeface="Segoe UI"/>
              </a:rPr>
              <a:t>FOOD FOR THOUGHT</a:t>
            </a:r>
          </a:p>
        </p:txBody>
      </p:sp>
      <p:sp>
        <p:nvSpPr>
          <p:cNvPr id="4" name="TextBox 3"/>
          <p:cNvSpPr txBox="1"/>
          <p:nvPr/>
        </p:nvSpPr>
        <p:spPr>
          <a:xfrm>
            <a:off x="457200" y="530352"/>
            <a:ext cx="11247120" cy="731520"/>
          </a:xfrm>
          <a:prstGeom prst="rect">
            <a:avLst/>
          </a:prstGeom>
          <a:noFill/>
        </p:spPr>
        <p:txBody>
          <a:bodyPr wrap="square" anchor="t" lIns="45720" rIns="45720" tIns="27432" bIns="27432">
            <a:spAutoFit/>
          </a:bodyPr>
          <a:lstStyle/>
          <a:p>
            <a:pPr algn="l">
              <a:spcAft>
                <a:spcPts val="600"/>
              </a:spcAft>
            </a:pPr>
            <a:r>
              <a:rPr sz="3000" b="1" i="0">
                <a:solidFill>
                  <a:srgbClr val="1F2A44"/>
                </a:solidFill>
                <a:latin typeface="Segoe UI"/>
              </a:rPr>
              <a:t>Benefits and things to consider</a:t>
            </a:r>
          </a:p>
        </p:txBody>
      </p:sp>
      <p:sp>
        <p:nvSpPr>
          <p:cNvPr id="5" name="TextBox 4"/>
          <p:cNvSpPr txBox="1"/>
          <p:nvPr/>
        </p:nvSpPr>
        <p:spPr>
          <a:xfrm>
            <a:off x="457200" y="6446520"/>
            <a:ext cx="7315200" cy="274320"/>
          </a:xfrm>
          <a:prstGeom prst="rect">
            <a:avLst/>
          </a:prstGeom>
          <a:noFill/>
        </p:spPr>
        <p:txBody>
          <a:bodyPr wrap="square" anchor="t" lIns="45720" rIns="45720" tIns="27432" bIns="27432">
            <a:spAutoFit/>
          </a:bodyPr>
          <a:lstStyle/>
          <a:p>
            <a:pPr algn="l">
              <a:spcAft>
                <a:spcPts val="600"/>
              </a:spcAft>
            </a:pPr>
            <a:r>
              <a:rPr sz="1000" b="0" i="0">
                <a:solidFill>
                  <a:srgbClr val="5F6368"/>
                </a:solidFill>
                <a:latin typeface="Segoe UI"/>
              </a:rPr>
              <a:t>AI in service management  |  ShopFast workshop</a:t>
            </a:r>
          </a:p>
        </p:txBody>
      </p:sp>
      <p:sp>
        <p:nvSpPr>
          <p:cNvPr id="6" name="TextBox 5"/>
          <p:cNvSpPr txBox="1"/>
          <p:nvPr/>
        </p:nvSpPr>
        <p:spPr>
          <a:xfrm>
            <a:off x="10972800" y="6446520"/>
            <a:ext cx="777240" cy="274320"/>
          </a:xfrm>
          <a:prstGeom prst="rect">
            <a:avLst/>
          </a:prstGeom>
          <a:noFill/>
        </p:spPr>
        <p:txBody>
          <a:bodyPr wrap="square" anchor="t" lIns="45720" rIns="45720" tIns="27432" bIns="27432">
            <a:spAutoFit/>
          </a:bodyPr>
          <a:lstStyle/>
          <a:p>
            <a:pPr algn="r">
              <a:spcAft>
                <a:spcPts val="600"/>
              </a:spcAft>
            </a:pPr>
            <a:r>
              <a:rPr sz="1000" b="0" i="0">
                <a:solidFill>
                  <a:srgbClr val="5F6368"/>
                </a:solidFill>
                <a:latin typeface="Segoe UI"/>
              </a:rPr>
              <a:t>25</a:t>
            </a:r>
          </a:p>
        </p:txBody>
      </p:sp>
      <p:sp>
        <p:nvSpPr>
          <p:cNvPr id="7" name="Rounded Rectangle 6"/>
          <p:cNvSpPr/>
          <p:nvPr/>
        </p:nvSpPr>
        <p:spPr>
          <a:xfrm>
            <a:off x="731520" y="1554480"/>
            <a:ext cx="5257800" cy="3749039"/>
          </a:xfrm>
          <a:prstGeom prst="roundRect">
            <a:avLst>
              <a:gd name="adj" fmla="val 8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731520" y="1554480"/>
            <a:ext cx="5257800" cy="502920"/>
          </a:xfrm>
          <a:prstGeom prst="roundRect">
            <a:avLst>
              <a:gd name="adj" fmla="val 15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i="0">
                <a:solidFill>
                  <a:srgbClr val="FFFFFF"/>
                </a:solidFill>
                <a:latin typeface="Segoe UI"/>
              </a:rPr>
              <a:t>Benefits</a:t>
            </a:r>
          </a:p>
        </p:txBody>
      </p:sp>
      <p:sp>
        <p:nvSpPr>
          <p:cNvPr id="9" name="TextBox 8"/>
          <p:cNvSpPr txBox="1"/>
          <p:nvPr/>
        </p:nvSpPr>
        <p:spPr>
          <a:xfrm>
            <a:off x="868680" y="2167128"/>
            <a:ext cx="4983480" cy="3063239"/>
          </a:xfrm>
          <a:prstGeom prst="rect">
            <a:avLst/>
          </a:prstGeom>
          <a:noFill/>
        </p:spPr>
        <p:txBody>
          <a:bodyPr wrap="square" anchor="t" lIns="45720" rIns="45720" tIns="27432" bIns="27432">
            <a:spAutoFit/>
          </a:bodyPr>
          <a:lstStyle/>
          <a:p>
            <a:pPr algn="l">
              <a:spcAft>
                <a:spcPts val="600"/>
              </a:spcAft>
            </a:pPr>
            <a:r>
              <a:rPr sz="1600" b="0" i="0">
                <a:solidFill>
                  <a:srgbClr val="202124"/>
                </a:solidFill>
                <a:latin typeface="Segoe UI"/>
              </a:rPr>
              <a:t>• Less copy-paste: more time for actual engineering</a:t>
            </a:r>
          </a:p>
          <a:p>
            <a:pPr algn="l">
              <a:spcAft>
                <a:spcPts val="600"/>
              </a:spcAft>
            </a:pPr>
            <a:r>
              <a:rPr sz="1600" b="0" i="0">
                <a:solidFill>
                  <a:srgbClr val="202124"/>
                </a:solidFill>
                <a:latin typeface="Segoe UI"/>
              </a:rPr>
              <a:t>• AI with full context: ticket history, linked records, known errors</a:t>
            </a:r>
          </a:p>
          <a:p>
            <a:pPr algn="l">
              <a:spcAft>
                <a:spcPts val="600"/>
              </a:spcAft>
            </a:pPr>
            <a:r>
              <a:rPr sz="1600" b="0" i="0">
                <a:solidFill>
                  <a:srgbClr val="202124"/>
                </a:solidFill>
                <a:latin typeface="Segoe UI"/>
              </a:rPr>
              <a:t>• Better TopDesk data: complete actions, consistent problems</a:t>
            </a:r>
          </a:p>
          <a:p>
            <a:pPr algn="l">
              <a:spcAft>
                <a:spcPts val="600"/>
              </a:spcAft>
            </a:pPr>
            <a:r>
              <a:rPr sz="1600" b="0" i="0">
                <a:solidFill>
                  <a:srgbClr val="202124"/>
                </a:solidFill>
                <a:latin typeface="Segoe UI"/>
              </a:rPr>
              <a:t>• Data stays in a controlled, logged channel</a:t>
            </a:r>
          </a:p>
          <a:p>
            <a:pPr algn="l">
              <a:spcAft>
                <a:spcPts val="600"/>
              </a:spcAft>
            </a:pPr>
            <a:r>
              <a:rPr sz="1600" b="0" i="0">
                <a:solidFill>
                  <a:srgbClr val="202124"/>
                </a:solidFill>
                <a:latin typeface="Segoe UI"/>
              </a:rPr>
              <a:t>• Workarounds are followed up more consistently</a:t>
            </a:r>
          </a:p>
          <a:p>
            <a:pPr algn="l">
              <a:spcAft>
                <a:spcPts val="600"/>
              </a:spcAft>
            </a:pPr>
            <a:r>
              <a:rPr sz="1600" b="0" i="0">
                <a:solidFill>
                  <a:srgbClr val="202124"/>
                </a:solidFill>
                <a:latin typeface="Segoe UI"/>
              </a:rPr>
              <a:t>• Reusable: the same server works for every team</a:t>
            </a:r>
          </a:p>
        </p:txBody>
      </p:sp>
      <p:sp>
        <p:nvSpPr>
          <p:cNvPr id="10" name="Rounded Rectangle 9"/>
          <p:cNvSpPr/>
          <p:nvPr/>
        </p:nvSpPr>
        <p:spPr>
          <a:xfrm>
            <a:off x="6217920" y="1554480"/>
            <a:ext cx="5257800" cy="3749039"/>
          </a:xfrm>
          <a:prstGeom prst="roundRect">
            <a:avLst>
              <a:gd name="adj" fmla="val 8000"/>
            </a:avLst>
          </a:prstGeom>
          <a:solidFill>
            <a:srgbClr val="FDE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6217920" y="1554480"/>
            <a:ext cx="5257800" cy="502920"/>
          </a:xfrm>
          <a:prstGeom prst="roundRect">
            <a:avLst>
              <a:gd name="adj" fmla="val 15000"/>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i="0">
                <a:solidFill>
                  <a:srgbClr val="FFFFFF"/>
                </a:solidFill>
                <a:latin typeface="Segoe UI"/>
              </a:rPr>
              <a:t>To consider</a:t>
            </a:r>
          </a:p>
        </p:txBody>
      </p:sp>
      <p:sp>
        <p:nvSpPr>
          <p:cNvPr id="12" name="TextBox 11"/>
          <p:cNvSpPr txBox="1"/>
          <p:nvPr/>
        </p:nvSpPr>
        <p:spPr>
          <a:xfrm>
            <a:off x="6355080" y="2167128"/>
            <a:ext cx="4983480" cy="3063239"/>
          </a:xfrm>
          <a:prstGeom prst="rect">
            <a:avLst/>
          </a:prstGeom>
          <a:noFill/>
        </p:spPr>
        <p:txBody>
          <a:bodyPr wrap="square" anchor="t" lIns="45720" rIns="45720" tIns="27432" bIns="27432">
            <a:spAutoFit/>
          </a:bodyPr>
          <a:lstStyle/>
          <a:p>
            <a:pPr algn="l">
              <a:spcAft>
                <a:spcPts val="600"/>
              </a:spcAft>
            </a:pPr>
            <a:r>
              <a:rPr sz="1600" b="0" i="0">
                <a:solidFill>
                  <a:srgbClr val="202124"/>
                </a:solidFill>
                <a:latin typeface="Segoe UI"/>
              </a:rPr>
              <a:t>• Security: identity, rights, write permissions</a:t>
            </a:r>
          </a:p>
          <a:p>
            <a:pPr algn="l">
              <a:spcAft>
                <a:spcPts val="600"/>
              </a:spcAft>
            </a:pPr>
            <a:r>
              <a:rPr sz="1600" b="0" i="0">
                <a:solidFill>
                  <a:srgbClr val="202124"/>
                </a:solidFill>
                <a:latin typeface="Segoe UI"/>
              </a:rPr>
              <a:t>• Privacy: TopDesk contains personal data (callers, customers)</a:t>
            </a:r>
          </a:p>
          <a:p>
            <a:pPr algn="l">
              <a:spcAft>
                <a:spcPts val="600"/>
              </a:spcAft>
            </a:pPr>
            <a:r>
              <a:rPr sz="1600" b="0" i="0">
                <a:solidFill>
                  <a:srgbClr val="202124"/>
                </a:solidFill>
                <a:latin typeface="Segoe UI"/>
              </a:rPr>
              <a:t>• Data quality: garbage in, garbage out</a:t>
            </a:r>
          </a:p>
          <a:p>
            <a:pPr algn="l">
              <a:spcAft>
                <a:spcPts val="600"/>
              </a:spcAft>
            </a:pPr>
            <a:r>
              <a:rPr sz="1600" b="0" i="0">
                <a:solidFill>
                  <a:srgbClr val="202124"/>
                </a:solidFill>
                <a:latin typeface="Segoe UI"/>
              </a:rPr>
              <a:t>• Ownership: who builds, hosts and maintains it?</a:t>
            </a:r>
          </a:p>
          <a:p>
            <a:pPr algn="l">
              <a:spcAft>
                <a:spcPts val="600"/>
              </a:spcAft>
            </a:pPr>
            <a:r>
              <a:rPr sz="1600" b="0" i="0">
                <a:solidFill>
                  <a:srgbClr val="202124"/>
                </a:solidFill>
                <a:latin typeface="Segoe UI"/>
              </a:rPr>
              <a:t>• Licences and API limits (TopDesk, Copilot)</a:t>
            </a:r>
          </a:p>
          <a:p>
            <a:pPr algn="l">
              <a:spcAft>
                <a:spcPts val="600"/>
              </a:spcAft>
            </a:pPr>
            <a:r>
              <a:rPr sz="1600" b="0" i="0">
                <a:solidFill>
                  <a:srgbClr val="202124"/>
                </a:solidFill>
                <a:latin typeface="Segoe UI"/>
              </a:rPr>
              <a:t>• Process: agreements on what AI may and may not do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08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274320"/>
            <a:ext cx="10972800" cy="320040"/>
          </a:xfrm>
          <a:prstGeom prst="rect">
            <a:avLst/>
          </a:prstGeom>
          <a:noFill/>
        </p:spPr>
        <p:txBody>
          <a:bodyPr wrap="square" anchor="t" lIns="45720" rIns="45720" tIns="27432" bIns="27432">
            <a:spAutoFit/>
          </a:bodyPr>
          <a:lstStyle/>
          <a:p>
            <a:pPr algn="l">
              <a:spcAft>
                <a:spcPts val="600"/>
              </a:spcAft>
            </a:pPr>
            <a:r>
              <a:rPr sz="1200" b="1" i="0">
                <a:solidFill>
                  <a:srgbClr val="008C8A"/>
                </a:solidFill>
                <a:latin typeface="Segoe UI"/>
              </a:rPr>
              <a:t>ROADMAP (PROPOSAL)</a:t>
            </a:r>
          </a:p>
        </p:txBody>
      </p:sp>
      <p:sp>
        <p:nvSpPr>
          <p:cNvPr id="4" name="TextBox 3"/>
          <p:cNvSpPr txBox="1"/>
          <p:nvPr/>
        </p:nvSpPr>
        <p:spPr>
          <a:xfrm>
            <a:off x="457200" y="530352"/>
            <a:ext cx="11247120" cy="731520"/>
          </a:xfrm>
          <a:prstGeom prst="rect">
            <a:avLst/>
          </a:prstGeom>
          <a:noFill/>
        </p:spPr>
        <p:txBody>
          <a:bodyPr wrap="square" anchor="t" lIns="45720" rIns="45720" tIns="27432" bIns="27432">
            <a:spAutoFit/>
          </a:bodyPr>
          <a:lstStyle/>
          <a:p>
            <a:pPr algn="l">
              <a:spcAft>
                <a:spcPts val="600"/>
              </a:spcAft>
            </a:pPr>
            <a:r>
              <a:rPr sz="3000" b="1" i="0">
                <a:solidFill>
                  <a:srgbClr val="1F2A44"/>
                </a:solidFill>
                <a:latin typeface="Segoe UI"/>
              </a:rPr>
              <a:t>A possible path: start small</a:t>
            </a:r>
          </a:p>
        </p:txBody>
      </p:sp>
      <p:sp>
        <p:nvSpPr>
          <p:cNvPr id="5" name="TextBox 4"/>
          <p:cNvSpPr txBox="1"/>
          <p:nvPr/>
        </p:nvSpPr>
        <p:spPr>
          <a:xfrm>
            <a:off x="457200" y="6446520"/>
            <a:ext cx="7315200" cy="274320"/>
          </a:xfrm>
          <a:prstGeom prst="rect">
            <a:avLst/>
          </a:prstGeom>
          <a:noFill/>
        </p:spPr>
        <p:txBody>
          <a:bodyPr wrap="square" anchor="t" lIns="45720" rIns="45720" tIns="27432" bIns="27432">
            <a:spAutoFit/>
          </a:bodyPr>
          <a:lstStyle/>
          <a:p>
            <a:pPr algn="l">
              <a:spcAft>
                <a:spcPts val="600"/>
              </a:spcAft>
            </a:pPr>
            <a:r>
              <a:rPr sz="1000" b="0" i="0">
                <a:solidFill>
                  <a:srgbClr val="5F6368"/>
                </a:solidFill>
                <a:latin typeface="Segoe UI"/>
              </a:rPr>
              <a:t>AI in service management  |  ShopFast workshop</a:t>
            </a:r>
          </a:p>
        </p:txBody>
      </p:sp>
      <p:sp>
        <p:nvSpPr>
          <p:cNvPr id="6" name="TextBox 5"/>
          <p:cNvSpPr txBox="1"/>
          <p:nvPr/>
        </p:nvSpPr>
        <p:spPr>
          <a:xfrm>
            <a:off x="10972800" y="6446520"/>
            <a:ext cx="777240" cy="274320"/>
          </a:xfrm>
          <a:prstGeom prst="rect">
            <a:avLst/>
          </a:prstGeom>
          <a:noFill/>
        </p:spPr>
        <p:txBody>
          <a:bodyPr wrap="square" anchor="t" lIns="45720" rIns="45720" tIns="27432" bIns="27432">
            <a:spAutoFit/>
          </a:bodyPr>
          <a:lstStyle/>
          <a:p>
            <a:pPr algn="r">
              <a:spcAft>
                <a:spcPts val="600"/>
              </a:spcAft>
            </a:pPr>
            <a:r>
              <a:rPr sz="1000" b="0" i="0">
                <a:solidFill>
                  <a:srgbClr val="5F6368"/>
                </a:solidFill>
                <a:latin typeface="Segoe UI"/>
              </a:rPr>
              <a:t>26</a:t>
            </a:r>
          </a:p>
        </p:txBody>
      </p:sp>
      <p:sp>
        <p:nvSpPr>
          <p:cNvPr id="7" name="Rounded Rectangle 6"/>
          <p:cNvSpPr/>
          <p:nvPr/>
        </p:nvSpPr>
        <p:spPr>
          <a:xfrm>
            <a:off x="731520" y="1645920"/>
            <a:ext cx="3291840" cy="914400"/>
          </a:xfrm>
          <a:prstGeom prst="roundRect">
            <a:avLst>
              <a:gd name="adj" fmla="val 8000"/>
            </a:avLst>
          </a:prstGeom>
          <a:solidFill>
            <a:srgbClr val="008C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i="0">
                <a:solidFill>
                  <a:srgbClr val="FFFFFF"/>
                </a:solidFill>
                <a:latin typeface="Segoe UI"/>
              </a:rPr>
              <a:t>1. Read-only pilot</a:t>
            </a:r>
          </a:p>
        </p:txBody>
      </p:sp>
      <p:sp>
        <p:nvSpPr>
          <p:cNvPr id="8" name="Rounded Rectangle 7"/>
          <p:cNvSpPr/>
          <p:nvPr/>
        </p:nvSpPr>
        <p:spPr>
          <a:xfrm>
            <a:off x="731520" y="2697480"/>
            <a:ext cx="3291840" cy="210312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14400" y="2834640"/>
            <a:ext cx="2971800" cy="1920240"/>
          </a:xfrm>
          <a:prstGeom prst="rect">
            <a:avLst/>
          </a:prstGeom>
          <a:noFill/>
        </p:spPr>
        <p:txBody>
          <a:bodyPr wrap="square" anchor="t" lIns="45720" rIns="45720" tIns="27432" bIns="27432">
            <a:spAutoFit/>
          </a:bodyPr>
          <a:lstStyle/>
          <a:p>
            <a:pPr algn="l">
              <a:spcAft>
                <a:spcPts val="1000"/>
              </a:spcAft>
            </a:pPr>
            <a:r>
              <a:rPr sz="1500" b="0" i="0">
                <a:solidFill>
                  <a:srgbClr val="202124"/>
                </a:solidFill>
                <a:latin typeface="Segoe UI"/>
              </a:rPr>
              <a:t>• One team, a few engineers</a:t>
            </a:r>
          </a:p>
          <a:p>
            <a:pPr algn="l">
              <a:spcAft>
                <a:spcPts val="1000"/>
              </a:spcAft>
            </a:pPr>
            <a:r>
              <a:rPr sz="1500" b="0" i="0">
                <a:solidFill>
                  <a:srgbClr val="202124"/>
                </a:solidFill>
                <a:latin typeface="Segoe UI"/>
              </a:rPr>
              <a:t>• get / search incidents, problems, known errors</a:t>
            </a:r>
          </a:p>
          <a:p>
            <a:pPr algn="l">
              <a:spcAft>
                <a:spcPts val="1000"/>
              </a:spcAft>
            </a:pPr>
            <a:r>
              <a:rPr sz="1500" b="0" i="0">
                <a:solidFill>
                  <a:srgbClr val="202124"/>
                </a:solidFill>
                <a:latin typeface="Segoe UI"/>
              </a:rPr>
              <a:t>• Measure: time saved, usefulness</a:t>
            </a:r>
          </a:p>
        </p:txBody>
      </p:sp>
      <p:sp>
        <p:nvSpPr>
          <p:cNvPr id="10" name="Right Arrow 9"/>
          <p:cNvSpPr/>
          <p:nvPr/>
        </p:nvSpPr>
        <p:spPr>
          <a:xfrm>
            <a:off x="4096512" y="1920240"/>
            <a:ext cx="457200" cy="365760"/>
          </a:xfrm>
          <a:prstGeom prst="rightArrow">
            <a:avLst/>
          </a:prstGeom>
          <a:solidFill>
            <a:srgbClr val="5F63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26280" y="1645920"/>
            <a:ext cx="3291840" cy="914400"/>
          </a:xfrm>
          <a:prstGeom prst="roundRect">
            <a:avLst>
              <a:gd name="adj" fmla="val 8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i="0">
                <a:solidFill>
                  <a:srgbClr val="FFFFFF"/>
                </a:solidFill>
                <a:latin typeface="Segoe UI"/>
              </a:rPr>
              <a:t>2. Write with approval</a:t>
            </a:r>
          </a:p>
        </p:txBody>
      </p:sp>
      <p:sp>
        <p:nvSpPr>
          <p:cNvPr id="12" name="Rounded Rectangle 11"/>
          <p:cNvSpPr/>
          <p:nvPr/>
        </p:nvSpPr>
        <p:spPr>
          <a:xfrm>
            <a:off x="4526280" y="2697480"/>
            <a:ext cx="3291840" cy="210312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09160" y="2834640"/>
            <a:ext cx="2971800" cy="1920240"/>
          </a:xfrm>
          <a:prstGeom prst="rect">
            <a:avLst/>
          </a:prstGeom>
          <a:noFill/>
        </p:spPr>
        <p:txBody>
          <a:bodyPr wrap="square" anchor="t" lIns="45720" rIns="45720" tIns="27432" bIns="27432">
            <a:spAutoFit/>
          </a:bodyPr>
          <a:lstStyle/>
          <a:p>
            <a:pPr algn="l">
              <a:spcAft>
                <a:spcPts val="1000"/>
              </a:spcAft>
            </a:pPr>
            <a:r>
              <a:rPr sz="1500" b="0" i="0">
                <a:solidFill>
                  <a:srgbClr val="202124"/>
                </a:solidFill>
                <a:latin typeface="Segoe UI"/>
              </a:rPr>
              <a:t>• add_action, create_problem, link_incident</a:t>
            </a:r>
          </a:p>
          <a:p>
            <a:pPr algn="l">
              <a:spcAft>
                <a:spcPts val="1000"/>
              </a:spcAft>
            </a:pPr>
            <a:r>
              <a:rPr sz="1500" b="0" i="0">
                <a:solidFill>
                  <a:srgbClr val="202124"/>
                </a:solidFill>
                <a:latin typeface="Segoe UI"/>
              </a:rPr>
              <a:t>• Always confirmed by the engineer</a:t>
            </a:r>
          </a:p>
          <a:p>
            <a:pPr algn="l">
              <a:spcAft>
                <a:spcPts val="1000"/>
              </a:spcAft>
            </a:pPr>
            <a:r>
              <a:rPr sz="1500" b="0" i="0">
                <a:solidFill>
                  <a:srgbClr val="202124"/>
                </a:solidFill>
                <a:latin typeface="Segoe UI"/>
              </a:rPr>
              <a:t>• Audit log reviewed</a:t>
            </a:r>
          </a:p>
        </p:txBody>
      </p:sp>
      <p:sp>
        <p:nvSpPr>
          <p:cNvPr id="14" name="Right Arrow 13"/>
          <p:cNvSpPr/>
          <p:nvPr/>
        </p:nvSpPr>
        <p:spPr>
          <a:xfrm>
            <a:off x="7891272" y="1920240"/>
            <a:ext cx="457200" cy="365760"/>
          </a:xfrm>
          <a:prstGeom prst="rightArrow">
            <a:avLst/>
          </a:prstGeom>
          <a:solidFill>
            <a:srgbClr val="5F63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321040" y="1645920"/>
            <a:ext cx="3291840" cy="914400"/>
          </a:xfrm>
          <a:prstGeom prst="roundRect">
            <a:avLst>
              <a:gd name="adj" fmla="val 8000"/>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i="0">
                <a:solidFill>
                  <a:srgbClr val="FFFFFF"/>
                </a:solidFill>
                <a:latin typeface="Segoe UI"/>
              </a:rPr>
              <a:t>3. Scale and connect</a:t>
            </a:r>
          </a:p>
        </p:txBody>
      </p:sp>
      <p:sp>
        <p:nvSpPr>
          <p:cNvPr id="16" name="Rounded Rectangle 15"/>
          <p:cNvSpPr/>
          <p:nvPr/>
        </p:nvSpPr>
        <p:spPr>
          <a:xfrm>
            <a:off x="8321040" y="2697480"/>
            <a:ext cx="3291840" cy="210312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503920" y="2834640"/>
            <a:ext cx="2971800" cy="1920240"/>
          </a:xfrm>
          <a:prstGeom prst="rect">
            <a:avLst/>
          </a:prstGeom>
          <a:noFill/>
        </p:spPr>
        <p:txBody>
          <a:bodyPr wrap="square" anchor="t" lIns="45720" rIns="45720" tIns="27432" bIns="27432">
            <a:spAutoFit/>
          </a:bodyPr>
          <a:lstStyle/>
          <a:p>
            <a:pPr algn="l">
              <a:spcAft>
                <a:spcPts val="1000"/>
              </a:spcAft>
            </a:pPr>
            <a:r>
              <a:rPr sz="1500" b="0" i="0">
                <a:solidFill>
                  <a:srgbClr val="202124"/>
                </a:solidFill>
                <a:latin typeface="Segoe UI"/>
              </a:rPr>
              <a:t>• More teams, change management</a:t>
            </a:r>
          </a:p>
          <a:p>
            <a:pPr algn="l">
              <a:spcAft>
                <a:spcPts val="1000"/>
              </a:spcAft>
            </a:pPr>
            <a:r>
              <a:rPr sz="1500" b="0" i="0">
                <a:solidFill>
                  <a:srgbClr val="202124"/>
                </a:solidFill>
                <a:latin typeface="Segoe UI"/>
              </a:rPr>
              <a:t>• Combine with monitoring and GitHub MCP servers</a:t>
            </a:r>
          </a:p>
          <a:p>
            <a:pPr algn="l">
              <a:spcAft>
                <a:spcPts val="1000"/>
              </a:spcAft>
            </a:pPr>
            <a:r>
              <a:rPr sz="1500" b="0" i="0">
                <a:solidFill>
                  <a:srgbClr val="202124"/>
                </a:solidFill>
                <a:latin typeface="Segoe UI"/>
              </a:rPr>
              <a:t>• Management insight questions</a:t>
            </a:r>
          </a:p>
        </p:txBody>
      </p:sp>
      <p:sp>
        <p:nvSpPr>
          <p:cNvPr id="18" name="TextBox 17"/>
          <p:cNvSpPr txBox="1"/>
          <p:nvPr/>
        </p:nvSpPr>
        <p:spPr>
          <a:xfrm>
            <a:off x="731520" y="5029200"/>
            <a:ext cx="10789920" cy="640080"/>
          </a:xfrm>
          <a:prstGeom prst="rect">
            <a:avLst/>
          </a:prstGeom>
          <a:noFill/>
        </p:spPr>
        <p:txBody>
          <a:bodyPr wrap="square" anchor="t" lIns="45720" rIns="45720" tIns="27432" bIns="27432">
            <a:spAutoFit/>
          </a:bodyPr>
          <a:lstStyle/>
          <a:p>
            <a:pPr algn="l">
              <a:spcAft>
                <a:spcPts val="600"/>
              </a:spcAft>
            </a:pPr>
            <a:r>
              <a:rPr sz="1500" b="1" i="0">
                <a:solidFill>
                  <a:srgbClr val="5F6368"/>
                </a:solidFill>
                <a:latin typeface="Segoe UI"/>
              </a:rPr>
              <a:t>Each step only after the previous one proves its value, with security and privacy involved from day one.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08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274320"/>
            <a:ext cx="10972800" cy="320040"/>
          </a:xfrm>
          <a:prstGeom prst="rect">
            <a:avLst/>
          </a:prstGeom>
          <a:noFill/>
        </p:spPr>
        <p:txBody>
          <a:bodyPr wrap="square" anchor="t" lIns="45720" rIns="45720" tIns="27432" bIns="27432">
            <a:spAutoFit/>
          </a:bodyPr>
          <a:lstStyle/>
          <a:p>
            <a:pPr algn="l">
              <a:spcAft>
                <a:spcPts val="600"/>
              </a:spcAft>
            </a:pPr>
            <a:r>
              <a:rPr sz="1200" b="1" i="0">
                <a:solidFill>
                  <a:srgbClr val="008C8A"/>
                </a:solidFill>
                <a:latin typeface="Segoe UI"/>
              </a:rPr>
              <a:t>DISCUSSION</a:t>
            </a:r>
          </a:p>
        </p:txBody>
      </p:sp>
      <p:sp>
        <p:nvSpPr>
          <p:cNvPr id="4" name="TextBox 3"/>
          <p:cNvSpPr txBox="1"/>
          <p:nvPr/>
        </p:nvSpPr>
        <p:spPr>
          <a:xfrm>
            <a:off x="457200" y="530352"/>
            <a:ext cx="11247120" cy="731520"/>
          </a:xfrm>
          <a:prstGeom prst="rect">
            <a:avLst/>
          </a:prstGeom>
          <a:noFill/>
        </p:spPr>
        <p:txBody>
          <a:bodyPr wrap="square" anchor="t" lIns="45720" rIns="45720" tIns="27432" bIns="27432">
            <a:spAutoFit/>
          </a:bodyPr>
          <a:lstStyle/>
          <a:p>
            <a:pPr algn="l">
              <a:spcAft>
                <a:spcPts val="600"/>
              </a:spcAft>
            </a:pPr>
            <a:r>
              <a:rPr sz="3000" b="1" i="0">
                <a:solidFill>
                  <a:srgbClr val="1F2A44"/>
                </a:solidFill>
                <a:latin typeface="Segoe UI"/>
              </a:rPr>
              <a:t>Let's discuss</a:t>
            </a:r>
          </a:p>
        </p:txBody>
      </p:sp>
      <p:sp>
        <p:nvSpPr>
          <p:cNvPr id="5" name="TextBox 4"/>
          <p:cNvSpPr txBox="1"/>
          <p:nvPr/>
        </p:nvSpPr>
        <p:spPr>
          <a:xfrm>
            <a:off x="457200" y="6446520"/>
            <a:ext cx="7315200" cy="274320"/>
          </a:xfrm>
          <a:prstGeom prst="rect">
            <a:avLst/>
          </a:prstGeom>
          <a:noFill/>
        </p:spPr>
        <p:txBody>
          <a:bodyPr wrap="square" anchor="t" lIns="45720" rIns="45720" tIns="27432" bIns="27432">
            <a:spAutoFit/>
          </a:bodyPr>
          <a:lstStyle/>
          <a:p>
            <a:pPr algn="l">
              <a:spcAft>
                <a:spcPts val="600"/>
              </a:spcAft>
            </a:pPr>
            <a:r>
              <a:rPr sz="1000" b="0" i="0">
                <a:solidFill>
                  <a:srgbClr val="5F6368"/>
                </a:solidFill>
                <a:latin typeface="Segoe UI"/>
              </a:rPr>
              <a:t>AI in service management  |  ShopFast workshop</a:t>
            </a:r>
          </a:p>
        </p:txBody>
      </p:sp>
      <p:sp>
        <p:nvSpPr>
          <p:cNvPr id="6" name="TextBox 5"/>
          <p:cNvSpPr txBox="1"/>
          <p:nvPr/>
        </p:nvSpPr>
        <p:spPr>
          <a:xfrm>
            <a:off x="10972800" y="6446520"/>
            <a:ext cx="777240" cy="274320"/>
          </a:xfrm>
          <a:prstGeom prst="rect">
            <a:avLst/>
          </a:prstGeom>
          <a:noFill/>
        </p:spPr>
        <p:txBody>
          <a:bodyPr wrap="square" anchor="t" lIns="45720" rIns="45720" tIns="27432" bIns="27432">
            <a:spAutoFit/>
          </a:bodyPr>
          <a:lstStyle/>
          <a:p>
            <a:pPr algn="r">
              <a:spcAft>
                <a:spcPts val="600"/>
              </a:spcAft>
            </a:pPr>
            <a:r>
              <a:rPr sz="1000" b="0" i="0">
                <a:solidFill>
                  <a:srgbClr val="5F6368"/>
                </a:solidFill>
                <a:latin typeface="Segoe UI"/>
              </a:rPr>
              <a:t>27</a:t>
            </a:r>
          </a:p>
        </p:txBody>
      </p:sp>
      <p:sp>
        <p:nvSpPr>
          <p:cNvPr id="7" name="Rounded Rectangle 6"/>
          <p:cNvSpPr/>
          <p:nvPr/>
        </p:nvSpPr>
        <p:spPr>
          <a:xfrm>
            <a:off x="731520" y="1554480"/>
            <a:ext cx="5257800" cy="310896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731520" y="1554480"/>
            <a:ext cx="5257800" cy="502920"/>
          </a:xfrm>
          <a:prstGeom prst="roundRect">
            <a:avLst>
              <a:gd name="adj" fmla="val 15000"/>
            </a:avLst>
          </a:prstGeom>
          <a:solidFill>
            <a:srgbClr val="008C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i="0">
                <a:solidFill>
                  <a:srgbClr val="FFFFFF"/>
                </a:solidFill>
                <a:latin typeface="Segoe UI"/>
              </a:rPr>
              <a:t>Engineers</a:t>
            </a:r>
          </a:p>
        </p:txBody>
      </p:sp>
      <p:sp>
        <p:nvSpPr>
          <p:cNvPr id="9" name="TextBox 8"/>
          <p:cNvSpPr txBox="1"/>
          <p:nvPr/>
        </p:nvSpPr>
        <p:spPr>
          <a:xfrm>
            <a:off x="868680" y="2167128"/>
            <a:ext cx="4983480" cy="2423159"/>
          </a:xfrm>
          <a:prstGeom prst="rect">
            <a:avLst/>
          </a:prstGeom>
          <a:noFill/>
        </p:spPr>
        <p:txBody>
          <a:bodyPr wrap="square" anchor="t" lIns="45720" rIns="45720" tIns="27432" bIns="27432">
            <a:spAutoFit/>
          </a:bodyPr>
          <a:lstStyle/>
          <a:p>
            <a:pPr algn="l">
              <a:spcAft>
                <a:spcPts val="1400"/>
              </a:spcAft>
            </a:pPr>
            <a:r>
              <a:rPr sz="2000" b="0" i="0">
                <a:solidFill>
                  <a:srgbClr val="202124"/>
                </a:solidFill>
                <a:latin typeface="Segoe UI"/>
              </a:rPr>
              <a:t>• Which TopDesk task would you most like to hand off?</a:t>
            </a:r>
          </a:p>
          <a:p>
            <a:pPr algn="l">
              <a:spcAft>
                <a:spcPts val="1400"/>
              </a:spcAft>
            </a:pPr>
            <a:r>
              <a:rPr sz="2000" b="0" i="0">
                <a:solidFill>
                  <a:srgbClr val="202124"/>
                </a:solidFill>
                <a:latin typeface="Segoe UI"/>
              </a:rPr>
              <a:t>• What should AI never do in TopDesk?</a:t>
            </a:r>
          </a:p>
          <a:p>
            <a:pPr algn="l">
              <a:spcAft>
                <a:spcPts val="1400"/>
              </a:spcAft>
            </a:pPr>
            <a:r>
              <a:rPr sz="2000" b="0" i="0">
                <a:solidFill>
                  <a:srgbClr val="202124"/>
                </a:solidFill>
                <a:latin typeface="Segoe UI"/>
              </a:rPr>
              <a:t>• Would you trust it to write actions for you?</a:t>
            </a:r>
          </a:p>
        </p:txBody>
      </p:sp>
      <p:sp>
        <p:nvSpPr>
          <p:cNvPr id="10" name="Rounded Rectangle 9"/>
          <p:cNvSpPr/>
          <p:nvPr/>
        </p:nvSpPr>
        <p:spPr>
          <a:xfrm>
            <a:off x="6217920" y="1554480"/>
            <a:ext cx="5257800" cy="3108960"/>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6217920" y="1554480"/>
            <a:ext cx="5257800" cy="502920"/>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i="0">
                <a:solidFill>
                  <a:srgbClr val="FFFFFF"/>
                </a:solidFill>
                <a:latin typeface="Segoe UI"/>
              </a:rPr>
              <a:t>Managers</a:t>
            </a:r>
          </a:p>
        </p:txBody>
      </p:sp>
      <p:sp>
        <p:nvSpPr>
          <p:cNvPr id="12" name="TextBox 11"/>
          <p:cNvSpPr txBox="1"/>
          <p:nvPr/>
        </p:nvSpPr>
        <p:spPr>
          <a:xfrm>
            <a:off x="6355080" y="2167128"/>
            <a:ext cx="4983480" cy="2423159"/>
          </a:xfrm>
          <a:prstGeom prst="rect">
            <a:avLst/>
          </a:prstGeom>
          <a:noFill/>
        </p:spPr>
        <p:txBody>
          <a:bodyPr wrap="square" anchor="t" lIns="45720" rIns="45720" tIns="27432" bIns="27432">
            <a:spAutoFit/>
          </a:bodyPr>
          <a:lstStyle/>
          <a:p>
            <a:pPr algn="l">
              <a:spcAft>
                <a:spcPts val="1400"/>
              </a:spcAft>
            </a:pPr>
            <a:r>
              <a:rPr sz="2000" b="0" i="0">
                <a:solidFill>
                  <a:srgbClr val="202124"/>
                </a:solidFill>
                <a:latin typeface="Segoe UI"/>
              </a:rPr>
              <a:t>• Which question would you ask TopDesk first?</a:t>
            </a:r>
          </a:p>
          <a:p>
            <a:pPr algn="l">
              <a:spcAft>
                <a:spcPts val="1400"/>
              </a:spcAft>
            </a:pPr>
            <a:r>
              <a:rPr sz="2000" b="0" i="0">
                <a:solidFill>
                  <a:srgbClr val="202124"/>
                </a:solidFill>
                <a:latin typeface="Segoe UI"/>
              </a:rPr>
              <a:t>• What would make you comfortable with AI writing to TopDesk?</a:t>
            </a:r>
          </a:p>
          <a:p>
            <a:pPr algn="l">
              <a:spcAft>
                <a:spcPts val="1400"/>
              </a:spcAft>
            </a:pPr>
            <a:r>
              <a:rPr sz="2000" b="0" i="0">
                <a:solidFill>
                  <a:srgbClr val="202124"/>
                </a:solidFill>
                <a:latin typeface="Segoe UI"/>
              </a:rPr>
              <a:t>• Is a read-only pilot worth exploring?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2103120"/>
            <a:ext cx="10515600" cy="1097280"/>
          </a:xfrm>
          <a:prstGeom prst="rect">
            <a:avLst/>
          </a:prstGeom>
          <a:noFill/>
        </p:spPr>
        <p:txBody>
          <a:bodyPr wrap="square" anchor="t" lIns="45720" rIns="45720" tIns="27432" bIns="27432">
            <a:spAutoFit/>
          </a:bodyPr>
          <a:lstStyle/>
          <a:p>
            <a:pPr algn="l">
              <a:spcAft>
                <a:spcPts val="600"/>
              </a:spcAft>
            </a:pPr>
            <a:r>
              <a:rPr sz="4000" b="1" i="0">
                <a:solidFill>
                  <a:srgbClr val="FFFFFF"/>
                </a:solidFill>
                <a:latin typeface="Segoe UI"/>
              </a:rPr>
              <a:t>AI drafts. You verify. You decide. You own.</a:t>
            </a:r>
          </a:p>
        </p:txBody>
      </p:sp>
      <p:sp>
        <p:nvSpPr>
          <p:cNvPr id="4" name="TextBox 3"/>
          <p:cNvSpPr txBox="1"/>
          <p:nvPr/>
        </p:nvSpPr>
        <p:spPr>
          <a:xfrm>
            <a:off x="822960" y="3291840"/>
            <a:ext cx="10515600" cy="1371600"/>
          </a:xfrm>
          <a:prstGeom prst="rect">
            <a:avLst/>
          </a:prstGeom>
          <a:noFill/>
        </p:spPr>
        <p:txBody>
          <a:bodyPr wrap="square" anchor="t" lIns="45720" rIns="45720" tIns="27432" bIns="27432">
            <a:spAutoFit/>
          </a:bodyPr>
          <a:lstStyle/>
          <a:p>
            <a:pPr algn="l">
              <a:spcAft>
                <a:spcPts val="1000"/>
              </a:spcAft>
            </a:pPr>
            <a:r>
              <a:rPr sz="2000" b="0" i="0">
                <a:solidFill>
                  <a:srgbClr val="C8D0DC"/>
                </a:solidFill>
                <a:latin typeface="Segoe UI"/>
              </a:rPr>
              <a:t>Thank you!</a:t>
            </a:r>
          </a:p>
          <a:p>
            <a:pPr algn="l">
              <a:spcAft>
                <a:spcPts val="1000"/>
              </a:spcAft>
            </a:pPr>
            <a:r>
              <a:rPr sz="2000" b="0" i="0">
                <a:solidFill>
                  <a:srgbClr val="C8D0DC"/>
                </a:solidFill>
                <a:latin typeface="Segoe UI"/>
              </a:rPr>
              <a:t>The prompt library and the model answers will be shared after the workshop.</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008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320040"/>
          </a:xfrm>
          <a:prstGeom prst="rect">
            <a:avLst/>
          </a:prstGeom>
          <a:noFill/>
        </p:spPr>
        <p:txBody>
          <a:bodyPr wrap="square" anchor="t" lIns="45720" rIns="45720" tIns="27432" bIns="27432">
            <a:spAutoFit/>
          </a:bodyPr>
          <a:lstStyle/>
          <a:p>
            <a:pPr algn="l">
              <a:spcAft>
                <a:spcPts val="600"/>
              </a:spcAft>
            </a:pPr>
            <a:r>
              <a:rPr sz="1200" b="1">
                <a:solidFill>
                  <a:srgbClr val="008C8A"/>
                </a:solidFill>
                <a:latin typeface="Segoe UI"/>
              </a:rPr>
              <a:t>SECURITY (CONCEPT)</a:t>
            </a:r>
          </a:p>
        </p:txBody>
      </p:sp>
      <p:sp>
        <p:nvSpPr>
          <p:cNvPr id="4" name="TextBox 3"/>
          <p:cNvSpPr txBox="1"/>
          <p:nvPr/>
        </p:nvSpPr>
        <p:spPr>
          <a:xfrm>
            <a:off x="457200" y="530352"/>
            <a:ext cx="11247120" cy="731520"/>
          </a:xfrm>
          <a:prstGeom prst="rect">
            <a:avLst/>
          </a:prstGeom>
          <a:noFill/>
        </p:spPr>
        <p:txBody>
          <a:bodyPr wrap="square" anchor="t" lIns="45720" rIns="45720" tIns="27432" bIns="27432">
            <a:spAutoFit/>
          </a:bodyPr>
          <a:lstStyle/>
          <a:p>
            <a:pPr algn="l">
              <a:spcAft>
                <a:spcPts val="600"/>
              </a:spcAft>
            </a:pPr>
            <a:r>
              <a:rPr sz="3000" b="1">
                <a:solidFill>
                  <a:srgbClr val="1F2A44"/>
                </a:solidFill>
                <a:latin typeface="Segoe UI"/>
              </a:rPr>
              <a:t>Only what we choose: an allowlist, not the full API</a:t>
            </a:r>
          </a:p>
        </p:txBody>
      </p:sp>
      <p:sp>
        <p:nvSpPr>
          <p:cNvPr id="5" name="TextBox 4"/>
          <p:cNvSpPr txBox="1"/>
          <p:nvPr/>
        </p:nvSpPr>
        <p:spPr>
          <a:xfrm>
            <a:off x="457200" y="6446520"/>
            <a:ext cx="7315200" cy="274320"/>
          </a:xfrm>
          <a:prstGeom prst="rect">
            <a:avLst/>
          </a:prstGeom>
          <a:noFill/>
        </p:spPr>
        <p:txBody>
          <a:bodyPr wrap="square" anchor="t" lIns="45720" rIns="45720" tIns="27432" bIns="27432">
            <a:spAutoFit/>
          </a:bodyPr>
          <a:lstStyle/>
          <a:p>
            <a:pPr algn="l">
              <a:spcAft>
                <a:spcPts val="600"/>
              </a:spcAft>
            </a:pPr>
            <a:r>
              <a:rPr sz="1000" b="0">
                <a:solidFill>
                  <a:srgbClr val="5F6368"/>
                </a:solidFill>
                <a:latin typeface="Segoe UI"/>
              </a:rPr>
              <a:t>AI in service management  |  ShopFast workshop</a:t>
            </a:r>
          </a:p>
        </p:txBody>
      </p:sp>
      <p:sp>
        <p:nvSpPr>
          <p:cNvPr id="6" name="TextBox 5"/>
          <p:cNvSpPr txBox="1"/>
          <p:nvPr/>
        </p:nvSpPr>
        <p:spPr>
          <a:xfrm>
            <a:off x="10972800" y="6446520"/>
            <a:ext cx="777240" cy="274320"/>
          </a:xfrm>
          <a:prstGeom prst="rect">
            <a:avLst/>
          </a:prstGeom>
          <a:noFill/>
        </p:spPr>
        <p:txBody>
          <a:bodyPr wrap="square" anchor="t" lIns="45720" rIns="45720" tIns="27432" bIns="27432">
            <a:spAutoFit/>
          </a:bodyPr>
          <a:lstStyle/>
          <a:p>
            <a:pPr algn="r">
              <a:spcAft>
                <a:spcPts val="600"/>
              </a:spcAft>
            </a:pPr>
            <a:r>
              <a:rPr sz="1000" b="0">
                <a:solidFill>
                  <a:srgbClr val="5F6368"/>
                </a:solidFill>
                <a:latin typeface="Segoe UI"/>
              </a:rPr>
              <a:t>19</a:t>
            </a:r>
          </a:p>
        </p:txBody>
      </p:sp>
      <p:sp>
        <p:nvSpPr>
          <p:cNvPr id="7" name="Rounded Rectangle 6"/>
          <p:cNvSpPr/>
          <p:nvPr/>
        </p:nvSpPr>
        <p:spPr>
          <a:xfrm>
            <a:off x="640080" y="1417320"/>
            <a:ext cx="2743200" cy="3703320"/>
          </a:xfrm>
          <a:prstGeom prst="roundRect">
            <a:avLst>
              <a:gd name="adj" fmla="val 8000"/>
            </a:avLst>
          </a:prstGeom>
          <a:solidFill>
            <a:srgbClr val="E0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508760"/>
            <a:ext cx="2468880" cy="365760"/>
          </a:xfrm>
          <a:prstGeom prst="rect">
            <a:avLst/>
          </a:prstGeom>
          <a:noFill/>
        </p:spPr>
        <p:txBody>
          <a:bodyPr wrap="square" anchor="t" lIns="45720" rIns="45720" tIns="27432" bIns="27432">
            <a:spAutoFit/>
          </a:bodyPr>
          <a:lstStyle/>
          <a:p>
            <a:pPr algn="l">
              <a:spcAft>
                <a:spcPts val="600"/>
              </a:spcAft>
            </a:pPr>
            <a:r>
              <a:rPr sz="1500" b="1">
                <a:solidFill>
                  <a:srgbClr val="008C8A"/>
                </a:solidFill>
                <a:latin typeface="Segoe UI"/>
              </a:rPr>
              <a:t>AI can call</a:t>
            </a:r>
          </a:p>
        </p:txBody>
      </p:sp>
      <p:sp>
        <p:nvSpPr>
          <p:cNvPr id="9" name="Rounded Rectangle 8"/>
          <p:cNvSpPr/>
          <p:nvPr/>
        </p:nvSpPr>
        <p:spPr>
          <a:xfrm>
            <a:off x="777240" y="1920240"/>
            <a:ext cx="2468880" cy="38404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300" b="1">
                <a:solidFill>
                  <a:srgbClr val="1F2A44"/>
                </a:solidFill>
                <a:latin typeface="Consolas"/>
              </a:rPr>
              <a:t>get_incident</a:t>
            </a:r>
          </a:p>
        </p:txBody>
      </p:sp>
      <p:sp>
        <p:nvSpPr>
          <p:cNvPr id="10" name="Rounded Rectangle 9"/>
          <p:cNvSpPr/>
          <p:nvPr/>
        </p:nvSpPr>
        <p:spPr>
          <a:xfrm>
            <a:off x="777240" y="2377440"/>
            <a:ext cx="2468880" cy="38404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300" b="1">
                <a:solidFill>
                  <a:srgbClr val="1F2A44"/>
                </a:solidFill>
                <a:latin typeface="Consolas"/>
              </a:rPr>
              <a:t>search_incidents</a:t>
            </a:r>
          </a:p>
        </p:txBody>
      </p:sp>
      <p:sp>
        <p:nvSpPr>
          <p:cNvPr id="11" name="Rounded Rectangle 10"/>
          <p:cNvSpPr/>
          <p:nvPr/>
        </p:nvSpPr>
        <p:spPr>
          <a:xfrm>
            <a:off x="777240" y="2834640"/>
            <a:ext cx="2468880" cy="38404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300" b="1">
                <a:solidFill>
                  <a:srgbClr val="1F2A44"/>
                </a:solidFill>
                <a:latin typeface="Consolas"/>
              </a:rPr>
              <a:t>get_problem</a:t>
            </a:r>
          </a:p>
        </p:txBody>
      </p:sp>
      <p:sp>
        <p:nvSpPr>
          <p:cNvPr id="12" name="Rounded Rectangle 11"/>
          <p:cNvSpPr/>
          <p:nvPr/>
        </p:nvSpPr>
        <p:spPr>
          <a:xfrm>
            <a:off x="777240" y="3291840"/>
            <a:ext cx="2468880" cy="38404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300" b="1">
                <a:solidFill>
                  <a:srgbClr val="1F2A44"/>
                </a:solidFill>
                <a:latin typeface="Consolas"/>
              </a:rPr>
              <a:t>search_known_errors</a:t>
            </a:r>
          </a:p>
        </p:txBody>
      </p:sp>
      <p:sp>
        <p:nvSpPr>
          <p:cNvPr id="13" name="Rounded Rectangle 12"/>
          <p:cNvSpPr/>
          <p:nvPr/>
        </p:nvSpPr>
        <p:spPr>
          <a:xfrm>
            <a:off x="777240" y="3749039"/>
            <a:ext cx="2468880" cy="38404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300" b="1">
                <a:solidFill>
                  <a:srgbClr val="1F2A44"/>
                </a:solidFill>
                <a:latin typeface="Consolas"/>
              </a:rPr>
              <a:t>add_action  ✎</a:t>
            </a:r>
          </a:p>
        </p:txBody>
      </p:sp>
      <p:sp>
        <p:nvSpPr>
          <p:cNvPr id="14" name="Rounded Rectangle 13"/>
          <p:cNvSpPr/>
          <p:nvPr/>
        </p:nvSpPr>
        <p:spPr>
          <a:xfrm>
            <a:off x="777240" y="4206240"/>
            <a:ext cx="2468880" cy="38404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300" b="1">
                <a:solidFill>
                  <a:srgbClr val="1F2A44"/>
                </a:solidFill>
                <a:latin typeface="Consolas"/>
              </a:rPr>
              <a:t>create_problem  ✎</a:t>
            </a:r>
          </a:p>
        </p:txBody>
      </p:sp>
      <p:sp>
        <p:nvSpPr>
          <p:cNvPr id="15" name="TextBox 14"/>
          <p:cNvSpPr txBox="1"/>
          <p:nvPr/>
        </p:nvSpPr>
        <p:spPr>
          <a:xfrm>
            <a:off x="777240" y="4681728"/>
            <a:ext cx="2468880" cy="365760"/>
          </a:xfrm>
          <a:prstGeom prst="rect">
            <a:avLst/>
          </a:prstGeom>
          <a:noFill/>
        </p:spPr>
        <p:txBody>
          <a:bodyPr wrap="square" anchor="t" lIns="45720" rIns="45720" tIns="27432" bIns="27432">
            <a:spAutoFit/>
          </a:bodyPr>
          <a:lstStyle/>
          <a:p>
            <a:pPr algn="l">
              <a:spcAft>
                <a:spcPts val="600"/>
              </a:spcAft>
            </a:pPr>
            <a:r>
              <a:rPr sz="1100" b="0">
                <a:solidFill>
                  <a:srgbClr val="5F6368"/>
                </a:solidFill>
                <a:latin typeface="Segoe UI"/>
              </a:rPr>
              <a:t>✎ = asks the engineer first</a:t>
            </a:r>
          </a:p>
        </p:txBody>
      </p:sp>
      <p:sp>
        <p:nvSpPr>
          <p:cNvPr id="16" name="Right Arrow 15"/>
          <p:cNvSpPr/>
          <p:nvPr/>
        </p:nvSpPr>
        <p:spPr>
          <a:xfrm>
            <a:off x="3474720" y="3063240"/>
            <a:ext cx="548640" cy="365760"/>
          </a:xfrm>
          <a:prstGeom prst="rightArrow">
            <a:avLst/>
          </a:prstGeom>
          <a:solidFill>
            <a:srgbClr val="5F63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37560" y="3474720"/>
            <a:ext cx="822960" cy="548640"/>
          </a:xfrm>
          <a:prstGeom prst="rect">
            <a:avLst/>
          </a:prstGeom>
          <a:noFill/>
        </p:spPr>
        <p:txBody>
          <a:bodyPr wrap="square" anchor="t" lIns="45720" rIns="45720" tIns="27432" bIns="27432">
            <a:spAutoFit/>
          </a:bodyPr>
          <a:lstStyle/>
          <a:p>
            <a:pPr algn="ctr">
              <a:spcAft>
                <a:spcPts val="0"/>
              </a:spcAft>
            </a:pPr>
            <a:r>
              <a:rPr sz="900" b="1">
                <a:solidFill>
                  <a:srgbClr val="5F6368"/>
                </a:solidFill>
                <a:latin typeface="Segoe UI"/>
              </a:rPr>
              <a:t>MCP
OAuth / SSO</a:t>
            </a:r>
          </a:p>
        </p:txBody>
      </p:sp>
      <p:sp>
        <p:nvSpPr>
          <p:cNvPr id="18" name="Rounded Rectangle 17"/>
          <p:cNvSpPr/>
          <p:nvPr/>
        </p:nvSpPr>
        <p:spPr>
          <a:xfrm>
            <a:off x="4114800" y="1417320"/>
            <a:ext cx="3291840" cy="3703320"/>
          </a:xfrm>
          <a:prstGeom prst="roundRect">
            <a:avLst>
              <a:gd name="adj" fmla="val 8000"/>
            </a:avLst>
          </a:prstGeom>
          <a:solidFill>
            <a:srgbClr val="FDEFE3"/>
          </a:solidFill>
          <a:ln w="15875">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51960" y="1508760"/>
            <a:ext cx="3017520" cy="365760"/>
          </a:xfrm>
          <a:prstGeom prst="rect">
            <a:avLst/>
          </a:prstGeom>
          <a:noFill/>
        </p:spPr>
        <p:txBody>
          <a:bodyPr wrap="square" anchor="t" lIns="45720" rIns="45720" tIns="27432" bIns="27432">
            <a:spAutoFit/>
          </a:bodyPr>
          <a:lstStyle/>
          <a:p>
            <a:pPr algn="l">
              <a:spcAft>
                <a:spcPts val="600"/>
              </a:spcAft>
            </a:pPr>
            <a:r>
              <a:rPr sz="1700" b="1">
                <a:solidFill>
                  <a:srgbClr val="E07A1F"/>
                </a:solidFill>
                <a:latin typeface="Segoe UI"/>
              </a:rPr>
              <a:t>Our MCP server</a:t>
            </a:r>
          </a:p>
        </p:txBody>
      </p:sp>
      <p:sp>
        <p:nvSpPr>
          <p:cNvPr id="20" name="Rounded Rectangle 19"/>
          <p:cNvSpPr/>
          <p:nvPr/>
        </p:nvSpPr>
        <p:spPr>
          <a:xfrm>
            <a:off x="4251960" y="1965960"/>
            <a:ext cx="3017520" cy="7315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43400" y="2020824"/>
            <a:ext cx="2834640" cy="640080"/>
          </a:xfrm>
          <a:prstGeom prst="rect">
            <a:avLst/>
          </a:prstGeom>
          <a:noFill/>
        </p:spPr>
        <p:txBody>
          <a:bodyPr wrap="square" anchor="ctr" lIns="45720" rIns="45720" tIns="27432" bIns="27432">
            <a:spAutoFit/>
          </a:bodyPr>
          <a:lstStyle/>
          <a:p>
            <a:pPr algn="l">
              <a:spcAft>
                <a:spcPts val="600"/>
              </a:spcAft>
            </a:pPr>
            <a:r>
              <a:rPr sz="1300" b="1">
                <a:solidFill>
                  <a:srgbClr val="1F2A44"/>
                </a:solidFill>
                <a:latin typeface="Segoe UI"/>
              </a:rPr>
              <a:t>Allowlist: </a:t>
            </a:r>
            <a:r>
              <a:rPr sz="1300" b="0">
                <a:solidFill>
                  <a:srgbClr val="202124"/>
                </a:solidFill>
                <a:latin typeface="Segoe UI"/>
              </a:rPr>
              <a:t>only the tools we wrote exist</a:t>
            </a:r>
          </a:p>
        </p:txBody>
      </p:sp>
      <p:sp>
        <p:nvSpPr>
          <p:cNvPr id="22" name="Rounded Rectangle 21"/>
          <p:cNvSpPr/>
          <p:nvPr/>
        </p:nvSpPr>
        <p:spPr>
          <a:xfrm>
            <a:off x="4251960" y="2752344"/>
            <a:ext cx="3017520" cy="7315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43400" y="2807208"/>
            <a:ext cx="2834640" cy="640080"/>
          </a:xfrm>
          <a:prstGeom prst="rect">
            <a:avLst/>
          </a:prstGeom>
          <a:noFill/>
        </p:spPr>
        <p:txBody>
          <a:bodyPr wrap="square" anchor="ctr" lIns="45720" rIns="45720" tIns="27432" bIns="27432">
            <a:spAutoFit/>
          </a:bodyPr>
          <a:lstStyle/>
          <a:p>
            <a:pPr algn="l">
              <a:spcAft>
                <a:spcPts val="600"/>
              </a:spcAft>
            </a:pPr>
            <a:r>
              <a:rPr sz="1300" b="1">
                <a:solidFill>
                  <a:srgbClr val="1F2A44"/>
                </a:solidFill>
                <a:latin typeface="Segoe UI"/>
              </a:rPr>
              <a:t>Filter: </a:t>
            </a:r>
            <a:r>
              <a:rPr sz="1300" b="0">
                <a:solidFill>
                  <a:srgbClr val="202124"/>
                </a:solidFill>
                <a:latin typeface="Segoe UI"/>
              </a:rPr>
              <a:t>only our operator group; no caller names or e-mail</a:t>
            </a:r>
          </a:p>
        </p:txBody>
      </p:sp>
      <p:sp>
        <p:nvSpPr>
          <p:cNvPr id="24" name="Rounded Rectangle 23"/>
          <p:cNvSpPr/>
          <p:nvPr/>
        </p:nvSpPr>
        <p:spPr>
          <a:xfrm>
            <a:off x="4251960" y="3538727"/>
            <a:ext cx="3017520" cy="7315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43400" y="3593591"/>
            <a:ext cx="2834640" cy="640080"/>
          </a:xfrm>
          <a:prstGeom prst="rect">
            <a:avLst/>
          </a:prstGeom>
          <a:noFill/>
        </p:spPr>
        <p:txBody>
          <a:bodyPr wrap="square" anchor="ctr" lIns="45720" rIns="45720" tIns="27432" bIns="27432">
            <a:spAutoFit/>
          </a:bodyPr>
          <a:lstStyle/>
          <a:p>
            <a:pPr algn="l">
              <a:spcAft>
                <a:spcPts val="600"/>
              </a:spcAft>
            </a:pPr>
            <a:r>
              <a:rPr sz="1300" b="1">
                <a:solidFill>
                  <a:srgbClr val="1F2A44"/>
                </a:solidFill>
                <a:latin typeface="Segoe UI"/>
              </a:rPr>
              <a:t>Confirm: </a:t>
            </a:r>
            <a:r>
              <a:rPr sz="1300" b="0">
                <a:solidFill>
                  <a:srgbClr val="202124"/>
                </a:solidFill>
                <a:latin typeface="Segoe UI"/>
              </a:rPr>
              <a:t>every write is approved by the engineer</a:t>
            </a:r>
          </a:p>
        </p:txBody>
      </p:sp>
      <p:sp>
        <p:nvSpPr>
          <p:cNvPr id="26" name="Rounded Rectangle 25"/>
          <p:cNvSpPr/>
          <p:nvPr/>
        </p:nvSpPr>
        <p:spPr>
          <a:xfrm>
            <a:off x="4251960" y="4325112"/>
            <a:ext cx="3017520" cy="7315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43400" y="4379975"/>
            <a:ext cx="2834640" cy="640080"/>
          </a:xfrm>
          <a:prstGeom prst="rect">
            <a:avLst/>
          </a:prstGeom>
          <a:noFill/>
        </p:spPr>
        <p:txBody>
          <a:bodyPr wrap="square" anchor="ctr" lIns="45720" rIns="45720" tIns="27432" bIns="27432">
            <a:spAutoFit/>
          </a:bodyPr>
          <a:lstStyle/>
          <a:p>
            <a:pPr algn="l">
              <a:spcAft>
                <a:spcPts val="600"/>
              </a:spcAft>
            </a:pPr>
            <a:r>
              <a:rPr sz="1300" b="1">
                <a:solidFill>
                  <a:srgbClr val="1F2A44"/>
                </a:solidFill>
                <a:latin typeface="Segoe UI"/>
              </a:rPr>
              <a:t>Log: </a:t>
            </a:r>
            <a:r>
              <a:rPr sz="1300" b="0">
                <a:solidFill>
                  <a:srgbClr val="202124"/>
                </a:solidFill>
                <a:latin typeface="Segoe UI"/>
              </a:rPr>
              <a:t>who asked what, and what changed</a:t>
            </a:r>
          </a:p>
        </p:txBody>
      </p:sp>
      <p:sp>
        <p:nvSpPr>
          <p:cNvPr id="28" name="Right Arrow 27"/>
          <p:cNvSpPr/>
          <p:nvPr/>
        </p:nvSpPr>
        <p:spPr>
          <a:xfrm>
            <a:off x="7498079" y="3063240"/>
            <a:ext cx="548640" cy="365760"/>
          </a:xfrm>
          <a:prstGeom prst="rightArrow">
            <a:avLst/>
          </a:prstGeom>
          <a:solidFill>
            <a:srgbClr val="5F63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60920" y="3474720"/>
            <a:ext cx="822960" cy="548640"/>
          </a:xfrm>
          <a:prstGeom prst="rect">
            <a:avLst/>
          </a:prstGeom>
          <a:noFill/>
        </p:spPr>
        <p:txBody>
          <a:bodyPr wrap="square" anchor="t" lIns="45720" rIns="45720" tIns="27432" bIns="27432">
            <a:spAutoFit/>
          </a:bodyPr>
          <a:lstStyle/>
          <a:p>
            <a:pPr algn="ctr">
              <a:spcAft>
                <a:spcPts val="0"/>
              </a:spcAft>
            </a:pPr>
            <a:r>
              <a:rPr sz="900" b="1">
                <a:solidFill>
                  <a:srgbClr val="5F6368"/>
                </a:solidFill>
                <a:latin typeface="Segoe UI"/>
              </a:rPr>
              <a:t>REST API
server key</a:t>
            </a:r>
          </a:p>
        </p:txBody>
      </p:sp>
      <p:sp>
        <p:nvSpPr>
          <p:cNvPr id="30" name="Rounded Rectangle 29"/>
          <p:cNvSpPr/>
          <p:nvPr/>
        </p:nvSpPr>
        <p:spPr>
          <a:xfrm>
            <a:off x="8138160" y="1417320"/>
            <a:ext cx="3429000" cy="3703320"/>
          </a:xfrm>
          <a:prstGeom prst="roundRect">
            <a:avLst>
              <a:gd name="adj" fmla="val 8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75320" y="1508760"/>
            <a:ext cx="3154680" cy="365760"/>
          </a:xfrm>
          <a:prstGeom prst="rect">
            <a:avLst/>
          </a:prstGeom>
          <a:noFill/>
        </p:spPr>
        <p:txBody>
          <a:bodyPr wrap="square" anchor="t" lIns="45720" rIns="45720" tIns="27432" bIns="27432">
            <a:spAutoFit/>
          </a:bodyPr>
          <a:lstStyle/>
          <a:p>
            <a:pPr algn="l">
              <a:spcAft>
                <a:spcPts val="600"/>
              </a:spcAft>
            </a:pPr>
            <a:r>
              <a:rPr sz="1500" b="1">
                <a:solidFill>
                  <a:srgbClr val="FFFFFF"/>
                </a:solidFill>
                <a:latin typeface="Segoe UI"/>
              </a:rPr>
              <a:t>TOPdesk REST API (full)</a:t>
            </a:r>
          </a:p>
        </p:txBody>
      </p:sp>
      <p:sp>
        <p:nvSpPr>
          <p:cNvPr id="32" name="TextBox 31"/>
          <p:cNvSpPr txBox="1"/>
          <p:nvPr/>
        </p:nvSpPr>
        <p:spPr>
          <a:xfrm>
            <a:off x="8275320" y="1920240"/>
            <a:ext cx="3200400" cy="329184"/>
          </a:xfrm>
          <a:prstGeom prst="rect">
            <a:avLst/>
          </a:prstGeom>
          <a:noFill/>
        </p:spPr>
        <p:txBody>
          <a:bodyPr wrap="square" anchor="t" lIns="45720" rIns="45720" tIns="27432" bIns="27432">
            <a:spAutoFit/>
          </a:bodyPr>
          <a:lstStyle/>
          <a:p>
            <a:pPr algn="l">
              <a:spcAft>
                <a:spcPts val="600"/>
              </a:spcAft>
            </a:pPr>
            <a:r>
              <a:rPr sz="1300" b="1">
                <a:solidFill>
                  <a:srgbClr val="8BD58B"/>
                </a:solidFill>
                <a:latin typeface="Segoe UI"/>
              </a:rPr>
              <a:t>✔ </a:t>
            </a:r>
            <a:r>
              <a:rPr sz="1300" b="0">
                <a:solidFill>
                  <a:srgbClr val="FFFFFF"/>
                </a:solidFill>
                <a:latin typeface="Segoe UI"/>
              </a:rPr>
              <a:t>Incidents: read, add action</a:t>
            </a:r>
          </a:p>
        </p:txBody>
      </p:sp>
      <p:sp>
        <p:nvSpPr>
          <p:cNvPr id="33" name="TextBox 32"/>
          <p:cNvSpPr txBox="1"/>
          <p:nvPr/>
        </p:nvSpPr>
        <p:spPr>
          <a:xfrm>
            <a:off x="8275320" y="2258568"/>
            <a:ext cx="3200400" cy="329184"/>
          </a:xfrm>
          <a:prstGeom prst="rect">
            <a:avLst/>
          </a:prstGeom>
          <a:noFill/>
        </p:spPr>
        <p:txBody>
          <a:bodyPr wrap="square" anchor="t" lIns="45720" rIns="45720" tIns="27432" bIns="27432">
            <a:spAutoFit/>
          </a:bodyPr>
          <a:lstStyle/>
          <a:p>
            <a:pPr algn="l">
              <a:spcAft>
                <a:spcPts val="600"/>
              </a:spcAft>
            </a:pPr>
            <a:r>
              <a:rPr sz="1300" b="1">
                <a:solidFill>
                  <a:srgbClr val="8BD58B"/>
                </a:solidFill>
                <a:latin typeface="Segoe UI"/>
              </a:rPr>
              <a:t>✔ </a:t>
            </a:r>
            <a:r>
              <a:rPr sz="1300" b="0">
                <a:solidFill>
                  <a:srgbClr val="FFFFFF"/>
                </a:solidFill>
                <a:latin typeface="Segoe UI"/>
              </a:rPr>
              <a:t>Problems: read, create</a:t>
            </a:r>
          </a:p>
        </p:txBody>
      </p:sp>
      <p:sp>
        <p:nvSpPr>
          <p:cNvPr id="34" name="TextBox 33"/>
          <p:cNvSpPr txBox="1"/>
          <p:nvPr/>
        </p:nvSpPr>
        <p:spPr>
          <a:xfrm>
            <a:off x="8275320" y="2596896"/>
            <a:ext cx="3200400" cy="329184"/>
          </a:xfrm>
          <a:prstGeom prst="rect">
            <a:avLst/>
          </a:prstGeom>
          <a:noFill/>
        </p:spPr>
        <p:txBody>
          <a:bodyPr wrap="square" anchor="t" lIns="45720" rIns="45720" tIns="27432" bIns="27432">
            <a:spAutoFit/>
          </a:bodyPr>
          <a:lstStyle/>
          <a:p>
            <a:pPr algn="l">
              <a:spcAft>
                <a:spcPts val="600"/>
              </a:spcAft>
            </a:pPr>
            <a:r>
              <a:rPr sz="1300" b="1">
                <a:solidFill>
                  <a:srgbClr val="8BD58B"/>
                </a:solidFill>
                <a:latin typeface="Segoe UI"/>
              </a:rPr>
              <a:t>✔ </a:t>
            </a:r>
            <a:r>
              <a:rPr sz="1300" b="0">
                <a:solidFill>
                  <a:srgbClr val="FFFFFF"/>
                </a:solidFill>
                <a:latin typeface="Segoe UI"/>
              </a:rPr>
              <a:t>Known errors: read</a:t>
            </a:r>
          </a:p>
        </p:txBody>
      </p:sp>
      <p:sp>
        <p:nvSpPr>
          <p:cNvPr id="35" name="TextBox 34"/>
          <p:cNvSpPr txBox="1"/>
          <p:nvPr/>
        </p:nvSpPr>
        <p:spPr>
          <a:xfrm>
            <a:off x="8275320" y="2935224"/>
            <a:ext cx="3200400" cy="329184"/>
          </a:xfrm>
          <a:prstGeom prst="rect">
            <a:avLst/>
          </a:prstGeom>
          <a:noFill/>
        </p:spPr>
        <p:txBody>
          <a:bodyPr wrap="square" anchor="t" lIns="45720" rIns="45720" tIns="27432" bIns="27432">
            <a:spAutoFit/>
          </a:bodyPr>
          <a:lstStyle/>
          <a:p>
            <a:pPr algn="l">
              <a:spcAft>
                <a:spcPts val="600"/>
              </a:spcAft>
            </a:pPr>
            <a:r>
              <a:rPr sz="1300" b="1">
                <a:solidFill>
                  <a:srgbClr val="8A93A3"/>
                </a:solidFill>
                <a:latin typeface="Segoe UI"/>
              </a:rPr>
              <a:t>✖ </a:t>
            </a:r>
            <a:r>
              <a:rPr sz="1300" b="0">
                <a:solidFill>
                  <a:srgbClr val="8A93A3"/>
                </a:solidFill>
                <a:latin typeface="Segoe UI"/>
              </a:rPr>
              <a:t>Incidents: delete, archive</a:t>
            </a:r>
          </a:p>
        </p:txBody>
      </p:sp>
      <p:sp>
        <p:nvSpPr>
          <p:cNvPr id="36" name="TextBox 35"/>
          <p:cNvSpPr txBox="1"/>
          <p:nvPr/>
        </p:nvSpPr>
        <p:spPr>
          <a:xfrm>
            <a:off x="8275320" y="3273552"/>
            <a:ext cx="3200400" cy="329184"/>
          </a:xfrm>
          <a:prstGeom prst="rect">
            <a:avLst/>
          </a:prstGeom>
          <a:noFill/>
        </p:spPr>
        <p:txBody>
          <a:bodyPr wrap="square" anchor="t" lIns="45720" rIns="45720" tIns="27432" bIns="27432">
            <a:spAutoFit/>
          </a:bodyPr>
          <a:lstStyle/>
          <a:p>
            <a:pPr algn="l">
              <a:spcAft>
                <a:spcPts val="600"/>
              </a:spcAft>
            </a:pPr>
            <a:r>
              <a:rPr sz="1300" b="1">
                <a:solidFill>
                  <a:srgbClr val="8A93A3"/>
                </a:solidFill>
                <a:latin typeface="Segoe UI"/>
              </a:rPr>
              <a:t>✖ </a:t>
            </a:r>
            <a:r>
              <a:rPr sz="1300" b="0">
                <a:solidFill>
                  <a:srgbClr val="8A93A3"/>
                </a:solidFill>
                <a:latin typeface="Segoe UI"/>
              </a:rPr>
              <a:t>Persons &amp; operators</a:t>
            </a:r>
          </a:p>
        </p:txBody>
      </p:sp>
      <p:sp>
        <p:nvSpPr>
          <p:cNvPr id="37" name="TextBox 36"/>
          <p:cNvSpPr txBox="1"/>
          <p:nvPr/>
        </p:nvSpPr>
        <p:spPr>
          <a:xfrm>
            <a:off x="8275320" y="3611880"/>
            <a:ext cx="3200400" cy="329184"/>
          </a:xfrm>
          <a:prstGeom prst="rect">
            <a:avLst/>
          </a:prstGeom>
          <a:noFill/>
        </p:spPr>
        <p:txBody>
          <a:bodyPr wrap="square" anchor="t" lIns="45720" rIns="45720" tIns="27432" bIns="27432">
            <a:spAutoFit/>
          </a:bodyPr>
          <a:lstStyle/>
          <a:p>
            <a:pPr algn="l">
              <a:spcAft>
                <a:spcPts val="600"/>
              </a:spcAft>
            </a:pPr>
            <a:r>
              <a:rPr sz="1300" b="1">
                <a:solidFill>
                  <a:srgbClr val="8A93A3"/>
                </a:solidFill>
                <a:latin typeface="Segoe UI"/>
              </a:rPr>
              <a:t>✖ </a:t>
            </a:r>
            <a:r>
              <a:rPr sz="1300" b="0">
                <a:solidFill>
                  <a:srgbClr val="8A93A3"/>
                </a:solidFill>
                <a:latin typeface="Segoe UI"/>
              </a:rPr>
              <a:t>Assets &amp; CMDB</a:t>
            </a:r>
          </a:p>
        </p:txBody>
      </p:sp>
      <p:sp>
        <p:nvSpPr>
          <p:cNvPr id="38" name="TextBox 37"/>
          <p:cNvSpPr txBox="1"/>
          <p:nvPr/>
        </p:nvSpPr>
        <p:spPr>
          <a:xfrm>
            <a:off x="8275320" y="3950208"/>
            <a:ext cx="3200400" cy="329184"/>
          </a:xfrm>
          <a:prstGeom prst="rect">
            <a:avLst/>
          </a:prstGeom>
          <a:noFill/>
        </p:spPr>
        <p:txBody>
          <a:bodyPr wrap="square" anchor="t" lIns="45720" rIns="45720" tIns="27432" bIns="27432">
            <a:spAutoFit/>
          </a:bodyPr>
          <a:lstStyle/>
          <a:p>
            <a:pPr algn="l">
              <a:spcAft>
                <a:spcPts val="600"/>
              </a:spcAft>
            </a:pPr>
            <a:r>
              <a:rPr sz="1300" b="1">
                <a:solidFill>
                  <a:srgbClr val="8A93A3"/>
                </a:solidFill>
                <a:latin typeface="Segoe UI"/>
              </a:rPr>
              <a:t>✖ </a:t>
            </a:r>
            <a:r>
              <a:rPr sz="1300" b="0">
                <a:solidFill>
                  <a:srgbClr val="8A93A3"/>
                </a:solidFill>
                <a:latin typeface="Segoe UI"/>
              </a:rPr>
              <a:t>Changes: approve, implement</a:t>
            </a:r>
          </a:p>
        </p:txBody>
      </p:sp>
      <p:sp>
        <p:nvSpPr>
          <p:cNvPr id="39" name="TextBox 38"/>
          <p:cNvSpPr txBox="1"/>
          <p:nvPr/>
        </p:nvSpPr>
        <p:spPr>
          <a:xfrm>
            <a:off x="8275320" y="4288536"/>
            <a:ext cx="3200400" cy="329184"/>
          </a:xfrm>
          <a:prstGeom prst="rect">
            <a:avLst/>
          </a:prstGeom>
          <a:noFill/>
        </p:spPr>
        <p:txBody>
          <a:bodyPr wrap="square" anchor="t" lIns="45720" rIns="45720" tIns="27432" bIns="27432">
            <a:spAutoFit/>
          </a:bodyPr>
          <a:lstStyle/>
          <a:p>
            <a:pPr algn="l">
              <a:spcAft>
                <a:spcPts val="600"/>
              </a:spcAft>
            </a:pPr>
            <a:r>
              <a:rPr sz="1300" b="1">
                <a:solidFill>
                  <a:srgbClr val="8A93A3"/>
                </a:solidFill>
                <a:latin typeface="Segoe UI"/>
              </a:rPr>
              <a:t>✖ </a:t>
            </a:r>
            <a:r>
              <a:rPr sz="1300" b="0">
                <a:solidFill>
                  <a:srgbClr val="8A93A3"/>
                </a:solidFill>
                <a:latin typeface="Segoe UI"/>
              </a:rPr>
              <a:t>Settings, permissions</a:t>
            </a:r>
          </a:p>
        </p:txBody>
      </p:sp>
      <p:sp>
        <p:nvSpPr>
          <p:cNvPr id="40" name="TextBox 39"/>
          <p:cNvSpPr txBox="1"/>
          <p:nvPr/>
        </p:nvSpPr>
        <p:spPr>
          <a:xfrm>
            <a:off x="8275320" y="4626864"/>
            <a:ext cx="3200400" cy="329184"/>
          </a:xfrm>
          <a:prstGeom prst="rect">
            <a:avLst/>
          </a:prstGeom>
          <a:noFill/>
        </p:spPr>
        <p:txBody>
          <a:bodyPr wrap="square" anchor="t" lIns="45720" rIns="45720" tIns="27432" bIns="27432">
            <a:spAutoFit/>
          </a:bodyPr>
          <a:lstStyle/>
          <a:p>
            <a:pPr algn="l">
              <a:spcAft>
                <a:spcPts val="600"/>
              </a:spcAft>
            </a:pPr>
            <a:r>
              <a:rPr sz="1300" b="1">
                <a:solidFill>
                  <a:srgbClr val="8A93A3"/>
                </a:solidFill>
                <a:latin typeface="Segoe UI"/>
              </a:rPr>
              <a:t>✖ </a:t>
            </a:r>
            <a:r>
              <a:rPr sz="1300" b="0">
                <a:solidFill>
                  <a:srgbClr val="8A93A3"/>
                </a:solidFill>
                <a:latin typeface="Segoe UI"/>
              </a:rPr>
              <a:t>Attachments &amp; downloads</a:t>
            </a:r>
          </a:p>
        </p:txBody>
      </p:sp>
      <p:sp>
        <p:nvSpPr>
          <p:cNvPr id="41" name="Rounded Rectangle 40"/>
          <p:cNvSpPr/>
          <p:nvPr/>
        </p:nvSpPr>
        <p:spPr>
          <a:xfrm>
            <a:off x="640080" y="5303520"/>
            <a:ext cx="3520440" cy="1024128"/>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40080" y="5303520"/>
            <a:ext cx="91440" cy="1024128"/>
          </a:xfrm>
          <a:prstGeom prst="rect">
            <a:avLst/>
          </a:prstGeom>
          <a:solidFill>
            <a:srgbClr val="008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68680" y="5358384"/>
            <a:ext cx="3200400" cy="320040"/>
          </a:xfrm>
          <a:prstGeom prst="rect">
            <a:avLst/>
          </a:prstGeom>
          <a:noFill/>
        </p:spPr>
        <p:txBody>
          <a:bodyPr wrap="square" anchor="t" lIns="45720" rIns="45720" tIns="27432" bIns="27432">
            <a:spAutoFit/>
          </a:bodyPr>
          <a:lstStyle/>
          <a:p>
            <a:pPr algn="l">
              <a:spcAft>
                <a:spcPts val="600"/>
              </a:spcAft>
            </a:pPr>
            <a:r>
              <a:rPr sz="1500" b="1">
                <a:solidFill>
                  <a:srgbClr val="1F2A44"/>
                </a:solidFill>
                <a:latin typeface="Segoe UI"/>
              </a:rPr>
              <a:t>Reachable, not open</a:t>
            </a:r>
          </a:p>
        </p:txBody>
      </p:sp>
      <p:sp>
        <p:nvSpPr>
          <p:cNvPr id="44" name="TextBox 43"/>
          <p:cNvSpPr txBox="1"/>
          <p:nvPr/>
        </p:nvSpPr>
        <p:spPr>
          <a:xfrm>
            <a:off x="868680" y="5669280"/>
            <a:ext cx="3200400" cy="640080"/>
          </a:xfrm>
          <a:prstGeom prst="rect">
            <a:avLst/>
          </a:prstGeom>
          <a:noFill/>
        </p:spPr>
        <p:txBody>
          <a:bodyPr wrap="square" anchor="t" lIns="45720" rIns="45720" tIns="27432" bIns="27432">
            <a:spAutoFit/>
          </a:bodyPr>
          <a:lstStyle/>
          <a:p>
            <a:pPr algn="l">
              <a:spcAft>
                <a:spcPts val="0"/>
              </a:spcAft>
            </a:pPr>
            <a:r>
              <a:rPr sz="1200" b="0">
                <a:solidFill>
                  <a:srgbClr val="202124"/>
                </a:solidFill>
                <a:latin typeface="Segoe UI"/>
              </a:rPr>
              <a:t>HTTPS + company SSO (OAuth 2.1, e.g. Entra ID). Preferably internal only.</a:t>
            </a:r>
          </a:p>
        </p:txBody>
      </p:sp>
      <p:sp>
        <p:nvSpPr>
          <p:cNvPr id="45" name="Rounded Rectangle 44"/>
          <p:cNvSpPr/>
          <p:nvPr/>
        </p:nvSpPr>
        <p:spPr>
          <a:xfrm>
            <a:off x="4279392" y="5303520"/>
            <a:ext cx="3520440" cy="1024128"/>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279392" y="5303520"/>
            <a:ext cx="91440" cy="1024128"/>
          </a:xfrm>
          <a:prstGeom prst="rect">
            <a:avLst/>
          </a:prstGeom>
          <a:solidFill>
            <a:srgbClr val="008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07992" y="5358384"/>
            <a:ext cx="3200400" cy="320040"/>
          </a:xfrm>
          <a:prstGeom prst="rect">
            <a:avLst/>
          </a:prstGeom>
          <a:noFill/>
        </p:spPr>
        <p:txBody>
          <a:bodyPr wrap="square" anchor="t" lIns="45720" rIns="45720" tIns="27432" bIns="27432">
            <a:spAutoFit/>
          </a:bodyPr>
          <a:lstStyle/>
          <a:p>
            <a:pPr algn="l">
              <a:spcAft>
                <a:spcPts val="600"/>
              </a:spcAft>
            </a:pPr>
            <a:r>
              <a:rPr sz="1500" b="1">
                <a:solidFill>
                  <a:srgbClr val="1F2A44"/>
                </a:solidFill>
                <a:latin typeface="Segoe UI"/>
              </a:rPr>
              <a:t>TopDesk stays hidden</a:t>
            </a:r>
          </a:p>
        </p:txBody>
      </p:sp>
      <p:sp>
        <p:nvSpPr>
          <p:cNvPr id="48" name="TextBox 47"/>
          <p:cNvSpPr txBox="1"/>
          <p:nvPr/>
        </p:nvSpPr>
        <p:spPr>
          <a:xfrm>
            <a:off x="4507992" y="5669280"/>
            <a:ext cx="3200400" cy="640080"/>
          </a:xfrm>
          <a:prstGeom prst="rect">
            <a:avLst/>
          </a:prstGeom>
          <a:noFill/>
        </p:spPr>
        <p:txBody>
          <a:bodyPr wrap="square" anchor="t" lIns="45720" rIns="45720" tIns="27432" bIns="27432">
            <a:spAutoFit/>
          </a:bodyPr>
          <a:lstStyle/>
          <a:p>
            <a:pPr algn="l">
              <a:spcAft>
                <a:spcPts val="0"/>
              </a:spcAft>
            </a:pPr>
            <a:r>
              <a:rPr sz="1200" b="0">
                <a:solidFill>
                  <a:srgbClr val="202124"/>
                </a:solidFill>
                <a:latin typeface="Segoe UI"/>
              </a:rPr>
              <a:t>Only the MCP server can reach TopDesk. Credentials live in a key vault, never in the AI.</a:t>
            </a:r>
          </a:p>
        </p:txBody>
      </p:sp>
      <p:sp>
        <p:nvSpPr>
          <p:cNvPr id="49" name="Rounded Rectangle 48"/>
          <p:cNvSpPr/>
          <p:nvPr/>
        </p:nvSpPr>
        <p:spPr>
          <a:xfrm>
            <a:off x="7918704" y="5303520"/>
            <a:ext cx="3520440" cy="1024128"/>
          </a:xfrm>
          <a:prstGeom prst="roundRect">
            <a:avLst>
              <a:gd name="adj" fmla="val 8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918704" y="5303520"/>
            <a:ext cx="91440" cy="1024128"/>
          </a:xfrm>
          <a:prstGeom prst="rect">
            <a:avLst/>
          </a:prstGeom>
          <a:solidFill>
            <a:srgbClr val="008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147304" y="5358384"/>
            <a:ext cx="3200400" cy="320040"/>
          </a:xfrm>
          <a:prstGeom prst="rect">
            <a:avLst/>
          </a:prstGeom>
          <a:noFill/>
        </p:spPr>
        <p:txBody>
          <a:bodyPr wrap="square" anchor="t" lIns="45720" rIns="45720" tIns="27432" bIns="27432">
            <a:spAutoFit/>
          </a:bodyPr>
          <a:lstStyle/>
          <a:p>
            <a:pPr algn="l">
              <a:spcAft>
                <a:spcPts val="600"/>
              </a:spcAft>
            </a:pPr>
            <a:r>
              <a:rPr sz="1500" b="1">
                <a:solidFill>
                  <a:srgbClr val="1F2A44"/>
                </a:solidFill>
                <a:latin typeface="Segoe UI"/>
              </a:rPr>
              <a:t>Least privilege</a:t>
            </a:r>
          </a:p>
        </p:txBody>
      </p:sp>
      <p:sp>
        <p:nvSpPr>
          <p:cNvPr id="52" name="TextBox 51"/>
          <p:cNvSpPr txBox="1"/>
          <p:nvPr/>
        </p:nvSpPr>
        <p:spPr>
          <a:xfrm>
            <a:off x="8147304" y="5669280"/>
            <a:ext cx="3200400" cy="640080"/>
          </a:xfrm>
          <a:prstGeom prst="rect">
            <a:avLst/>
          </a:prstGeom>
          <a:noFill/>
        </p:spPr>
        <p:txBody>
          <a:bodyPr wrap="square" anchor="t" lIns="45720" rIns="45720" tIns="27432" bIns="27432">
            <a:spAutoFit/>
          </a:bodyPr>
          <a:lstStyle/>
          <a:p>
            <a:pPr algn="l">
              <a:spcAft>
                <a:spcPts val="0"/>
              </a:spcAft>
            </a:pPr>
            <a:r>
              <a:rPr sz="1200" b="0">
                <a:solidFill>
                  <a:srgbClr val="202124"/>
                </a:solidFill>
                <a:latin typeface="Segoe UI"/>
              </a:rPr>
              <a:t>Act as the engineer (their own TopDesk rights) and start read-only.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